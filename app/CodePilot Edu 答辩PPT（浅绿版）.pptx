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增速</c:v>
                </c:pt>
              </c:strCache>
            </c:strRef>
          </c:tx>
          <c:spPr>
            <a:solidFill>
              <a:srgbClr val="2FA36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12523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{"职业教育","市场整体","企业培训","K12"}</c:f>
              <c:strCache>
                <c:ptCount val="4"/>
                <c:pt idx="0">
                  <c:v>职业教育</c:v>
                </c:pt>
                <c:pt idx="1">
                  <c:v>市场整体</c:v>
                </c:pt>
                <c:pt idx="2">
                  <c:v>企业培训</c:v>
                </c:pt>
                <c:pt idx="3">
                  <c:v>K12</c:v>
                </c:pt>
              </c:strCache>
            </c:strRef>
          </c:cat>
          <c:val>
            <c:numRef>
              <c:f>{60,42,31.3,18.7}</c:f>
              <c:numCache>
                <c:formatCode>General</c:formatCode>
                <c:ptCount val="4"/>
                <c:pt idx="0">
                  <c:v>60</c:v>
                </c:pt>
                <c:pt idx="1">
                  <c:v>42</c:v>
                </c:pt>
                <c:pt idx="2">
                  <c:v>31.3</c:v>
                </c:pt>
                <c:pt idx="3">
                  <c:v>18.7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E857C"/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E857C"/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7ce53b8-615b-4772-80f5-dc1c13e1f9be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44.svg"/><Relationship Id="rId23" Type="http://schemas.openxmlformats.org/officeDocument/2006/relationships/image" Target="../media/image43.png"/><Relationship Id="rId22" Type="http://schemas.openxmlformats.org/officeDocument/2006/relationships/image" Target="../media/image42.svg"/><Relationship Id="rId21" Type="http://schemas.openxmlformats.org/officeDocument/2006/relationships/image" Target="../media/image41.png"/><Relationship Id="rId20" Type="http://schemas.openxmlformats.org/officeDocument/2006/relationships/image" Target="../media/image40.svg"/><Relationship Id="rId2" Type="http://schemas.openxmlformats.org/officeDocument/2006/relationships/image" Target="../media/image22.svg"/><Relationship Id="rId19" Type="http://schemas.openxmlformats.org/officeDocument/2006/relationships/image" Target="../media/image39.png"/><Relationship Id="rId18" Type="http://schemas.openxmlformats.org/officeDocument/2006/relationships/image" Target="../media/image38.svg"/><Relationship Id="rId17" Type="http://schemas.openxmlformats.org/officeDocument/2006/relationships/image" Target="../media/image37.png"/><Relationship Id="rId16" Type="http://schemas.openxmlformats.org/officeDocument/2006/relationships/image" Target="../media/image36.svg"/><Relationship Id="rId15" Type="http://schemas.openxmlformats.org/officeDocument/2006/relationships/image" Target="../media/image35.png"/><Relationship Id="rId14" Type="http://schemas.openxmlformats.org/officeDocument/2006/relationships/image" Target="../media/image34.svg"/><Relationship Id="rId13" Type="http://schemas.openxmlformats.org/officeDocument/2006/relationships/image" Target="../media/image33.png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image" Target="../media/image30.sv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svg"/><Relationship Id="rId7" Type="http://schemas.openxmlformats.org/officeDocument/2006/relationships/image" Target="../media/image47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6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2.svg"/><Relationship Id="rId11" Type="http://schemas.openxmlformats.org/officeDocument/2006/relationships/image" Target="../media/image51.png"/><Relationship Id="rId10" Type="http://schemas.openxmlformats.org/officeDocument/2006/relationships/image" Target="../media/image50.sv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圆角矩形 2"/>
          <p:cNvSpPr/>
          <p:nvPr/>
        </p:nvSpPr>
        <p:spPr>
          <a:xfrm>
            <a:off x="-1047750" y="-104775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E6F5EC">
              <a:alpha val="80000"/>
            </a:srgbClr>
          </a:solidFill>
        </p:spPr>
        <p:txBody>
          <a:bodyPr/>
          <a:p/>
        </p:txBody>
      </p:sp>
      <p:sp>
        <p:nvSpPr>
          <p:cNvPr id="4" name="圆角矩形 3"/>
          <p:cNvSpPr/>
          <p:nvPr/>
        </p:nvSpPr>
        <p:spPr>
          <a:xfrm>
            <a:off x="10953750" y="571500"/>
            <a:ext cx="2190750" cy="2190750"/>
          </a:xfrm>
          <a:prstGeom prst="roundRect">
            <a:avLst>
              <a:gd name="adj" fmla="val 50000"/>
            </a:avLst>
          </a:prstGeom>
          <a:solidFill>
            <a:srgbClr val="E6F5EC">
              <a:alpha val="60000"/>
            </a:srgbClr>
          </a:solidFill>
        </p:spPr>
        <p:txBody>
          <a:bodyPr/>
          <a:p/>
        </p:txBody>
      </p:sp>
      <p:sp>
        <p:nvSpPr>
          <p:cNvPr id="5" name="圆角矩形 4"/>
          <p:cNvSpPr/>
          <p:nvPr/>
        </p:nvSpPr>
        <p:spPr>
          <a:xfrm>
            <a:off x="-762000" y="5143500"/>
            <a:ext cx="2857500" cy="2857500"/>
          </a:xfrm>
          <a:prstGeom prst="roundRect">
            <a:avLst>
              <a:gd name="adj" fmla="val 50000"/>
            </a:avLst>
          </a:prstGeom>
          <a:solidFill>
            <a:srgbClr val="E6F5EC">
              <a:alpha val="70000"/>
            </a:srgbClr>
          </a:solidFill>
        </p:spPr>
        <p:txBody>
          <a:bodyPr/>
          <a:p/>
        </p:txBody>
      </p:sp>
      <p:sp>
        <p:nvSpPr>
          <p:cNvPr id="6" name="圆角矩形 5"/>
          <p:cNvSpPr/>
          <p:nvPr/>
        </p:nvSpPr>
        <p:spPr>
          <a:xfrm>
            <a:off x="10382250" y="523875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E6F5EC">
              <a:alpha val="90000"/>
            </a:srgbClr>
          </a:solidFill>
        </p:spPr>
        <p:txBody>
          <a:bodyPr/>
          <a:p/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2FA36B"/>
              </a:gs>
              <a:gs pos="50000">
                <a:srgbClr val="7CC9A3"/>
              </a:gs>
              <a:gs pos="100000">
                <a:srgbClr val="E6F5EC"/>
              </a:gs>
            </a:gsLst>
            <a:lin ang="0" scaled="1"/>
          </a:gradFill>
        </p:spPr>
        <p:txBody>
          <a:bodyPr/>
          <a:p/>
        </p:txBody>
      </p:sp>
      <p:sp>
        <p:nvSpPr>
          <p:cNvPr id="8" name="圆角矩形 7"/>
          <p:cNvSpPr/>
          <p:nvPr/>
        </p:nvSpPr>
        <p:spPr>
          <a:xfrm>
            <a:off x="2609850" y="43815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3181350" y="342900"/>
            <a:ext cx="58388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第十届中华职业教育创新创业大赛（</a:t>
            </a:r>
            <a:r>
              <a:rPr lang="en-US" sz="1500" b="1" spc="150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sz="1500" b="1" spc="150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sz="1500" b="1" spc="150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b="1" spc="150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学生赛道本科组</a:t>
            </a:r>
            <a:endParaRPr lang="zh-CN" sz="1500" b="1" spc="150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9172575" y="43815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3848100" y="1171575"/>
            <a:ext cx="220980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评测证据</a:t>
            </a:r>
            <a:endParaRPr lang="zh-CN" sz="4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6229350" y="1009650"/>
            <a:ext cx="2114550" cy="895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5550" b="1">
                <a:gradFill>
                  <a:gsLst>
                    <a:gs pos="0">
                      <a:srgbClr val="2FA36B"/>
                    </a:gs>
                    <a:gs pos="100000">
                      <a:srgbClr val="12523A"/>
                    </a:gs>
                  </a:gsLst>
                  <a:lin ang="18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新诊断</a:t>
            </a:r>
            <a:endParaRPr lang="zh-CN" sz="5550" b="1">
              <a:gradFill>
                <a:gsLst>
                  <a:gs pos="0">
                    <a:srgbClr val="2FA36B"/>
                  </a:gs>
                  <a:gs pos="100000">
                    <a:srgbClr val="12523A"/>
                  </a:gs>
                </a:gsLst>
                <a:lin ang="18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3848100" y="2162175"/>
            <a:ext cx="220980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分层提示</a:t>
            </a:r>
            <a:endParaRPr lang="zh-CN" sz="4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6229350" y="2000250"/>
            <a:ext cx="2114550" cy="895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5550" b="1">
                <a:gradFill>
                  <a:gsLst>
                    <a:gs pos="0">
                      <a:srgbClr val="2FA36B"/>
                    </a:gs>
                    <a:gs pos="100000">
                      <a:srgbClr val="12523A"/>
                    </a:gs>
                  </a:gsLst>
                  <a:lin ang="18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真学习</a:t>
            </a:r>
            <a:endParaRPr lang="zh-CN" sz="5550" b="1">
              <a:gradFill>
                <a:gsLst>
                  <a:gs pos="0">
                    <a:srgbClr val="2FA36B"/>
                  </a:gs>
                  <a:gs pos="100000">
                    <a:srgbClr val="12523A"/>
                  </a:gs>
                </a:gsLst>
                <a:lin ang="18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295650" y="3143250"/>
            <a:ext cx="5610225" cy="542925"/>
          </a:xfrm>
          <a:prstGeom prst="roundRect">
            <a:avLst>
              <a:gd name="adj" fmla="val 24561"/>
            </a:avLst>
          </a:prstGeom>
          <a:solidFill>
            <a:srgbClr val="E6F5EC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3619500" y="3276600"/>
            <a:ext cx="49625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面向程序设计课堂的</a:t>
            </a:r>
            <a:r>
              <a:rPr lang="en-US" sz="18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8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分层纠错与教学辅助平台</a:t>
            </a:r>
            <a:endParaRPr lang="zh-CN" sz="18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3648075" y="3800475"/>
            <a:ext cx="4905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3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让每一次编程错误，都成为一次真正有效的学习</a:t>
            </a:r>
            <a:endParaRPr lang="zh-CN" sz="13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886075" y="4295775"/>
            <a:ext cx="2057400" cy="60960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圆角矩形 18"/>
          <p:cNvSpPr/>
          <p:nvPr/>
        </p:nvSpPr>
        <p:spPr>
          <a:xfrm>
            <a:off x="3000375" y="4391025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05150" y="4495800"/>
            <a:ext cx="209550" cy="209550"/>
          </a:xfrm>
          <a:prstGeom prst="rect">
            <a:avLst/>
          </a:prstGeom>
        </p:spPr>
      </p:pic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3533775" y="4410075"/>
            <a:ext cx="120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立项与原型研发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3533775" y="4629150"/>
            <a:ext cx="1200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endParaRPr lang="zh-CN" sz="1125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153025" y="4295775"/>
            <a:ext cx="2057400" cy="60960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4" name="圆角矩形 23"/>
          <p:cNvSpPr/>
          <p:nvPr/>
        </p:nvSpPr>
        <p:spPr>
          <a:xfrm>
            <a:off x="5267325" y="43910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2100" y="4495800"/>
            <a:ext cx="209550" cy="209550"/>
          </a:xfrm>
          <a:prstGeom prst="rect">
            <a:avLst/>
          </a:prstGeom>
        </p:spPr>
      </p:pic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5800725" y="4410075"/>
            <a:ext cx="120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小规模课程试点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5800725" y="4629150"/>
            <a:ext cx="1200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正在验证</a:t>
            </a:r>
            <a:endParaRPr lang="zh-CN" sz="112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7419975" y="4295775"/>
            <a:ext cx="1885950" cy="60960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圆角矩形 28"/>
          <p:cNvSpPr/>
          <p:nvPr/>
        </p:nvSpPr>
        <p:spPr>
          <a:xfrm>
            <a:off x="7534275" y="43910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639050" y="4495800"/>
            <a:ext cx="209550" cy="209550"/>
          </a:xfrm>
          <a:prstGeom prst="rect">
            <a:avLst/>
          </a:prstGeom>
        </p:spPr>
      </p:pic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8067675" y="4410075"/>
            <a:ext cx="102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付费条件验证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067675" y="4629150"/>
            <a:ext cx="1028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endParaRPr lang="zh-CN" sz="112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105400" y="6048375"/>
            <a:ext cx="19907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职教育工匠，双创筑梦想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3133725" y="6362700"/>
            <a:ext cx="3267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350" b="1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 b="1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计算机与信息工程学院</a:t>
            </a:r>
            <a:endParaRPr lang="zh-CN" sz="1350" b="1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572250" y="6372225"/>
            <a:ext cx="9525" cy="1905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6753225" y="6362700"/>
            <a:ext cx="866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ZERO </a:t>
            </a:r>
            <a:r>
              <a:rPr lang="zh-CN" sz="13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350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791450" y="6372225"/>
            <a:ext cx="9525" cy="1905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7972425" y="6362700"/>
            <a:ext cx="1085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负责人</a:t>
            </a:r>
            <a:r>
              <a:rPr lang="en-US" sz="13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3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叶兴楠</a:t>
            </a:r>
            <a:endParaRPr lang="zh-CN" sz="13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矩形 4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34" name="圆角矩形 433"/>
          <p:cNvSpPr/>
          <p:nvPr/>
        </p:nvSpPr>
        <p:spPr>
          <a:xfrm>
            <a:off x="9525000" y="9525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E6F5EC">
              <a:alpha val="75000"/>
            </a:srgbClr>
          </a:solidFill>
        </p:spPr>
        <p:txBody>
          <a:bodyPr/>
          <a:p/>
        </p:txBody>
      </p:sp>
      <p:sp>
        <p:nvSpPr>
          <p:cNvPr id="435" name="圆角矩形 434"/>
          <p:cNvSpPr/>
          <p:nvPr/>
        </p:nvSpPr>
        <p:spPr>
          <a:xfrm>
            <a:off x="-857250" y="5238750"/>
            <a:ext cx="2667000" cy="2667000"/>
          </a:xfrm>
          <a:prstGeom prst="roundRect">
            <a:avLst>
              <a:gd name="adj" fmla="val 50000"/>
            </a:avLst>
          </a:prstGeom>
          <a:solidFill>
            <a:srgbClr val="E6F5EC">
              <a:alpha val="60000"/>
            </a:srgbClr>
          </a:solidFill>
        </p:spPr>
        <p:txBody>
          <a:bodyPr/>
          <a:p/>
        </p:txBody>
      </p:sp>
      <p:sp>
        <p:nvSpPr>
          <p:cNvPr id="436" name="矩形 43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2FA36B"/>
              </a:gs>
              <a:gs pos="50000">
                <a:srgbClr val="7CC9A3"/>
              </a:gs>
              <a:gs pos="100000">
                <a:srgbClr val="E6F5EC"/>
              </a:gs>
            </a:gsLst>
            <a:lin ang="0" scaled="1"/>
          </a:gradFill>
        </p:spPr>
        <p:txBody>
          <a:bodyPr/>
          <a:p/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762000" y="1466850"/>
            <a:ext cx="914400" cy="2524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7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目</a:t>
            </a:r>
            <a:endParaRPr lang="zh-CN" sz="7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lang="zh-CN" sz="7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sz="7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8" name="圆角矩形 437"/>
          <p:cNvSpPr/>
          <p:nvPr/>
        </p:nvSpPr>
        <p:spPr>
          <a:xfrm>
            <a:off x="1771650" y="1600200"/>
            <a:ext cx="95250" cy="914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FA36B"/>
              </a:gs>
              <a:gs pos="100000">
                <a:srgbClr val="7CC9A3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762000" y="4162425"/>
            <a:ext cx="2571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450">
                <a:solidFill>
                  <a:srgbClr val="7CC9A3"/>
                </a:solidFill>
                <a:latin typeface="Consolas" panose="020B0609020204030204"/>
                <a:ea typeface="Consolas" panose="020B0609020204030204"/>
              </a:rPr>
              <a:t>CONTENTS</a:t>
            </a:r>
            <a:endParaRPr lang="en-US" sz="1650" spc="450">
              <a:solidFill>
                <a:srgbClr val="7CC9A3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40" name="圆角矩形 439"/>
          <p:cNvSpPr/>
          <p:nvPr/>
        </p:nvSpPr>
        <p:spPr>
          <a:xfrm>
            <a:off x="762000" y="4667250"/>
            <a:ext cx="2571750" cy="819150"/>
          </a:xfrm>
          <a:prstGeom prst="roundRect">
            <a:avLst>
              <a:gd name="adj" fmla="val 13953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914400" y="4781550"/>
            <a:ext cx="2266950" cy="590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五个篇章</a:t>
            </a:r>
            <a:endParaRPr lang="zh-CN" sz="1200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对应评审四维权重</a:t>
            </a:r>
            <a:endParaRPr lang="zh-CN" sz="1200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圆角矩形 441"/>
          <p:cNvSpPr/>
          <p:nvPr/>
        </p:nvSpPr>
        <p:spPr>
          <a:xfrm>
            <a:off x="3752850" y="1304925"/>
            <a:ext cx="767715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43" name="圆角矩形 442"/>
          <p:cNvSpPr/>
          <p:nvPr/>
        </p:nvSpPr>
        <p:spPr>
          <a:xfrm>
            <a:off x="3886200" y="1419225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4029075" y="1552575"/>
            <a:ext cx="2571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01</a:t>
            </a:r>
            <a:endParaRPr lang="en-US" sz="18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4591050" y="1533525"/>
            <a:ext cx="990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9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8572500" y="1590675"/>
            <a:ext cx="2247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断层痛点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市场机会与政策驱动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7" name="图片 44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91850" y="1571625"/>
            <a:ext cx="228600" cy="228600"/>
          </a:xfrm>
          <a:prstGeom prst="rect">
            <a:avLst/>
          </a:prstGeom>
        </p:spPr>
      </p:pic>
      <p:sp>
        <p:nvSpPr>
          <p:cNvPr id="448" name="圆角矩形 447"/>
          <p:cNvSpPr/>
          <p:nvPr/>
        </p:nvSpPr>
        <p:spPr>
          <a:xfrm>
            <a:off x="3752850" y="2200275"/>
            <a:ext cx="767715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49" name="圆角矩形 448"/>
          <p:cNvSpPr/>
          <p:nvPr/>
        </p:nvSpPr>
        <p:spPr>
          <a:xfrm>
            <a:off x="3886200" y="23145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4029075" y="2447925"/>
            <a:ext cx="2571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02</a:t>
            </a:r>
            <a:endParaRPr lang="en-US" sz="180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4591050" y="2428875"/>
            <a:ext cx="990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9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8601075" y="2486025"/>
            <a:ext cx="22193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核心创新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产品演示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53" name="图片 45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91850" y="2466975"/>
            <a:ext cx="228600" cy="228600"/>
          </a:xfrm>
          <a:prstGeom prst="rect">
            <a:avLst/>
          </a:prstGeom>
        </p:spPr>
      </p:pic>
      <p:sp>
        <p:nvSpPr>
          <p:cNvPr id="454" name="圆角矩形 453"/>
          <p:cNvSpPr/>
          <p:nvPr/>
        </p:nvSpPr>
        <p:spPr>
          <a:xfrm>
            <a:off x="3752850" y="3095625"/>
            <a:ext cx="767715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55" name="圆角矩形 454"/>
          <p:cNvSpPr/>
          <p:nvPr/>
        </p:nvSpPr>
        <p:spPr>
          <a:xfrm>
            <a:off x="3886200" y="32099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4029075" y="3343275"/>
            <a:ext cx="2571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03</a:t>
            </a:r>
            <a:endParaRPr lang="en-US" sz="180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4591050" y="3324225"/>
            <a:ext cx="990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9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439150" y="3381375"/>
            <a:ext cx="2381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竞品差异化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商业模式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财务测算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59" name="图片 458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91850" y="3362325"/>
            <a:ext cx="228600" cy="228600"/>
          </a:xfrm>
          <a:prstGeom prst="rect">
            <a:avLst/>
          </a:prstGeom>
        </p:spPr>
      </p:pic>
      <p:sp>
        <p:nvSpPr>
          <p:cNvPr id="460" name="圆角矩形 459"/>
          <p:cNvSpPr/>
          <p:nvPr/>
        </p:nvSpPr>
        <p:spPr>
          <a:xfrm>
            <a:off x="3752850" y="3990975"/>
            <a:ext cx="767715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61" name="圆角矩形 460"/>
          <p:cNvSpPr/>
          <p:nvPr/>
        </p:nvSpPr>
        <p:spPr>
          <a:xfrm>
            <a:off x="3886200" y="41052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4029075" y="4238625"/>
            <a:ext cx="2571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04</a:t>
            </a:r>
            <a:endParaRPr lang="en-US" sz="180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4591050" y="4219575"/>
            <a:ext cx="990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9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8058150" y="4276725"/>
            <a:ext cx="2762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技术架构与落地条件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团队与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周计划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5" name="图片 464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91850" y="4257675"/>
            <a:ext cx="228600" cy="228600"/>
          </a:xfrm>
          <a:prstGeom prst="rect">
            <a:avLst/>
          </a:prstGeom>
        </p:spPr>
      </p:pic>
      <p:sp>
        <p:nvSpPr>
          <p:cNvPr id="466" name="圆角矩形 465"/>
          <p:cNvSpPr/>
          <p:nvPr/>
        </p:nvSpPr>
        <p:spPr>
          <a:xfrm>
            <a:off x="3752850" y="4886325"/>
            <a:ext cx="767715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67" name="圆角矩形 466"/>
          <p:cNvSpPr/>
          <p:nvPr/>
        </p:nvSpPr>
        <p:spPr>
          <a:xfrm>
            <a:off x="3886200" y="50006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4029075" y="5133975"/>
            <a:ext cx="2571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05</a:t>
            </a:r>
            <a:endParaRPr lang="en-US" sz="180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4591050" y="5114925"/>
            <a:ext cx="990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9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8115300" y="5172075"/>
            <a:ext cx="27051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育人本质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可复制推广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大赛主题呼应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1" name="图片 47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91850" y="5153025"/>
            <a:ext cx="228600" cy="228600"/>
          </a:xfrm>
          <a:prstGeom prst="rect">
            <a:avLst/>
          </a:prstGeom>
        </p:spPr>
      </p:pic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762000" y="6448425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10972800" y="64484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矩形 4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76" name="圆角矩形 475"/>
          <p:cNvSpPr/>
          <p:nvPr/>
        </p:nvSpPr>
        <p:spPr>
          <a:xfrm>
            <a:off x="9810750" y="4572000"/>
            <a:ext cx="3143250" cy="3143250"/>
          </a:xfrm>
          <a:prstGeom prst="roundRect">
            <a:avLst>
              <a:gd name="adj" fmla="val 50000"/>
            </a:avLst>
          </a:prstGeom>
          <a:solidFill>
            <a:srgbClr val="E6F5EC">
              <a:alpha val="55000"/>
            </a:srgbClr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8" name="矩形 477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2" name="圆角矩形 481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4" name="圆角矩形 483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6" name="圆角矩形 485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圆角矩形 487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圆角矩形 489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876300" y="819150"/>
            <a:ext cx="90868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从「发现错误」到「理解错误」的断层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876300" y="1238250"/>
            <a:ext cx="9086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现有工具止于判定对错，中间这一段无人负责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10115550" y="971550"/>
            <a:ext cx="1409700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10248900" y="1038225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教学一线真实场景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666750" y="1485900"/>
            <a:ext cx="5334000" cy="39243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6" name="圆角矩形 495"/>
          <p:cNvSpPr/>
          <p:nvPr/>
        </p:nvSpPr>
        <p:spPr>
          <a:xfrm>
            <a:off x="895350" y="16764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00125" y="1781175"/>
            <a:ext cx="200025" cy="200025"/>
          </a:xfrm>
          <a:prstGeom prst="rect">
            <a:avLst/>
          </a:prstGeom>
        </p:spPr>
      </p:pic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1409700" y="1724025"/>
            <a:ext cx="7429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学生端</a:t>
            </a:r>
            <a:endParaRPr lang="zh-CN" sz="19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文本框 498" descr="{&quot;isTemplate&quot;:true,&quot;type&quot;:&quot;text&quot;}"/>
          <p:cNvSpPr txBox="1"/>
          <p:nvPr/>
        </p:nvSpPr>
        <p:spPr>
          <a:xfrm>
            <a:off x="895350" y="2171700"/>
            <a:ext cx="48768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知道错了，却不知道错在哪</a:t>
            </a:r>
            <a:endParaRPr lang="zh-CN" sz="1425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0" name="圆角矩形 499"/>
          <p:cNvSpPr/>
          <p:nvPr/>
        </p:nvSpPr>
        <p:spPr>
          <a:xfrm>
            <a:off x="895350" y="2533650"/>
            <a:ext cx="4876800" cy="647700"/>
          </a:xfrm>
          <a:prstGeom prst="roundRect">
            <a:avLst>
              <a:gd name="adj" fmla="val 1764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501" name="圆角矩形 500"/>
          <p:cNvSpPr/>
          <p:nvPr/>
        </p:nvSpPr>
        <p:spPr>
          <a:xfrm>
            <a:off x="1028700" y="2724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2523A"/>
          </a:solidFill>
        </p:spPr>
        <p:txBody>
          <a:bodyPr/>
          <a:p/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1123950" y="2771775"/>
            <a:ext cx="85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1</a:t>
            </a:r>
            <a:endParaRPr lang="en-US" sz="11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1409700" y="2628900"/>
            <a:ext cx="4229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报错读不懂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1409700" y="2876550"/>
            <a:ext cx="4229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编译提示术语密集，初学者只能靠猜、靠试。</a:t>
            </a:r>
            <a:endParaRPr lang="zh-CN" sz="13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圆角矩形 504"/>
          <p:cNvSpPr/>
          <p:nvPr/>
        </p:nvSpPr>
        <p:spPr>
          <a:xfrm>
            <a:off x="895350" y="3295650"/>
            <a:ext cx="4876800" cy="647700"/>
          </a:xfrm>
          <a:prstGeom prst="roundRect">
            <a:avLst>
              <a:gd name="adj" fmla="val 1764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506" name="圆角矩形 505"/>
          <p:cNvSpPr/>
          <p:nvPr/>
        </p:nvSpPr>
        <p:spPr>
          <a:xfrm>
            <a:off x="1028700" y="3486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2523A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1123950" y="3533775"/>
            <a:ext cx="85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2</a:t>
            </a:r>
            <a:endParaRPr lang="en-US" sz="11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1409700" y="3390900"/>
            <a:ext cx="4229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结果无错因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1409700" y="3638550"/>
            <a:ext cx="4229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判题只给「答案错误」，无法定位哪一步出错。</a:t>
            </a:r>
            <a:endParaRPr lang="zh-CN" sz="13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895350" y="4057650"/>
            <a:ext cx="4876800" cy="647700"/>
          </a:xfrm>
          <a:prstGeom prst="roundRect">
            <a:avLst>
              <a:gd name="adj" fmla="val 1764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511" name="圆角矩形 510"/>
          <p:cNvSpPr/>
          <p:nvPr/>
        </p:nvSpPr>
        <p:spPr>
          <a:xfrm>
            <a:off x="1028700" y="4248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2523A"/>
          </a:solidFill>
        </p:spPr>
        <p:txBody>
          <a:bodyPr/>
          <a:p/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1123950" y="4295775"/>
            <a:ext cx="85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3</a:t>
            </a:r>
            <a:endParaRPr lang="en-US" sz="11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1409700" y="4152900"/>
            <a:ext cx="4229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直接给答案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1409700" y="4400550"/>
            <a:ext cx="4229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一次给出完整代码，复制提交，思考被跳过。</a:t>
            </a:r>
            <a:endParaRPr lang="zh-CN" sz="13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5" name="圆角矩形 514"/>
          <p:cNvSpPr/>
          <p:nvPr/>
        </p:nvSpPr>
        <p:spPr>
          <a:xfrm>
            <a:off x="895350" y="4781550"/>
            <a:ext cx="4876800" cy="438150"/>
          </a:xfrm>
          <a:prstGeom prst="roundRect">
            <a:avLst>
              <a:gd name="adj" fmla="val 26087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1047750" y="4895850"/>
            <a:ext cx="4572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结论：错误被「绕过」，而不是被「学会」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7" name="圆角矩形 516"/>
          <p:cNvSpPr/>
          <p:nvPr/>
        </p:nvSpPr>
        <p:spPr>
          <a:xfrm>
            <a:off x="6191250" y="1485900"/>
            <a:ext cx="5334000" cy="39243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18" name="圆角矩形 517"/>
          <p:cNvSpPr/>
          <p:nvPr/>
        </p:nvSpPr>
        <p:spPr>
          <a:xfrm>
            <a:off x="6419850" y="16764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pic>
        <p:nvPicPr>
          <p:cNvPr id="519" name="图片 5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4625" y="1781175"/>
            <a:ext cx="200025" cy="200025"/>
          </a:xfrm>
          <a:prstGeom prst="rect">
            <a:avLst/>
          </a:prstGeom>
        </p:spPr>
      </p:pic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6934200" y="1724025"/>
            <a:ext cx="7429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教师端</a:t>
            </a:r>
            <a:endParaRPr lang="zh-CN" sz="19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6419850" y="2171700"/>
            <a:ext cx="48768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看得见结果，看不见过程</a:t>
            </a:r>
            <a:endParaRPr lang="zh-CN" sz="1425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圆角矩形 521"/>
          <p:cNvSpPr/>
          <p:nvPr/>
        </p:nvSpPr>
        <p:spPr>
          <a:xfrm>
            <a:off x="6419850" y="2533650"/>
            <a:ext cx="4876800" cy="647700"/>
          </a:xfrm>
          <a:prstGeom prst="roundRect">
            <a:avLst>
              <a:gd name="adj" fmla="val 1764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523" name="圆角矩形 522"/>
          <p:cNvSpPr/>
          <p:nvPr/>
        </p:nvSpPr>
        <p:spPr>
          <a:xfrm>
            <a:off x="6553200" y="2724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2523A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6648450" y="2771775"/>
            <a:ext cx="85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1</a:t>
            </a:r>
            <a:endParaRPr lang="en-US" sz="11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6934200" y="2628900"/>
            <a:ext cx="4229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批改量巨大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6934200" y="2876550"/>
            <a:ext cx="4229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学生反复提交，逐份阅读的时间成本无法承担。</a:t>
            </a:r>
            <a:endParaRPr lang="zh-CN" sz="13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圆角矩形 526"/>
          <p:cNvSpPr/>
          <p:nvPr/>
        </p:nvSpPr>
        <p:spPr>
          <a:xfrm>
            <a:off x="6419850" y="3295650"/>
            <a:ext cx="4876800" cy="647700"/>
          </a:xfrm>
          <a:prstGeom prst="roundRect">
            <a:avLst>
              <a:gd name="adj" fmla="val 1764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528" name="圆角矩形 527"/>
          <p:cNvSpPr/>
          <p:nvPr/>
        </p:nvSpPr>
        <p:spPr>
          <a:xfrm>
            <a:off x="6553200" y="3486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2523A"/>
          </a:solidFill>
        </p:spPr>
        <p:txBody>
          <a:bodyPr/>
          <a:p/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6648450" y="3533775"/>
            <a:ext cx="85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2</a:t>
            </a:r>
            <a:endParaRPr lang="en-US" sz="11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30" name="文本框 529" descr="{&quot;isTemplate&quot;:true,&quot;type&quot;:&quot;text&quot;}"/>
          <p:cNvSpPr txBox="1"/>
          <p:nvPr/>
        </p:nvSpPr>
        <p:spPr>
          <a:xfrm>
            <a:off x="6934200" y="3390900"/>
            <a:ext cx="4229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正确率掩盖过程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1" name="文本框 530" descr="{&quot;isTemplate&quot;:true,&quot;type&quot;:&quot;text&quot;}"/>
          <p:cNvSpPr txBox="1"/>
          <p:nvPr/>
        </p:nvSpPr>
        <p:spPr>
          <a:xfrm>
            <a:off x="6934200" y="3638550"/>
            <a:ext cx="4229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分数只反映结果，卡在哪一步、试了几次不可见。</a:t>
            </a:r>
            <a:endParaRPr lang="zh-CN" sz="13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2" name="圆角矩形 531"/>
          <p:cNvSpPr/>
          <p:nvPr/>
        </p:nvSpPr>
        <p:spPr>
          <a:xfrm>
            <a:off x="6419850" y="4057650"/>
            <a:ext cx="4876800" cy="647700"/>
          </a:xfrm>
          <a:prstGeom prst="roundRect">
            <a:avLst>
              <a:gd name="adj" fmla="val 1764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533" name="圆角矩形 532"/>
          <p:cNvSpPr/>
          <p:nvPr/>
        </p:nvSpPr>
        <p:spPr>
          <a:xfrm>
            <a:off x="6553200" y="4248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2523A"/>
          </a:solidFill>
        </p:spPr>
        <p:txBody>
          <a:bodyPr/>
          <a:p/>
        </p:txBody>
      </p:sp>
      <p:sp>
        <p:nvSpPr>
          <p:cNvPr id="534" name="文本框 533" descr="{&quot;isTemplate&quot;:true,&quot;type&quot;:&quot;text&quot;}"/>
          <p:cNvSpPr txBox="1"/>
          <p:nvPr/>
        </p:nvSpPr>
        <p:spPr>
          <a:xfrm>
            <a:off x="6648450" y="4295775"/>
            <a:ext cx="85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3</a:t>
            </a:r>
            <a:endParaRPr lang="en-US" sz="11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6934200" y="4152900"/>
            <a:ext cx="4229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讲评凭经验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6934200" y="4400550"/>
            <a:ext cx="4229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缺少共性错误统计，讲评内容只能凭经验。</a:t>
            </a:r>
            <a:endParaRPr lang="zh-CN" sz="13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圆角矩形 536"/>
          <p:cNvSpPr/>
          <p:nvPr/>
        </p:nvSpPr>
        <p:spPr>
          <a:xfrm>
            <a:off x="6419850" y="4781550"/>
            <a:ext cx="4876800" cy="438150"/>
          </a:xfrm>
          <a:prstGeom prst="roundRect">
            <a:avLst>
              <a:gd name="adj" fmla="val 26087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6572250" y="4895850"/>
            <a:ext cx="4572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结论：反馈缺少过程证据，无法精准施教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9" name="圆角矩形 538"/>
          <p:cNvSpPr/>
          <p:nvPr/>
        </p:nvSpPr>
        <p:spPr>
          <a:xfrm>
            <a:off x="666750" y="5562600"/>
            <a:ext cx="10858500" cy="876300"/>
          </a:xfrm>
          <a:prstGeom prst="roundRect">
            <a:avLst>
              <a:gd name="adj" fmla="val 19565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  <a:effectLst>
            <a:outerShdw blurRad="209550" dist="57150" dir="5400000">
              <a:srgbClr val="12523A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933450" y="5610225"/>
            <a:ext cx="1781175" cy="781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3,000</a:t>
            </a:r>
            <a:endParaRPr lang="en-US" sz="51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2886075" y="5772150"/>
            <a:ext cx="38290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份代码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单课程单学期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2886075" y="6048375"/>
            <a:ext cx="38290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100 </a:t>
            </a:r>
            <a:r>
              <a:rPr lang="zh-CN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名学生</a:t>
            </a:r>
            <a:r>
              <a:rPr lang="en-US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× 10 </a:t>
            </a:r>
            <a:r>
              <a:rPr lang="zh-CN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道题</a:t>
            </a:r>
            <a:r>
              <a:rPr lang="en-US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× 3 </a:t>
            </a:r>
            <a:r>
              <a:rPr lang="zh-CN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次提交，全部需要被真正读懂</a:t>
            </a:r>
            <a:endParaRPr lang="zh-CN" sz="1200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圆角矩形 542"/>
          <p:cNvSpPr/>
          <p:nvPr/>
        </p:nvSpPr>
        <p:spPr>
          <a:xfrm>
            <a:off x="8667750" y="5781675"/>
            <a:ext cx="2590800" cy="438150"/>
          </a:xfrm>
          <a:prstGeom prst="roundRect">
            <a:avLst>
              <a:gd name="adj" fmla="val 30435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pic>
        <p:nvPicPr>
          <p:cNvPr id="544" name="图片 543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39200" y="5876925"/>
            <a:ext cx="247650" cy="247650"/>
          </a:xfrm>
          <a:prstGeom prst="rect">
            <a:avLst/>
          </a:prstGeom>
        </p:spPr>
      </p:pic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9201150" y="5895975"/>
            <a:ext cx="1885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这就是我们要填补的断层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666750" y="6515100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矩形 5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50" name="圆角矩形 549"/>
          <p:cNvSpPr/>
          <p:nvPr/>
        </p:nvSpPr>
        <p:spPr>
          <a:xfrm>
            <a:off x="10191750" y="1333500"/>
            <a:ext cx="2857500" cy="2857500"/>
          </a:xfrm>
          <a:prstGeom prst="roundRect">
            <a:avLst>
              <a:gd name="adj" fmla="val 50000"/>
            </a:avLst>
          </a:prstGeom>
          <a:solidFill>
            <a:srgbClr val="E6F5EC">
              <a:alpha val="50000"/>
            </a:srgbClr>
          </a:solidFill>
        </p:spPr>
        <p:txBody>
          <a:bodyPr/>
          <a:p/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2" name="矩形 551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553" name="文本框 552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4" name="圆角矩形 553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555" name="文本框 554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6" name="圆角矩形 555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8" name="圆角矩形 557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59" name="文本框 558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0" name="圆角矩形 559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2" name="圆角矩形 561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4" name="圆角矩形 563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876300" y="819150"/>
            <a:ext cx="92297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时代的职教刚需：增速最快的赛道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6" name="文本框 565" descr="{&quot;isTemplate&quot;:true,&quot;type&quot;:&quot;text&quot;}"/>
          <p:cNvSpPr txBox="1"/>
          <p:nvPr/>
        </p:nvSpPr>
        <p:spPr>
          <a:xfrm>
            <a:off x="876300" y="1238250"/>
            <a:ext cx="92297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市场规模、政策要求与单课规模三重验证，数据均标注来源与口径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圆角矩形 566"/>
          <p:cNvSpPr/>
          <p:nvPr/>
        </p:nvSpPr>
        <p:spPr>
          <a:xfrm>
            <a:off x="10258425" y="971550"/>
            <a:ext cx="1266825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10391775" y="1038225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第三方机构测算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圆角矩形 568"/>
          <p:cNvSpPr/>
          <p:nvPr/>
        </p:nvSpPr>
        <p:spPr>
          <a:xfrm>
            <a:off x="666750" y="1485900"/>
            <a:ext cx="3505200" cy="2076450"/>
          </a:xfrm>
          <a:prstGeom prst="roundRect">
            <a:avLst>
              <a:gd name="adj" fmla="val 825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876300" y="1657350"/>
            <a:ext cx="100965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850</a:t>
            </a:r>
            <a:endParaRPr lang="en-US" sz="480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71" name="文本框 570" descr="{&quot;isTemplate&quot;:true,&quot;type&quot;:&quot;text&quot;}"/>
          <p:cNvSpPr txBox="1"/>
          <p:nvPr/>
        </p:nvSpPr>
        <p:spPr>
          <a:xfrm>
            <a:off x="1962150" y="1657350"/>
            <a:ext cx="45720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亿元</a:t>
            </a:r>
            <a:endParaRPr lang="zh-CN" sz="18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876300" y="2476500"/>
            <a:ext cx="30861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2026E </a:t>
            </a: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中国教育大模型应用市场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876300" y="2752725"/>
            <a:ext cx="30861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较</a:t>
            </a:r>
            <a:r>
              <a:rPr lang="en-US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2025 </a:t>
            </a:r>
            <a:r>
              <a:rPr lang="zh-CN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年增长</a:t>
            </a:r>
            <a:r>
              <a:rPr lang="en-US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42%</a:t>
            </a:r>
            <a:r>
              <a:rPr lang="zh-CN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教育应用市场约</a:t>
            </a:r>
            <a:r>
              <a:rPr lang="en-US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108 </a:t>
            </a:r>
            <a:r>
              <a:rPr lang="zh-CN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亿美元，占全球</a:t>
            </a:r>
            <a:r>
              <a:rPr lang="en-US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22.5%</a:t>
            </a:r>
            <a:endParaRPr lang="en-US" sz="120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4" name="圆角矩形 573"/>
          <p:cNvSpPr/>
          <p:nvPr/>
        </p:nvSpPr>
        <p:spPr>
          <a:xfrm>
            <a:off x="4343400" y="1485900"/>
            <a:ext cx="3505200" cy="2076450"/>
          </a:xfrm>
          <a:prstGeom prst="roundRect">
            <a:avLst>
              <a:gd name="adj" fmla="val 8257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  <a:effectLst>
            <a:outerShdw blurRad="209550" dist="57150" dir="5400000">
              <a:srgbClr val="12523A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75" name="文本框 574" descr="{&quot;isTemplate&quot;:true,&quot;type&quot;:&quot;text&quot;}"/>
          <p:cNvSpPr txBox="1"/>
          <p:nvPr/>
        </p:nvSpPr>
        <p:spPr>
          <a:xfrm>
            <a:off x="4552950" y="1657350"/>
            <a:ext cx="1009650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+60</a:t>
            </a:r>
            <a:endParaRPr lang="en-US" sz="48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5638800" y="1657350"/>
            <a:ext cx="219075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lang="en-US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4552950" y="2476500"/>
            <a:ext cx="30861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职业教育领域增速，居各赛道首位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4552950" y="2752725"/>
            <a:ext cx="30861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显著高于企业培训</a:t>
            </a:r>
            <a:r>
              <a:rPr lang="en-US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+31.3% </a:t>
            </a:r>
            <a:r>
              <a:rPr lang="zh-CN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K12 </a:t>
            </a:r>
            <a:r>
              <a:rPr lang="zh-CN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18.7%</a:t>
            </a:r>
            <a:r>
              <a:rPr lang="zh-CN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0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落地最快场景</a:t>
            </a:r>
            <a:endParaRPr lang="zh-CN" sz="1200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8020050" y="1485900"/>
            <a:ext cx="3505200" cy="2076450"/>
          </a:xfrm>
          <a:prstGeom prst="roundRect">
            <a:avLst>
              <a:gd name="adj" fmla="val 825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8229600" y="1657350"/>
            <a:ext cx="676275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31</a:t>
            </a:r>
            <a:endParaRPr lang="en-US" sz="480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8982075" y="1657350"/>
            <a:ext cx="219075" cy="733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lang="en-US" sz="18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229600" y="2476500"/>
            <a:ext cx="30861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编程与数据分析类课程占比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8229600" y="2752725"/>
            <a:ext cx="30861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在职教数字化市场中为最大课程类目，正是本项目的切入场景</a:t>
            </a:r>
            <a:endParaRPr lang="zh-CN" sz="120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4" name="圆角矩形 583"/>
          <p:cNvSpPr/>
          <p:nvPr/>
        </p:nvSpPr>
        <p:spPr>
          <a:xfrm>
            <a:off x="666750" y="3714750"/>
            <a:ext cx="6096000" cy="2724150"/>
          </a:xfrm>
          <a:prstGeom prst="roundRect">
            <a:avLst>
              <a:gd name="adj" fmla="val 6294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819150" y="3848100"/>
            <a:ext cx="57912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细分赛道增速对比（</a:t>
            </a:r>
            <a:r>
              <a:rPr lang="en-US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86" name="211"/>
          <p:cNvGraphicFramePr/>
          <p:nvPr/>
        </p:nvGraphicFramePr>
        <p:xfrm>
          <a:off x="819150" y="4124325"/>
          <a:ext cx="5791200" cy="209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87" name="圆角矩形 586"/>
          <p:cNvSpPr/>
          <p:nvPr/>
        </p:nvSpPr>
        <p:spPr>
          <a:xfrm>
            <a:off x="6934200" y="3714750"/>
            <a:ext cx="4591050" cy="685800"/>
          </a:xfrm>
          <a:prstGeom prst="roundRect">
            <a:avLst>
              <a:gd name="adj" fmla="val 22222"/>
            </a:avLst>
          </a:prstGeom>
          <a:solidFill>
            <a:srgbClr val="E6F5EC"/>
          </a:solidFill>
        </p:spPr>
        <p:txBody>
          <a:bodyPr/>
          <a:p/>
        </p:txBody>
      </p:sp>
      <p:pic>
        <p:nvPicPr>
          <p:cNvPr id="588" name="图片 587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105650" y="3914775"/>
            <a:ext cx="285750" cy="285750"/>
          </a:xfrm>
          <a:prstGeom prst="rect">
            <a:avLst/>
          </a:prstGeom>
        </p:spPr>
      </p:pic>
      <p:sp>
        <p:nvSpPr>
          <p:cNvPr id="589" name="文本框 588" descr="{&quot;isTemplate&quot;:true,&quot;type&quot;:&quot;text&quot;}"/>
          <p:cNvSpPr txBox="1"/>
          <p:nvPr/>
        </p:nvSpPr>
        <p:spPr>
          <a:xfrm>
            <a:off x="7524750" y="3848100"/>
            <a:ext cx="3829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政策：</a:t>
            </a:r>
            <a:r>
              <a:rPr lang="en-US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2027 </a:t>
            </a: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年覆盖率</a:t>
            </a:r>
            <a:r>
              <a:rPr lang="en-US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100%</a:t>
            </a:r>
            <a:endParaRPr lang="en-US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7524750" y="4095750"/>
            <a:ext cx="3829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公办职业院校数字化课程覆盖率须达</a:t>
            </a:r>
            <a:r>
              <a:rPr lang="en-US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100%</a:t>
            </a:r>
            <a:endParaRPr lang="en-US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1" name="圆角矩形 590"/>
          <p:cNvSpPr/>
          <p:nvPr/>
        </p:nvSpPr>
        <p:spPr>
          <a:xfrm>
            <a:off x="6934200" y="4533900"/>
            <a:ext cx="45910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7105650" y="4676775"/>
            <a:ext cx="1685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单门</a:t>
            </a:r>
            <a:r>
              <a:rPr lang="en-US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C </a:t>
            </a: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语言课程规模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3" name="圆角矩形 592"/>
          <p:cNvSpPr/>
          <p:nvPr/>
        </p:nvSpPr>
        <p:spPr>
          <a:xfrm>
            <a:off x="9896475" y="4667250"/>
            <a:ext cx="1457325" cy="238125"/>
          </a:xfrm>
          <a:prstGeom prst="roundRect">
            <a:avLst>
              <a:gd name="adj" fmla="val 32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9991725" y="4705350"/>
            <a:ext cx="12668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模型取</a:t>
            </a: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100 </a:t>
            </a:r>
            <a:r>
              <a:rPr lang="zh-CN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人属保守</a:t>
            </a:r>
            <a:endParaRPr lang="zh-CN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7105650" y="5000625"/>
            <a:ext cx="2038350" cy="352425"/>
          </a:xfrm>
          <a:prstGeom prst="roundRect">
            <a:avLst>
              <a:gd name="adj" fmla="val 2702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596" name="圆角矩形 595"/>
          <p:cNvSpPr/>
          <p:nvPr/>
        </p:nvSpPr>
        <p:spPr>
          <a:xfrm>
            <a:off x="7200900" y="51530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597" name="文本框 596" descr="{&quot;isTemplate&quot;:true,&quot;type&quot;:&quot;text&quot;}"/>
          <p:cNvSpPr txBox="1"/>
          <p:nvPr/>
        </p:nvSpPr>
        <p:spPr>
          <a:xfrm>
            <a:off x="7324725" y="5095875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浙江科技学院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8467725" y="5076825"/>
            <a:ext cx="5810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537 </a:t>
            </a:r>
            <a:r>
              <a:rPr lang="zh-CN" sz="1275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人</a:t>
            </a:r>
            <a:endParaRPr lang="zh-CN" sz="1275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99" name="圆角矩形 598"/>
          <p:cNvSpPr/>
          <p:nvPr/>
        </p:nvSpPr>
        <p:spPr>
          <a:xfrm>
            <a:off x="9220200" y="5000625"/>
            <a:ext cx="2038350" cy="352425"/>
          </a:xfrm>
          <a:prstGeom prst="roundRect">
            <a:avLst>
              <a:gd name="adj" fmla="val 2702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600" name="圆角矩形 599"/>
          <p:cNvSpPr/>
          <p:nvPr/>
        </p:nvSpPr>
        <p:spPr>
          <a:xfrm>
            <a:off x="9315450" y="51530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9439275" y="50958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新疆大学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2" name="文本框 601" descr="{&quot;isTemplate&quot;:true,&quot;type&quot;:&quot;text&quot;}"/>
          <p:cNvSpPr txBox="1"/>
          <p:nvPr/>
        </p:nvSpPr>
        <p:spPr>
          <a:xfrm>
            <a:off x="10363200" y="5076825"/>
            <a:ext cx="8001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380 </a:t>
            </a:r>
            <a:r>
              <a:rPr lang="zh-CN" sz="1275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余人</a:t>
            </a:r>
            <a:endParaRPr lang="zh-CN" sz="1275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03" name="圆角矩形 602"/>
          <p:cNvSpPr/>
          <p:nvPr/>
        </p:nvSpPr>
        <p:spPr>
          <a:xfrm>
            <a:off x="7105650" y="5429250"/>
            <a:ext cx="2038350" cy="352425"/>
          </a:xfrm>
          <a:prstGeom prst="roundRect">
            <a:avLst>
              <a:gd name="adj" fmla="val 2702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604" name="圆角矩形 603"/>
          <p:cNvSpPr/>
          <p:nvPr/>
        </p:nvSpPr>
        <p:spPr>
          <a:xfrm>
            <a:off x="7200900" y="55816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605" name="文本框 604" descr="{&quot;isTemplate&quot;:true,&quot;type&quot;:&quot;text&quot;}"/>
          <p:cNvSpPr txBox="1"/>
          <p:nvPr/>
        </p:nvSpPr>
        <p:spPr>
          <a:xfrm>
            <a:off x="7324725" y="552450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深圳大学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8248650" y="5505450"/>
            <a:ext cx="8001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1 </a:t>
            </a:r>
            <a:r>
              <a:rPr lang="zh-CN" sz="1275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万</a:t>
            </a:r>
            <a:r>
              <a:rPr lang="en-US" sz="1275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+ </a:t>
            </a:r>
            <a:r>
              <a:rPr lang="zh-CN" sz="1275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人</a:t>
            </a:r>
            <a:endParaRPr lang="zh-CN" sz="1275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07" name="圆角矩形 606"/>
          <p:cNvSpPr/>
          <p:nvPr/>
        </p:nvSpPr>
        <p:spPr>
          <a:xfrm>
            <a:off x="9220200" y="5429250"/>
            <a:ext cx="2038350" cy="352425"/>
          </a:xfrm>
          <a:prstGeom prst="roundRect">
            <a:avLst>
              <a:gd name="adj" fmla="val 2702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608" name="圆角矩形 607"/>
          <p:cNvSpPr/>
          <p:nvPr/>
        </p:nvSpPr>
        <p:spPr>
          <a:xfrm>
            <a:off x="9315450" y="55816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9439275" y="5524500"/>
            <a:ext cx="923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智慧树</a:t>
            </a:r>
            <a:r>
              <a:rPr lang="en-US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· 133 </a:t>
            </a: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所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0" name="文本框 609" descr="{&quot;isTemplate&quot;:true,&quot;type&quot;:&quot;text&quot;}"/>
          <p:cNvSpPr txBox="1"/>
          <p:nvPr/>
        </p:nvSpPr>
        <p:spPr>
          <a:xfrm>
            <a:off x="10363200" y="5505450"/>
            <a:ext cx="8001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42,905 </a:t>
            </a:r>
            <a:r>
              <a:rPr lang="zh-CN" sz="1275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人</a:t>
            </a:r>
            <a:endParaRPr lang="zh-CN" sz="1275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11" name="文本框 610" descr="{&quot;isTemplate&quot;:true,&quot;type&quot;:&quot;text&quot;}"/>
          <p:cNvSpPr txBox="1"/>
          <p:nvPr/>
        </p:nvSpPr>
        <p:spPr>
          <a:xfrm>
            <a:off x="666750" y="6515100"/>
            <a:ext cx="6791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数据来源：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IIM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信息、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ZVZO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行业报告、国家高等教育智慧教育平台、智慧树课程页（第三方测算，口径存在差异）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矩形 6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15" name="圆角矩形 614"/>
          <p:cNvSpPr/>
          <p:nvPr/>
        </p:nvSpPr>
        <p:spPr>
          <a:xfrm>
            <a:off x="-952500" y="5048250"/>
            <a:ext cx="2857500" cy="2857500"/>
          </a:xfrm>
          <a:prstGeom prst="roundRect">
            <a:avLst>
              <a:gd name="adj" fmla="val 50000"/>
            </a:avLst>
          </a:prstGeom>
          <a:solidFill>
            <a:srgbClr val="E6F5EC">
              <a:alpha val="60000"/>
            </a:srgbClr>
          </a:solidFill>
        </p:spPr>
        <p:txBody>
          <a:bodyPr/>
          <a:p/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7" name="矩形 616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9" name="圆角矩形 618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620" name="文本框 619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1" name="圆角矩形 620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3" name="圆角矩形 622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5" name="圆角矩形 624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7" name="圆角矩形 626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628" name="文本框 627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9" name="圆角矩形 628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630" name="文本框 629" descr="{&quot;isTemplate&quot;:true,&quot;type&quot;:&quot;text&quot;}"/>
          <p:cNvSpPr txBox="1"/>
          <p:nvPr/>
        </p:nvSpPr>
        <p:spPr>
          <a:xfrm>
            <a:off x="876300" y="819150"/>
            <a:ext cx="95154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六步闭环：把「改对」变成「学会」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1" name="文本框 630" descr="{&quot;isTemplate&quot;:true,&quot;type&quot;:&quot;text&quot;}"/>
          <p:cNvSpPr txBox="1"/>
          <p:nvPr/>
        </p:nvSpPr>
        <p:spPr>
          <a:xfrm>
            <a:off x="876300" y="1238250"/>
            <a:ext cx="95154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每一步都有明确产出，每一步都可被验证，不依赖学生自觉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2" name="圆角矩形 631"/>
          <p:cNvSpPr/>
          <p:nvPr/>
        </p:nvSpPr>
        <p:spPr>
          <a:xfrm>
            <a:off x="10544175" y="971550"/>
            <a:ext cx="981075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633" name="文本框 632" descr="{&quot;isTemplate&quot;:true,&quot;type&quot;:&quot;text&quot;}"/>
          <p:cNvSpPr txBox="1"/>
          <p:nvPr/>
        </p:nvSpPr>
        <p:spPr>
          <a:xfrm>
            <a:off x="10677525" y="103822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核心业务流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4" name="圆角矩形 633"/>
          <p:cNvSpPr/>
          <p:nvPr/>
        </p:nvSpPr>
        <p:spPr>
          <a:xfrm>
            <a:off x="666750" y="1485900"/>
            <a:ext cx="32766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35" name="圆角矩形 634"/>
          <p:cNvSpPr/>
          <p:nvPr/>
        </p:nvSpPr>
        <p:spPr>
          <a:xfrm>
            <a:off x="838200" y="1638300"/>
            <a:ext cx="32385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952500" y="1704975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1</a:t>
            </a:r>
            <a:endParaRPr lang="en-US" sz="127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1257300" y="1676400"/>
            <a:ext cx="838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提交代码</a:t>
            </a:r>
            <a:endParaRPr lang="zh-CN" sz="16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838200" y="2057400"/>
            <a:ext cx="29337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学生在平台提交源码，记录提交序号。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9" name="圆角矩形 638"/>
          <p:cNvSpPr/>
          <p:nvPr/>
        </p:nvSpPr>
        <p:spPr>
          <a:xfrm>
            <a:off x="838200" y="2400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952500" y="2343150"/>
            <a:ext cx="1200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产出：</a:t>
            </a: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原始提交记录</a:t>
            </a:r>
            <a:endParaRPr lang="zh-CN" sz="1050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1" name="圆角矩形 640"/>
          <p:cNvSpPr/>
          <p:nvPr/>
        </p:nvSpPr>
        <p:spPr>
          <a:xfrm>
            <a:off x="4038600" y="1485900"/>
            <a:ext cx="32766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42" name="圆角矩形 641"/>
          <p:cNvSpPr/>
          <p:nvPr/>
        </p:nvSpPr>
        <p:spPr>
          <a:xfrm>
            <a:off x="4210050" y="1638300"/>
            <a:ext cx="32385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4324350" y="1704975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2</a:t>
            </a:r>
            <a:endParaRPr lang="en-US" sz="127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44" name="文本框 643" descr="{&quot;isTemplate&quot;:true,&quot;type&quot;:&quot;text&quot;}"/>
          <p:cNvSpPr txBox="1"/>
          <p:nvPr/>
        </p:nvSpPr>
        <p:spPr>
          <a:xfrm>
            <a:off x="4629150" y="1676400"/>
            <a:ext cx="838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自动评测</a:t>
            </a:r>
            <a:endParaRPr lang="zh-CN" sz="16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5" name="文本框 644" descr="{&quot;isTemplate&quot;:true,&quot;type&quot;:&quot;text&quot;}"/>
          <p:cNvSpPr txBox="1"/>
          <p:nvPr/>
        </p:nvSpPr>
        <p:spPr>
          <a:xfrm>
            <a:off x="4210050" y="2057400"/>
            <a:ext cx="29337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GCC </a:t>
            </a: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沙箱编译运行，比对测试用例。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6" name="圆角矩形 645"/>
          <p:cNvSpPr/>
          <p:nvPr/>
        </p:nvSpPr>
        <p:spPr>
          <a:xfrm>
            <a:off x="4210050" y="2400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4324350" y="2343150"/>
            <a:ext cx="1381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产出：</a:t>
            </a: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评测结论</a:t>
            </a:r>
            <a:r>
              <a:rPr lang="en-US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差异</a:t>
            </a:r>
            <a:endParaRPr lang="zh-CN" sz="1050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8" name="圆角矩形 647"/>
          <p:cNvSpPr/>
          <p:nvPr/>
        </p:nvSpPr>
        <p:spPr>
          <a:xfrm>
            <a:off x="7410450" y="1485900"/>
            <a:ext cx="32766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49" name="圆角矩形 648"/>
          <p:cNvSpPr/>
          <p:nvPr/>
        </p:nvSpPr>
        <p:spPr>
          <a:xfrm>
            <a:off x="7581900" y="1638300"/>
            <a:ext cx="32385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7696200" y="1704975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3</a:t>
            </a:r>
            <a:endParaRPr lang="en-US" sz="127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51" name="文本框 650" descr="{&quot;isTemplate&quot;:true,&quot;type&quot;:&quot;text&quot;}"/>
          <p:cNvSpPr txBox="1"/>
          <p:nvPr/>
        </p:nvSpPr>
        <p:spPr>
          <a:xfrm>
            <a:off x="8001000" y="1676400"/>
            <a:ext cx="838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证据关联</a:t>
            </a:r>
            <a:endParaRPr lang="zh-CN" sz="16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7581900" y="2057400"/>
            <a:ext cx="29337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关联失败用例与差异，形成证据。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3" name="圆角矩形 652"/>
          <p:cNvSpPr/>
          <p:nvPr/>
        </p:nvSpPr>
        <p:spPr>
          <a:xfrm>
            <a:off x="7581900" y="2400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654" name="文本框 653" descr="{&quot;isTemplate&quot;:true,&quot;type&quot;:&quot;text&quot;}"/>
          <p:cNvSpPr txBox="1"/>
          <p:nvPr/>
        </p:nvSpPr>
        <p:spPr>
          <a:xfrm>
            <a:off x="7696200" y="234315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产出：</a:t>
            </a: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结构化错因证据</a:t>
            </a:r>
            <a:endParaRPr lang="zh-CN" sz="1050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" name="圆角矩形 654"/>
          <p:cNvSpPr/>
          <p:nvPr/>
        </p:nvSpPr>
        <p:spPr>
          <a:xfrm>
            <a:off x="666750" y="2809875"/>
            <a:ext cx="32766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56" name="圆角矩形 655"/>
          <p:cNvSpPr/>
          <p:nvPr/>
        </p:nvSpPr>
        <p:spPr>
          <a:xfrm>
            <a:off x="838200" y="29622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657" name="文本框 656" descr="{&quot;isTemplate&quot;:true,&quot;type&quot;:&quot;text&quot;}"/>
          <p:cNvSpPr txBox="1"/>
          <p:nvPr/>
        </p:nvSpPr>
        <p:spPr>
          <a:xfrm>
            <a:off x="952500" y="3028950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6</a:t>
            </a:r>
            <a:endParaRPr lang="en-US" sz="1275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58" name="文本框 657" descr="{&quot;isTemplate&quot;:true,&quot;type&quot;:&quot;text&quot;}"/>
          <p:cNvSpPr txBox="1"/>
          <p:nvPr/>
        </p:nvSpPr>
        <p:spPr>
          <a:xfrm>
            <a:off x="1257300" y="3000375"/>
            <a:ext cx="838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过程记录</a:t>
            </a:r>
            <a:endParaRPr lang="zh-CN" sz="16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9" name="文本框 658" descr="{&quot;isTemplate&quot;:true,&quot;type&quot;:&quot;text&quot;}"/>
          <p:cNvSpPr txBox="1"/>
          <p:nvPr/>
        </p:nvSpPr>
        <p:spPr>
          <a:xfrm>
            <a:off x="838200" y="3381375"/>
            <a:ext cx="29337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纠错全过程留痕，汇入班级学情。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0" name="圆角矩形 659"/>
          <p:cNvSpPr/>
          <p:nvPr/>
        </p:nvSpPr>
        <p:spPr>
          <a:xfrm>
            <a:off x="838200" y="37242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661" name="文本框 660" descr="{&quot;isTemplate&quot;:true,&quot;type&quot;:&quot;text&quot;}"/>
          <p:cNvSpPr txBox="1"/>
          <p:nvPr/>
        </p:nvSpPr>
        <p:spPr>
          <a:xfrm>
            <a:off x="952500" y="3667125"/>
            <a:ext cx="1200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产出：</a:t>
            </a: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班级学情报告</a:t>
            </a:r>
            <a:endParaRPr lang="zh-CN" sz="1050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2" name="圆角矩形 661"/>
          <p:cNvSpPr/>
          <p:nvPr/>
        </p:nvSpPr>
        <p:spPr>
          <a:xfrm>
            <a:off x="4038600" y="2809875"/>
            <a:ext cx="32766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63" name="圆角矩形 662"/>
          <p:cNvSpPr/>
          <p:nvPr/>
        </p:nvSpPr>
        <p:spPr>
          <a:xfrm>
            <a:off x="4210050" y="29622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664" name="文本框 663" descr="{&quot;isTemplate&quot;:true,&quot;type&quot;:&quot;text&quot;}"/>
          <p:cNvSpPr txBox="1"/>
          <p:nvPr/>
        </p:nvSpPr>
        <p:spPr>
          <a:xfrm>
            <a:off x="4324350" y="3028950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5</a:t>
            </a:r>
            <a:endParaRPr lang="en-US" sz="1275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65" name="文本框 664" descr="{&quot;isTemplate&quot;:true,&quot;type&quot;:&quot;text&quot;}"/>
          <p:cNvSpPr txBox="1"/>
          <p:nvPr/>
        </p:nvSpPr>
        <p:spPr>
          <a:xfrm>
            <a:off x="4629150" y="3000375"/>
            <a:ext cx="838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修正复评</a:t>
            </a:r>
            <a:endParaRPr lang="zh-CN" sz="16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6" name="文本框 665" descr="{&quot;isTemplate&quot;:true,&quot;type&quot;:&quot;text&quot;}"/>
          <p:cNvSpPr txBox="1"/>
          <p:nvPr/>
        </p:nvSpPr>
        <p:spPr>
          <a:xfrm>
            <a:off x="4210050" y="3381375"/>
            <a:ext cx="29337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按提示改完再提交，系统重新评测。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7" name="圆角矩形 666"/>
          <p:cNvSpPr/>
          <p:nvPr/>
        </p:nvSpPr>
        <p:spPr>
          <a:xfrm>
            <a:off x="4210050" y="37242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668" name="文本框 667" descr="{&quot;isTemplate&quot;:true,&quot;type&quot;:&quot;text&quot;}"/>
          <p:cNvSpPr txBox="1"/>
          <p:nvPr/>
        </p:nvSpPr>
        <p:spPr>
          <a:xfrm>
            <a:off x="4324350" y="3667125"/>
            <a:ext cx="1200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产出：</a:t>
            </a: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复评通过记录</a:t>
            </a:r>
            <a:endParaRPr lang="zh-CN" sz="1050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9" name="圆角矩形 668"/>
          <p:cNvSpPr/>
          <p:nvPr/>
        </p:nvSpPr>
        <p:spPr>
          <a:xfrm>
            <a:off x="7410450" y="2809875"/>
            <a:ext cx="32766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670" name="圆角矩形 669"/>
          <p:cNvSpPr/>
          <p:nvPr/>
        </p:nvSpPr>
        <p:spPr>
          <a:xfrm>
            <a:off x="7581900" y="29622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671" name="文本框 670" descr="{&quot;isTemplate&quot;:true,&quot;type&quot;:&quot;text&quot;}"/>
          <p:cNvSpPr txBox="1"/>
          <p:nvPr/>
        </p:nvSpPr>
        <p:spPr>
          <a:xfrm>
            <a:off x="7696200" y="3028950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4</a:t>
            </a:r>
            <a:endParaRPr lang="en-US" sz="1275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72" name="文本框 671" descr="{&quot;isTemplate&quot;:true,&quot;type&quot;:&quot;text&quot;}"/>
          <p:cNvSpPr txBox="1"/>
          <p:nvPr/>
        </p:nvSpPr>
        <p:spPr>
          <a:xfrm>
            <a:off x="8001000" y="3000375"/>
            <a:ext cx="838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三级提示</a:t>
            </a:r>
            <a:endParaRPr lang="zh-CN" sz="16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3" name="文本框 672" descr="{&quot;isTemplate&quot;:true,&quot;type&quot;:&quot;text&quot;}"/>
          <p:cNvSpPr txBox="1"/>
          <p:nvPr/>
        </p:nvSpPr>
        <p:spPr>
          <a:xfrm>
            <a:off x="7581900" y="3381375"/>
            <a:ext cx="29337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逐级展开提示，不给出完整代码。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4" name="圆角矩形 673"/>
          <p:cNvSpPr/>
          <p:nvPr/>
        </p:nvSpPr>
        <p:spPr>
          <a:xfrm>
            <a:off x="7581900" y="37242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675" name="文本框 674" descr="{&quot;isTemplate&quot;:true,&quot;type&quot;:&quot;text&quot;}"/>
          <p:cNvSpPr txBox="1"/>
          <p:nvPr/>
        </p:nvSpPr>
        <p:spPr>
          <a:xfrm>
            <a:off x="7696200" y="3667125"/>
            <a:ext cx="1200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产出：</a:t>
            </a: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分层提示记录</a:t>
            </a:r>
            <a:endParaRPr lang="zh-CN" sz="1050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6" name="圆角矩形 675"/>
          <p:cNvSpPr/>
          <p:nvPr/>
        </p:nvSpPr>
        <p:spPr>
          <a:xfrm>
            <a:off x="666750" y="4152900"/>
            <a:ext cx="3514725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677" name="圆角矩形 676"/>
          <p:cNvSpPr/>
          <p:nvPr/>
        </p:nvSpPr>
        <p:spPr>
          <a:xfrm>
            <a:off x="2171700" y="43243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678" name="图片 67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5050" y="4457700"/>
            <a:ext cx="257175" cy="257175"/>
          </a:xfrm>
          <a:prstGeom prst="rect">
            <a:avLst/>
          </a:prstGeom>
        </p:spPr>
      </p:pic>
      <p:sp>
        <p:nvSpPr>
          <p:cNvPr id="679" name="文本框 678" descr="{&quot;isTemplate&quot;:true,&quot;type&quot;:&quot;text&quot;}"/>
          <p:cNvSpPr txBox="1"/>
          <p:nvPr/>
        </p:nvSpPr>
        <p:spPr>
          <a:xfrm>
            <a:off x="1828800" y="4933950"/>
            <a:ext cx="1200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学生得到台阶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0" name="文本框 679" descr="{&quot;isTemplate&quot;:true,&quot;type&quot;:&quot;text&quot;}"/>
          <p:cNvSpPr txBox="1"/>
          <p:nvPr/>
        </p:nvSpPr>
        <p:spPr>
          <a:xfrm>
            <a:off x="857250" y="5257800"/>
            <a:ext cx="31337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拿到的是提示而不是答案，最后一步必须自己走完，思考过程无法被跳过，错题才算真正学会。</a:t>
            </a:r>
            <a:endParaRPr lang="zh-CN" sz="127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1" name="圆角矩形 680"/>
          <p:cNvSpPr/>
          <p:nvPr/>
        </p:nvSpPr>
        <p:spPr>
          <a:xfrm>
            <a:off x="4333875" y="4152900"/>
            <a:ext cx="3524250" cy="2286000"/>
          </a:xfrm>
          <a:prstGeom prst="roundRect">
            <a:avLst>
              <a:gd name="adj" fmla="val 6667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682" name="圆角矩形 681"/>
          <p:cNvSpPr/>
          <p:nvPr/>
        </p:nvSpPr>
        <p:spPr>
          <a:xfrm>
            <a:off x="5838825" y="43243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683" name="图片 6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2175" y="4457700"/>
            <a:ext cx="257175" cy="257175"/>
          </a:xfrm>
          <a:prstGeom prst="rect">
            <a:avLst/>
          </a:prstGeom>
        </p:spPr>
      </p:pic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5495925" y="4933950"/>
            <a:ext cx="1200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教师得到证据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5" name="文本框 684" descr="{&quot;isTemplate&quot;:true,&quot;type&quot;:&quot;text&quot;}"/>
          <p:cNvSpPr txBox="1"/>
          <p:nvPr/>
        </p:nvSpPr>
        <p:spPr>
          <a:xfrm>
            <a:off x="4524375" y="5257800"/>
            <a:ext cx="314325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每一次提交的错误类型、用到的提示层级、修正次数全部留痕可查，讲评时直接引用。</a:t>
            </a:r>
            <a:endParaRPr lang="zh-CN" sz="127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6" name="圆角矩形 685"/>
          <p:cNvSpPr/>
          <p:nvPr/>
        </p:nvSpPr>
        <p:spPr>
          <a:xfrm>
            <a:off x="8010525" y="4152900"/>
            <a:ext cx="3514725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687" name="圆角矩形 686"/>
          <p:cNvSpPr/>
          <p:nvPr/>
        </p:nvSpPr>
        <p:spPr>
          <a:xfrm>
            <a:off x="9515475" y="43243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688" name="图片 687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48825" y="4457700"/>
            <a:ext cx="257175" cy="257175"/>
          </a:xfrm>
          <a:prstGeom prst="rect">
            <a:avLst/>
          </a:prstGeom>
        </p:spPr>
      </p:pic>
      <p:sp>
        <p:nvSpPr>
          <p:cNvPr id="689" name="文本框 688" descr="{&quot;isTemplate&quot;:true,&quot;type&quot;:&quot;text&quot;}"/>
          <p:cNvSpPr txBox="1"/>
          <p:nvPr/>
        </p:nvSpPr>
        <p:spPr>
          <a:xfrm>
            <a:off x="9172575" y="4933950"/>
            <a:ext cx="1200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课程得到数据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0" name="文本框 689" descr="{&quot;isTemplate&quot;:true,&quot;type&quot;:&quot;text&quot;}"/>
          <p:cNvSpPr txBox="1"/>
          <p:nvPr/>
        </p:nvSpPr>
        <p:spPr>
          <a:xfrm>
            <a:off x="8201025" y="5257800"/>
            <a:ext cx="3133725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5000"/>
              </a:lnSpc>
            </a:pPr>
            <a:r>
              <a:rPr lang="zh-CN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班级共性错误自动聚类，讲评不再只凭经验，教学重点与难点分布有据可依。</a:t>
            </a:r>
            <a:endParaRPr lang="zh-CN" sz="127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1" name="文本框 690" descr="{&quot;isTemplate&quot;:true,&quot;type&quot;:&quot;text&quot;}"/>
          <p:cNvSpPr txBox="1"/>
          <p:nvPr/>
        </p:nvSpPr>
        <p:spPr>
          <a:xfrm>
            <a:off x="666750" y="6515100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2" name="文本框 691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矩形 6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95" name="圆角矩形 694"/>
          <p:cNvSpPr/>
          <p:nvPr/>
        </p:nvSpPr>
        <p:spPr>
          <a:xfrm>
            <a:off x="10191750" y="123825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E6F5EC">
              <a:alpha val="55000"/>
            </a:srgbClr>
          </a:solidFill>
        </p:spPr>
        <p:txBody>
          <a:bodyPr/>
          <a:p/>
        </p:txBody>
      </p:sp>
      <p:sp>
        <p:nvSpPr>
          <p:cNvPr id="696" name="文本框 695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7" name="矩形 696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698" name="文本框 697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9" name="圆角矩形 698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00" name="文本框 699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1" name="圆角矩形 700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702" name="文本框 701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3" name="圆角矩形 702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04" name="文本框 703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5" name="圆角矩形 704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06" name="文本框 705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7" name="圆角矩形 706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08" name="文本框 707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9" name="圆角矩形 708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876300" y="819150"/>
            <a:ext cx="93916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三个创新点，都落在一个原则上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1" name="文本框 710" descr="{&quot;isTemplate&quot;:true,&quot;type&quot;:&quot;text&quot;}"/>
          <p:cNvSpPr txBox="1"/>
          <p:nvPr/>
        </p:nvSpPr>
        <p:spPr>
          <a:xfrm>
            <a:off x="876300" y="1238250"/>
            <a:ext cx="93916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不给答案，只给证据和台阶——这是与通用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的分界线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2" name="圆角矩形 711"/>
          <p:cNvSpPr/>
          <p:nvPr/>
        </p:nvSpPr>
        <p:spPr>
          <a:xfrm>
            <a:off x="10420350" y="971550"/>
            <a:ext cx="1104900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13" name="文本框 712" descr="{&quot;isTemplate&quot;:true,&quot;type&quot;:&quot;text&quot;}"/>
          <p:cNvSpPr txBox="1"/>
          <p:nvPr/>
        </p:nvSpPr>
        <p:spPr>
          <a:xfrm>
            <a:off x="10553700" y="1038225"/>
            <a:ext cx="838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创新性</a:t>
            </a: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25 </a:t>
            </a: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4" name="圆角矩形 713"/>
          <p:cNvSpPr/>
          <p:nvPr/>
        </p:nvSpPr>
        <p:spPr>
          <a:xfrm>
            <a:off x="666750" y="1485900"/>
            <a:ext cx="4629150" cy="4953000"/>
          </a:xfrm>
          <a:prstGeom prst="roundRect">
            <a:avLst>
              <a:gd name="adj" fmla="val 4115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  <a:effectLst>
            <a:outerShdw blurRad="247650" dist="76200" dir="5400000">
              <a:srgbClr val="12523A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15" name="圆角矩形 714"/>
          <p:cNvSpPr/>
          <p:nvPr/>
        </p:nvSpPr>
        <p:spPr>
          <a:xfrm>
            <a:off x="914400" y="17145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1019175" y="1809750"/>
            <a:ext cx="238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01</a:t>
            </a:r>
            <a:endParaRPr lang="en-US" sz="16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1466850" y="1790700"/>
            <a:ext cx="33337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评测证据驱动的结构化错因诊断</a:t>
            </a:r>
            <a:endParaRPr lang="zh-CN" sz="18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8" name="文本框 717" descr="{&quot;isTemplate&quot;:true,&quot;type&quot;:&quot;text&quot;}"/>
          <p:cNvSpPr txBox="1"/>
          <p:nvPr/>
        </p:nvSpPr>
        <p:spPr>
          <a:xfrm>
            <a:off x="914400" y="2286000"/>
            <a:ext cx="41338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诊断结论不是模型凭空生成的，而是从真实评测结果中抽取：失败用例、期望与实际输出差异、报错行号，先形成证据，再给出结论。</a:t>
            </a:r>
            <a:endParaRPr lang="zh-CN" sz="1275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9" name="圆角矩形 718"/>
          <p:cNvSpPr/>
          <p:nvPr/>
        </p:nvSpPr>
        <p:spPr>
          <a:xfrm>
            <a:off x="914400" y="3390900"/>
            <a:ext cx="4133850" cy="638175"/>
          </a:xfrm>
          <a:prstGeom prst="roundRect">
            <a:avLst>
              <a:gd name="adj" fmla="val 17910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720" name="文本框 719" descr="{&quot;isTemplate&quot;:true,&quot;type&quot;:&quot;text&quot;}"/>
          <p:cNvSpPr txBox="1"/>
          <p:nvPr/>
        </p:nvSpPr>
        <p:spPr>
          <a:xfrm>
            <a:off x="1066800" y="3505200"/>
            <a:ext cx="38290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事实栏（可验证）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1" name="文本框 720" descr="{&quot;isTemplate&quot;:true,&quot;type&quot;:&quot;text&quot;}"/>
          <p:cNvSpPr txBox="1"/>
          <p:nvPr/>
        </p:nvSpPr>
        <p:spPr>
          <a:xfrm>
            <a:off x="1066800" y="3743325"/>
            <a:ext cx="3829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编译运行通过</a:t>
            </a:r>
            <a:r>
              <a:rPr lang="en-US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r>
              <a:rPr lang="en-US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9 </a:t>
            </a:r>
            <a:r>
              <a:rPr lang="zh-CN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个数</a:t>
            </a:r>
            <a:r>
              <a:rPr lang="en-US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期望</a:t>
            </a:r>
            <a:r>
              <a:rPr lang="en-US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差异出现在末位</a:t>
            </a:r>
            <a:endParaRPr lang="zh-CN" sz="1125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2" name="圆角矩形 721"/>
          <p:cNvSpPr/>
          <p:nvPr/>
        </p:nvSpPr>
        <p:spPr>
          <a:xfrm>
            <a:off x="914400" y="4124325"/>
            <a:ext cx="4133850" cy="638175"/>
          </a:xfrm>
          <a:prstGeom prst="roundRect">
            <a:avLst>
              <a:gd name="adj" fmla="val 17910"/>
            </a:avLst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723" name="文本框 722" descr="{&quot;isTemplate&quot;:true,&quot;type&quot;:&quot;text&quot;}"/>
          <p:cNvSpPr txBox="1"/>
          <p:nvPr/>
        </p:nvSpPr>
        <p:spPr>
          <a:xfrm>
            <a:off x="1066800" y="4238625"/>
            <a:ext cx="38290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推测栏（标注置信度）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4" name="文本框 723" descr="{&quot;isTemplate&quot;:true,&quot;type&quot;:&quot;text&quot;}"/>
          <p:cNvSpPr txBox="1"/>
          <p:nvPr/>
        </p:nvSpPr>
        <p:spPr>
          <a:xfrm>
            <a:off x="1066800" y="4476750"/>
            <a:ext cx="3829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循环上界应为</a:t>
            </a:r>
            <a:r>
              <a:rPr lang="en-US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 i &lt;= 10 · </a:t>
            </a:r>
            <a:r>
              <a:rPr lang="zh-CN" sz="112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依据：末位元素缺失</a:t>
            </a:r>
            <a:endParaRPr lang="zh-CN" sz="1125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5" name="圆角矩形 724"/>
          <p:cNvSpPr/>
          <p:nvPr/>
        </p:nvSpPr>
        <p:spPr>
          <a:xfrm>
            <a:off x="914400" y="5753100"/>
            <a:ext cx="41338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726" name="图片 72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66800" y="5867400"/>
            <a:ext cx="228600" cy="228600"/>
          </a:xfrm>
          <a:prstGeom prst="rect">
            <a:avLst/>
          </a:prstGeom>
        </p:spPr>
      </p:pic>
      <p:sp>
        <p:nvSpPr>
          <p:cNvPr id="727" name="文本框 726" descr="{&quot;isTemplate&quot;:true,&quot;type&quot;:&quot;text&quot;}"/>
          <p:cNvSpPr txBox="1"/>
          <p:nvPr/>
        </p:nvSpPr>
        <p:spPr>
          <a:xfrm>
            <a:off x="1390650" y="5886450"/>
            <a:ext cx="2133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事实与推测严格分栏，杜绝臆断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8" name="圆角矩形 727"/>
          <p:cNvSpPr/>
          <p:nvPr/>
        </p:nvSpPr>
        <p:spPr>
          <a:xfrm>
            <a:off x="5467350" y="1485900"/>
            <a:ext cx="6057900" cy="24384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29" name="圆角矩形 728"/>
          <p:cNvSpPr/>
          <p:nvPr/>
        </p:nvSpPr>
        <p:spPr>
          <a:xfrm>
            <a:off x="5676900" y="16764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30" name="文本框 729" descr="{&quot;isTemplate&quot;:true,&quot;type&quot;:&quot;text&quot;}"/>
          <p:cNvSpPr txBox="1"/>
          <p:nvPr/>
        </p:nvSpPr>
        <p:spPr>
          <a:xfrm>
            <a:off x="5772150" y="1762125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02</a:t>
            </a:r>
            <a:endParaRPr lang="en-US" sz="135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31" name="文本框 730" descr="{&quot;isTemplate&quot;:true,&quot;type&quot;:&quot;text&quot;}"/>
          <p:cNvSpPr txBox="1"/>
          <p:nvPr/>
        </p:nvSpPr>
        <p:spPr>
          <a:xfrm>
            <a:off x="6172200" y="1733550"/>
            <a:ext cx="24098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面向自主纠错的分层提示</a:t>
            </a:r>
            <a:endParaRPr lang="zh-CN" sz="17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2" name="圆角矩形 731"/>
          <p:cNvSpPr/>
          <p:nvPr/>
        </p:nvSpPr>
        <p:spPr>
          <a:xfrm>
            <a:off x="5676900" y="2171700"/>
            <a:ext cx="5638800" cy="361950"/>
          </a:xfrm>
          <a:prstGeom prst="roundRect">
            <a:avLst>
              <a:gd name="adj" fmla="val 26316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733" name="文本框 732" descr="{&quot;isTemplate&quot;:true,&quot;type&quot;:&quot;text&quot;}"/>
          <p:cNvSpPr txBox="1"/>
          <p:nvPr/>
        </p:nvSpPr>
        <p:spPr>
          <a:xfrm>
            <a:off x="5810250" y="2257425"/>
            <a:ext cx="685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L1 </a:t>
            </a: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知识点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4" name="文本框 733" descr="{&quot;isTemplate&quot;:true,&quot;type&quot;:&quot;text&quot;}"/>
          <p:cNvSpPr txBox="1"/>
          <p:nvPr/>
        </p:nvSpPr>
        <p:spPr>
          <a:xfrm>
            <a:off x="9467850" y="2266950"/>
            <a:ext cx="1714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只提示涉及的语法点与概念</a:t>
            </a:r>
            <a:endParaRPr lang="zh-CN" sz="112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5" name="圆角矩形 734"/>
          <p:cNvSpPr/>
          <p:nvPr/>
        </p:nvSpPr>
        <p:spPr>
          <a:xfrm>
            <a:off x="5676900" y="2609850"/>
            <a:ext cx="5638800" cy="361950"/>
          </a:xfrm>
          <a:prstGeom prst="roundRect">
            <a:avLst>
              <a:gd name="adj" fmla="val 26316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736" name="文本框 735" descr="{&quot;isTemplate&quot;:true,&quot;type&quot;:&quot;text&quot;}"/>
          <p:cNvSpPr txBox="1"/>
          <p:nvPr/>
        </p:nvSpPr>
        <p:spPr>
          <a:xfrm>
            <a:off x="5810250" y="2695575"/>
            <a:ext cx="838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L2 </a:t>
            </a: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逻辑定位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9467850" y="2705100"/>
            <a:ext cx="1714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指出出错的大致位置与条件</a:t>
            </a:r>
            <a:endParaRPr lang="zh-CN" sz="112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8" name="圆角矩形 737"/>
          <p:cNvSpPr/>
          <p:nvPr/>
        </p:nvSpPr>
        <p:spPr>
          <a:xfrm>
            <a:off x="5676900" y="3048000"/>
            <a:ext cx="5638800" cy="361950"/>
          </a:xfrm>
          <a:prstGeom prst="roundRect">
            <a:avLst>
              <a:gd name="adj" fmla="val 26316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739" name="文本框 738" descr="{&quot;isTemplate&quot;:true,&quot;type&quot;:&quot;text&quot;}"/>
          <p:cNvSpPr txBox="1"/>
          <p:nvPr/>
        </p:nvSpPr>
        <p:spPr>
          <a:xfrm>
            <a:off x="5810250" y="3133725"/>
            <a:ext cx="838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L3 </a:t>
            </a: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修正思路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0" name="文本框 739" descr="{&quot;isTemplate&quot;:true,&quot;type&quot;:&quot;text&quot;}"/>
          <p:cNvSpPr txBox="1"/>
          <p:nvPr/>
        </p:nvSpPr>
        <p:spPr>
          <a:xfrm>
            <a:off x="9324975" y="3143250"/>
            <a:ext cx="1857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给出修改方向，不给完整代码</a:t>
            </a:r>
            <a:endParaRPr lang="zh-CN" sz="112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1" name="圆角矩形 740"/>
          <p:cNvSpPr/>
          <p:nvPr/>
        </p:nvSpPr>
        <p:spPr>
          <a:xfrm>
            <a:off x="5467350" y="4095750"/>
            <a:ext cx="6057900" cy="23431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42" name="圆角矩形 741"/>
          <p:cNvSpPr/>
          <p:nvPr/>
        </p:nvSpPr>
        <p:spPr>
          <a:xfrm>
            <a:off x="5676900" y="4286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43" name="文本框 742" descr="{&quot;isTemplate&quot;:true,&quot;type&quot;:&quot;text&quot;}"/>
          <p:cNvSpPr txBox="1"/>
          <p:nvPr/>
        </p:nvSpPr>
        <p:spPr>
          <a:xfrm>
            <a:off x="5772150" y="4371975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03</a:t>
            </a:r>
            <a:endParaRPr lang="en-US" sz="135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44" name="文本框 743" descr="{&quot;isTemplate&quot;:true,&quot;type&quot;:&quot;text&quot;}"/>
          <p:cNvSpPr txBox="1"/>
          <p:nvPr/>
        </p:nvSpPr>
        <p:spPr>
          <a:xfrm>
            <a:off x="6172200" y="4343400"/>
            <a:ext cx="24098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基于纠错过程的教学反馈</a:t>
            </a:r>
            <a:endParaRPr lang="zh-CN" sz="17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5" name="文本框 744" descr="{&quot;isTemplate&quot;:true,&quot;type&quot;:&quot;text&quot;}"/>
          <p:cNvSpPr txBox="1"/>
          <p:nvPr/>
        </p:nvSpPr>
        <p:spPr>
          <a:xfrm>
            <a:off x="5676900" y="4781550"/>
            <a:ext cx="56388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把学生反复提交的整个过程记录下来：卡在哪一步、用了第几级提示、改了几次才通过，形成班级学情。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6" name="圆角矩形 745"/>
          <p:cNvSpPr/>
          <p:nvPr/>
        </p:nvSpPr>
        <p:spPr>
          <a:xfrm>
            <a:off x="5676900" y="5695950"/>
            <a:ext cx="1819275" cy="552450"/>
          </a:xfrm>
          <a:prstGeom prst="roundRect">
            <a:avLst>
              <a:gd name="adj" fmla="val 17241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47" name="文本框 746" descr="{&quot;isTemplate&quot;:true,&quot;type&quot;:&quot;text&quot;}"/>
          <p:cNvSpPr txBox="1"/>
          <p:nvPr/>
        </p:nvSpPr>
        <p:spPr>
          <a:xfrm>
            <a:off x="6305550" y="579120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错误类型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8" name="文本框 747" descr="{&quot;isTemplate&quot;:true,&quot;type&quot;:&quot;text&quot;}"/>
          <p:cNvSpPr txBox="1"/>
          <p:nvPr/>
        </p:nvSpPr>
        <p:spPr>
          <a:xfrm>
            <a:off x="6324600" y="5991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自动聚类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9" name="圆角矩形 748"/>
          <p:cNvSpPr/>
          <p:nvPr/>
        </p:nvSpPr>
        <p:spPr>
          <a:xfrm>
            <a:off x="7591425" y="5695950"/>
            <a:ext cx="1809750" cy="552450"/>
          </a:xfrm>
          <a:prstGeom prst="roundRect">
            <a:avLst>
              <a:gd name="adj" fmla="val 17241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50" name="文本框 749" descr="{&quot;isTemplate&quot;:true,&quot;type&quot;:&quot;text&quot;}"/>
          <p:cNvSpPr txBox="1"/>
          <p:nvPr/>
        </p:nvSpPr>
        <p:spPr>
          <a:xfrm>
            <a:off x="8210550" y="579120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提示层级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8229600" y="5991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按需投放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2" name="圆角矩形 751"/>
          <p:cNvSpPr/>
          <p:nvPr/>
        </p:nvSpPr>
        <p:spPr>
          <a:xfrm>
            <a:off x="9496425" y="5695950"/>
            <a:ext cx="1819275" cy="552450"/>
          </a:xfrm>
          <a:prstGeom prst="roundRect">
            <a:avLst>
              <a:gd name="adj" fmla="val 17241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10125075" y="579120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修正次数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4" name="文本框 753" descr="{&quot;isTemplate&quot;:true,&quot;type&quot;:&quot;text&quot;}"/>
          <p:cNvSpPr txBox="1"/>
          <p:nvPr/>
        </p:nvSpPr>
        <p:spPr>
          <a:xfrm>
            <a:off x="10144125" y="5991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反映难度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5" name="文本框 754" descr="{&quot;isTemplate&quot;:true,&quot;type&quot;:&quot;text&quot;}"/>
          <p:cNvSpPr txBox="1"/>
          <p:nvPr/>
        </p:nvSpPr>
        <p:spPr>
          <a:xfrm>
            <a:off x="666750" y="6515100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6" name="文本框 755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06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矩形 7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59" name="圆角矩形 758"/>
          <p:cNvSpPr/>
          <p:nvPr/>
        </p:nvSpPr>
        <p:spPr>
          <a:xfrm>
            <a:off x="-1047750" y="1428750"/>
            <a:ext cx="2857500" cy="2857500"/>
          </a:xfrm>
          <a:prstGeom prst="roundRect">
            <a:avLst>
              <a:gd name="adj" fmla="val 50000"/>
            </a:avLst>
          </a:prstGeom>
          <a:solidFill>
            <a:srgbClr val="E6F5EC">
              <a:alpha val="50000"/>
            </a:srgbClr>
          </a:solidFill>
        </p:spPr>
        <p:txBody>
          <a:bodyPr/>
          <a:p/>
        </p:txBody>
      </p:sp>
      <p:sp>
        <p:nvSpPr>
          <p:cNvPr id="760" name="文本框 759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1" name="矩形 760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762" name="文本框 761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3" name="圆角矩形 762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64" name="文本框 763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5" name="圆角矩形 764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7" name="圆角矩形 766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68" name="文本框 767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9" name="圆角矩形 768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70" name="文本框 769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1" name="圆角矩形 770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3" name="圆角矩形 772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774" name="文本框 773" descr="{&quot;isTemplate&quot;:true,&quot;type&quot;:&quot;text&quot;}"/>
          <p:cNvSpPr txBox="1"/>
          <p:nvPr/>
        </p:nvSpPr>
        <p:spPr>
          <a:xfrm>
            <a:off x="876300" y="819150"/>
            <a:ext cx="9372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实例演示：循环边界错误怎么被「教会」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5" name="文本框 774" descr="{&quot;isTemplate&quot;:true,&quot;type&quot;:&quot;text&quot;}"/>
          <p:cNvSpPr txBox="1"/>
          <p:nvPr/>
        </p:nvSpPr>
        <p:spPr>
          <a:xfrm>
            <a:off x="876300" y="1238250"/>
            <a:ext cx="9372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同一段代码，三级提示逐级展开，全程不给出完整答案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6" name="圆角矩形 775"/>
          <p:cNvSpPr/>
          <p:nvPr/>
        </p:nvSpPr>
        <p:spPr>
          <a:xfrm>
            <a:off x="10401300" y="971550"/>
            <a:ext cx="1123950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77" name="文本框 776" descr="{&quot;isTemplate&quot;:true,&quot;type&quot;:&quot;text&quot;}"/>
          <p:cNvSpPr txBox="1"/>
          <p:nvPr/>
        </p:nvSpPr>
        <p:spPr>
          <a:xfrm>
            <a:off x="10534650" y="1038225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真实运行实例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8" name="圆角矩形 777"/>
          <p:cNvSpPr/>
          <p:nvPr/>
        </p:nvSpPr>
        <p:spPr>
          <a:xfrm>
            <a:off x="666750" y="1485900"/>
            <a:ext cx="4762500" cy="2219325"/>
          </a:xfrm>
          <a:prstGeom prst="roundRect">
            <a:avLst>
              <a:gd name="adj" fmla="val 686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152400" dist="3810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79" name="圆角矩形 778"/>
          <p:cNvSpPr/>
          <p:nvPr/>
        </p:nvSpPr>
        <p:spPr>
          <a:xfrm>
            <a:off x="666750" y="3819525"/>
            <a:ext cx="4762500" cy="809625"/>
          </a:xfrm>
          <a:prstGeom prst="roundRect">
            <a:avLst>
              <a:gd name="adj" fmla="val 16471"/>
            </a:avLst>
          </a:prstGeom>
          <a:solidFill>
            <a:srgbClr val="E6F5EC"/>
          </a:solidFill>
        </p:spPr>
        <p:txBody>
          <a:bodyPr/>
          <a:p/>
        </p:txBody>
      </p:sp>
      <p:pic>
        <p:nvPicPr>
          <p:cNvPr id="780" name="图片 77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4086225"/>
            <a:ext cx="285750" cy="285750"/>
          </a:xfrm>
          <a:prstGeom prst="rect">
            <a:avLst/>
          </a:prstGeom>
        </p:spPr>
      </p:pic>
      <p:sp>
        <p:nvSpPr>
          <p:cNvPr id="781" name="文本框 780" descr="{&quot;isTemplate&quot;:true,&quot;type&quot;:&quot;text&quot;}"/>
          <p:cNvSpPr txBox="1"/>
          <p:nvPr/>
        </p:nvSpPr>
        <p:spPr>
          <a:xfrm>
            <a:off x="1257300" y="4019550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评测证据</a:t>
            </a:r>
            <a:endParaRPr lang="zh-CN" sz="12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2" name="文本框 781" descr="{&quot;isTemplate&quot;:true,&quot;type&quot;:&quot;text&quot;}"/>
          <p:cNvSpPr txBox="1"/>
          <p:nvPr/>
        </p:nvSpPr>
        <p:spPr>
          <a:xfrm>
            <a:off x="1257300" y="4257675"/>
            <a:ext cx="4000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期望</a:t>
            </a:r>
            <a:r>
              <a:rPr lang="en-US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1–10</a:t>
            </a: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，实际</a:t>
            </a:r>
            <a:r>
              <a:rPr lang="en-US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1–9 · </a:t>
            </a: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编译通过</a:t>
            </a:r>
            <a:r>
              <a:rPr lang="en-US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末位元素缺失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3" name="圆角矩形 782"/>
          <p:cNvSpPr/>
          <p:nvPr/>
        </p:nvSpPr>
        <p:spPr>
          <a:xfrm>
            <a:off x="5600700" y="1485900"/>
            <a:ext cx="5924550" cy="3143250"/>
          </a:xfrm>
          <a:prstGeom prst="roundRect">
            <a:avLst>
              <a:gd name="adj" fmla="val 4848"/>
            </a:avLst>
          </a:prstGeom>
          <a:solidFill>
            <a:srgbClr val="F5FBF7"/>
          </a:solidFill>
          <a:ln w="25400">
            <a:solidFill>
              <a:srgbClr val="7CC9A3"/>
            </a:solidFill>
            <a:prstDash val="dash"/>
          </a:ln>
        </p:spPr>
        <p:txBody>
          <a:bodyPr/>
          <a:p/>
        </p:txBody>
      </p:sp>
      <p:pic>
        <p:nvPicPr>
          <p:cNvPr id="784" name="图片 783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05800" y="2524125"/>
            <a:ext cx="514350" cy="514350"/>
          </a:xfrm>
          <a:prstGeom prst="rect">
            <a:avLst/>
          </a:prstGeom>
        </p:spPr>
      </p:pic>
      <p:sp>
        <p:nvSpPr>
          <p:cNvPr id="785" name="文本框 784" descr="{&quot;isTemplate&quot;:true,&quot;type&quot;:&quot;text&quot;}"/>
          <p:cNvSpPr txBox="1"/>
          <p:nvPr/>
        </p:nvSpPr>
        <p:spPr>
          <a:xfrm>
            <a:off x="7620000" y="3133725"/>
            <a:ext cx="1885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此处插入：平台界面截图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6" name="文本框 785" descr="{&quot;isTemplate&quot;:true,&quot;type&quot;:&quot;text&quot;}"/>
          <p:cNvSpPr txBox="1"/>
          <p:nvPr/>
        </p:nvSpPr>
        <p:spPr>
          <a:xfrm>
            <a:off x="7334250" y="3438525"/>
            <a:ext cx="2457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建议尺寸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580 × 300 px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替换后删除此框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7" name="圆角矩形 786"/>
          <p:cNvSpPr/>
          <p:nvPr/>
        </p:nvSpPr>
        <p:spPr>
          <a:xfrm>
            <a:off x="666750" y="4800600"/>
            <a:ext cx="3514725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788" name="圆角矩形 787"/>
          <p:cNvSpPr/>
          <p:nvPr/>
        </p:nvSpPr>
        <p:spPr>
          <a:xfrm>
            <a:off x="838200" y="49530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89" name="文本框 788" descr="{&quot;isTemplate&quot;:true,&quot;type&quot;:&quot;text&quot;}"/>
          <p:cNvSpPr txBox="1"/>
          <p:nvPr/>
        </p:nvSpPr>
        <p:spPr>
          <a:xfrm>
            <a:off x="952500" y="5057775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L1</a:t>
            </a:r>
            <a:endParaRPr lang="en-US" sz="135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90" name="文本框 789" descr="{&quot;isTemplate&quot;:true,&quot;type&quot;:&quot;text&quot;}"/>
          <p:cNvSpPr txBox="1"/>
          <p:nvPr/>
        </p:nvSpPr>
        <p:spPr>
          <a:xfrm>
            <a:off x="1352550" y="5038725"/>
            <a:ext cx="6000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知识点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1" name="文本框 790" descr="{&quot;isTemplate&quot;:true,&quot;type&quot;:&quot;text&quot;}"/>
          <p:cNvSpPr txBox="1"/>
          <p:nvPr/>
        </p:nvSpPr>
        <p:spPr>
          <a:xfrm>
            <a:off x="838200" y="5486400"/>
            <a:ext cx="3171825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for </a:t>
            </a:r>
            <a:r>
              <a:rPr lang="zh-CN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循环的循环条件决定执行次数，注意上界是否包含边界值。</a:t>
            </a:r>
            <a:endParaRPr lang="zh-CN" sz="127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92" name="图片 791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38200" y="6134100"/>
            <a:ext cx="152400" cy="152400"/>
          </a:xfrm>
          <a:prstGeom prst="rect">
            <a:avLst/>
          </a:prstGeom>
        </p:spPr>
      </p:pic>
      <p:sp>
        <p:nvSpPr>
          <p:cNvPr id="793" name="文本框 792" descr="{&quot;isTemplate&quot;:true,&quot;type&quot;:&quot;text&quot;}"/>
          <p:cNvSpPr txBox="1"/>
          <p:nvPr/>
        </p:nvSpPr>
        <p:spPr>
          <a:xfrm>
            <a:off x="1047750" y="6124575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不提供完整代码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4" name="圆角矩形 793"/>
          <p:cNvSpPr/>
          <p:nvPr/>
        </p:nvSpPr>
        <p:spPr>
          <a:xfrm>
            <a:off x="4333875" y="4800600"/>
            <a:ext cx="352425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795" name="圆角矩形 794"/>
          <p:cNvSpPr/>
          <p:nvPr/>
        </p:nvSpPr>
        <p:spPr>
          <a:xfrm>
            <a:off x="4505325" y="49530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796" name="文本框 795" descr="{&quot;isTemplate&quot;:true,&quot;type&quot;:&quot;text&quot;}"/>
          <p:cNvSpPr txBox="1"/>
          <p:nvPr/>
        </p:nvSpPr>
        <p:spPr>
          <a:xfrm>
            <a:off x="4619625" y="5057775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L2</a:t>
            </a:r>
            <a:endParaRPr lang="en-US" sz="135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97" name="文本框 796" descr="{&quot;isTemplate&quot;:true,&quot;type&quot;:&quot;text&quot;}"/>
          <p:cNvSpPr txBox="1"/>
          <p:nvPr/>
        </p:nvSpPr>
        <p:spPr>
          <a:xfrm>
            <a:off x="5019675" y="5038725"/>
            <a:ext cx="8001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逻辑定位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8" name="文本框 797" descr="{&quot;isTemplate&quot;:true,&quot;type&quot;:&quot;text&quot;}"/>
          <p:cNvSpPr txBox="1"/>
          <p:nvPr/>
        </p:nvSpPr>
        <p:spPr>
          <a:xfrm>
            <a:off x="4505325" y="5486400"/>
            <a:ext cx="31813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检查第</a:t>
            </a:r>
            <a:r>
              <a:rPr lang="en-US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行循环条件：</a:t>
            </a:r>
            <a:r>
              <a:rPr lang="en-US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i </a:t>
            </a:r>
            <a:r>
              <a:rPr lang="zh-CN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开始，条件写的是</a:t>
            </a:r>
            <a:r>
              <a:rPr lang="en-US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i &lt; 10</a:t>
            </a:r>
            <a:r>
              <a:rPr lang="zh-CN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7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99" name="图片 798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05325" y="6134100"/>
            <a:ext cx="152400" cy="152400"/>
          </a:xfrm>
          <a:prstGeom prst="rect">
            <a:avLst/>
          </a:prstGeom>
        </p:spPr>
      </p:pic>
      <p:sp>
        <p:nvSpPr>
          <p:cNvPr id="800" name="文本框 799" descr="{&quot;isTemplate&quot;:true,&quot;type&quot;:&quot;text&quot;}"/>
          <p:cNvSpPr txBox="1"/>
          <p:nvPr/>
        </p:nvSpPr>
        <p:spPr>
          <a:xfrm>
            <a:off x="4714875" y="6124575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不提供完整代码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1" name="圆角矩形 800"/>
          <p:cNvSpPr/>
          <p:nvPr/>
        </p:nvSpPr>
        <p:spPr>
          <a:xfrm>
            <a:off x="8010525" y="4800600"/>
            <a:ext cx="3514725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802" name="圆角矩形 801"/>
          <p:cNvSpPr/>
          <p:nvPr/>
        </p:nvSpPr>
        <p:spPr>
          <a:xfrm>
            <a:off x="8181975" y="4953000"/>
            <a:ext cx="419100" cy="41910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803" name="文本框 802" descr="{&quot;isTemplate&quot;:true,&quot;type&quot;:&quot;text&quot;}"/>
          <p:cNvSpPr txBox="1"/>
          <p:nvPr/>
        </p:nvSpPr>
        <p:spPr>
          <a:xfrm>
            <a:off x="8296275" y="5057775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L3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04" name="文本框 803" descr="{&quot;isTemplate&quot;:true,&quot;type&quot;:&quot;text&quot;}"/>
          <p:cNvSpPr txBox="1"/>
          <p:nvPr/>
        </p:nvSpPr>
        <p:spPr>
          <a:xfrm>
            <a:off x="8696325" y="5038725"/>
            <a:ext cx="8001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修正思路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5" name="文本框 804" descr="{&quot;isTemplate&quot;:true,&quot;type&quot;:&quot;text&quot;}"/>
          <p:cNvSpPr txBox="1"/>
          <p:nvPr/>
        </p:nvSpPr>
        <p:spPr>
          <a:xfrm>
            <a:off x="8181975" y="5486400"/>
            <a:ext cx="3171825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要让最后一个数也被输出，循环条件的上界应如何调整？</a:t>
            </a:r>
            <a:endParaRPr lang="zh-CN" sz="127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06" name="图片 80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81975" y="6134100"/>
            <a:ext cx="152400" cy="152400"/>
          </a:xfrm>
          <a:prstGeom prst="rect">
            <a:avLst/>
          </a:prstGeom>
        </p:spPr>
      </p:pic>
      <p:sp>
        <p:nvSpPr>
          <p:cNvPr id="807" name="文本框 806" descr="{&quot;isTemplate&quot;:true,&quot;type&quot;:&quot;text&quot;}"/>
          <p:cNvSpPr txBox="1"/>
          <p:nvPr/>
        </p:nvSpPr>
        <p:spPr>
          <a:xfrm>
            <a:off x="8391525" y="6124575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不提供完整代码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8" name="圆角矩形 807"/>
          <p:cNvSpPr/>
          <p:nvPr/>
        </p:nvSpPr>
        <p:spPr>
          <a:xfrm>
            <a:off x="742950" y="1562100"/>
            <a:ext cx="4610100" cy="2066925"/>
          </a:xfrm>
          <a:prstGeom prst="roundRect">
            <a:avLst>
              <a:gd name="adj" fmla="val 3687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809" name="文本框 808"/>
          <p:cNvSpPr txBox="1"/>
          <p:nvPr/>
        </p:nvSpPr>
        <p:spPr>
          <a:xfrm>
            <a:off x="895350" y="1695450"/>
            <a:ext cx="4305300" cy="1800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#include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&lt;stdio.h&gt;</a:t>
            </a:r>
            <a:endParaRPr sz="1200">
              <a:solidFill>
                <a:srgbClr val="032F62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int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200">
                <a:solidFill>
                  <a:srgbClr val="6F42C1"/>
                </a:solidFill>
                <a:latin typeface="Menlo"/>
                <a:ea typeface="Menlo"/>
              </a:rPr>
              <a:t>main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() {</a:t>
            </a:r>
            <a:endParaRPr sz="120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int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i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; i 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&lt;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10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; i</a:t>
            </a:r>
            <a:r>
              <a:rPr sz="1200">
                <a:solidFill>
                  <a:srgbClr val="D73A49"/>
                </a:solidFill>
                <a:latin typeface="Menlo"/>
                <a:ea typeface="Menlo"/>
              </a:rPr>
              <a:t>++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 sz="120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1200">
                <a:solidFill>
                  <a:srgbClr val="6F42C1"/>
                </a:solidFill>
                <a:latin typeface="Menlo"/>
                <a:ea typeface="Menlo"/>
              </a:rPr>
              <a:t>printf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%d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 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 i);</a:t>
            </a:r>
            <a:endParaRPr sz="120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  }</a:t>
            </a:r>
            <a:endParaRPr sz="120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 sz="120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6A737D"/>
                </a:solidFill>
                <a:latin typeface="Menlo"/>
                <a:ea typeface="Menlo"/>
              </a:rPr>
              <a:t>/* 期望 1-10，实际输出 1-9 */</a:t>
            </a:r>
            <a:endParaRPr sz="1200">
              <a:solidFill>
                <a:srgbClr val="6A737D"/>
              </a:solidFill>
              <a:latin typeface="Menlo"/>
              <a:ea typeface="Menlo"/>
            </a:endParaRPr>
          </a:p>
        </p:txBody>
      </p:sp>
      <p:sp>
        <p:nvSpPr>
          <p:cNvPr id="810" name="文本框 809" descr="{&quot;isTemplate&quot;:true,&quot;type&quot;:&quot;text&quot;}"/>
          <p:cNvSpPr txBox="1"/>
          <p:nvPr/>
        </p:nvSpPr>
        <p:spPr>
          <a:xfrm>
            <a:off x="666750" y="6515100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1" name="文本框 810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07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矩形 8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14" name="圆角矩形 813"/>
          <p:cNvSpPr/>
          <p:nvPr/>
        </p:nvSpPr>
        <p:spPr>
          <a:xfrm>
            <a:off x="10096500" y="476250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E6F5EC">
              <a:alpha val="60000"/>
            </a:srgbClr>
          </a:solidFill>
        </p:spPr>
        <p:txBody>
          <a:bodyPr/>
          <a:p/>
        </p:txBody>
      </p:sp>
      <p:sp>
        <p:nvSpPr>
          <p:cNvPr id="815" name="文本框 814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6" name="矩形 815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817" name="文本框 816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8" name="圆角矩形 817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19" name="文本框 818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0" name="圆角矩形 819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21" name="文本框 820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2" name="圆角矩形 821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823" name="文本框 822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4" name="圆角矩形 823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6" name="圆角矩形 825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27" name="文本框 826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8" name="圆角矩形 827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829" name="文本框 828" descr="{&quot;isTemplate&quot;:true,&quot;type&quot;:&quot;text&quot;}"/>
          <p:cNvSpPr txBox="1"/>
          <p:nvPr/>
        </p:nvSpPr>
        <p:spPr>
          <a:xfrm>
            <a:off x="876300" y="819150"/>
            <a:ext cx="92297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竞品卖整套平台，我们卖一门课的服务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0" name="文本框 829" descr="{&quot;isTemplate&quot;:true,&quot;type&quot;:&quot;text&quot;}"/>
          <p:cNvSpPr txBox="1"/>
          <p:nvPr/>
        </p:nvSpPr>
        <p:spPr>
          <a:xfrm>
            <a:off x="876300" y="1238250"/>
            <a:ext cx="92297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能力对照与公开中标价量级对照，价格来源均为公开采购公告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1" name="圆角矩形 830"/>
          <p:cNvSpPr/>
          <p:nvPr/>
        </p:nvSpPr>
        <p:spPr>
          <a:xfrm>
            <a:off x="10258425" y="971550"/>
            <a:ext cx="1266825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32" name="文本框 831" descr="{&quot;isTemplate&quot;:true,&quot;type&quot;:&quot;text&quot;}"/>
          <p:cNvSpPr txBox="1"/>
          <p:nvPr/>
        </p:nvSpPr>
        <p:spPr>
          <a:xfrm>
            <a:off x="10391775" y="1038225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商业性核心论据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3" name="圆角矩形 832"/>
          <p:cNvSpPr/>
          <p:nvPr/>
        </p:nvSpPr>
        <p:spPr>
          <a:xfrm>
            <a:off x="666750" y="1485900"/>
            <a:ext cx="10858500" cy="2724150"/>
          </a:xfrm>
          <a:prstGeom prst="roundRect">
            <a:avLst>
              <a:gd name="adj" fmla="val 6294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graphicFrame>
        <p:nvGraphicFramePr>
          <p:cNvPr id="834" name="表格 833"/>
          <p:cNvGraphicFramePr/>
          <p:nvPr/>
        </p:nvGraphicFramePr>
        <p:xfrm>
          <a:off x="781050" y="1581150"/>
          <a:ext cx="10629900" cy="2533650"/>
        </p:xfrm>
        <a:graphic>
          <a:graphicData uri="http://schemas.openxmlformats.org/drawingml/2006/table">
            <a:tbl>
              <a:tblPr/>
              <a:tblGrid>
                <a:gridCol w="1688174"/>
                <a:gridCol w="1688174"/>
                <a:gridCol w="2351070"/>
                <a:gridCol w="1526133"/>
                <a:gridCol w="1467209"/>
                <a:gridCol w="1909139"/>
              </a:tblGrid>
              <a:tr h="4222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对照维度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52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PTA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52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头歌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52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CodeRunner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52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ChatGPT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52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CodePilot Edu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A36B"/>
                    </a:solidFill>
                  </a:tcPr>
                </a:tc>
              </a:tr>
              <a:tr h="4222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定位层级</a:t>
                      </a:r>
                      <a:endParaRPr sz="1125" b="1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整校 / 整院级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整校级平台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课程作业级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通用对话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252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单门课程</a:t>
                      </a:r>
                      <a:endParaRPr sz="1125" b="1">
                        <a:solidFill>
                          <a:srgbClr val="1252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BF7"/>
                    </a:solidFill>
                  </a:tcPr>
                </a:tc>
              </a:tr>
              <a:tr h="4222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错因诊断</a:t>
                      </a:r>
                      <a:endParaRPr sz="1125" b="1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主要判定对错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部分支持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判定对错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自然语言解释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252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评测证据驱动</a:t>
                      </a:r>
                      <a:endParaRPr sz="1125" b="1">
                        <a:solidFill>
                          <a:srgbClr val="1252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BF7"/>
                    </a:solidFill>
                  </a:tcPr>
                </a:tc>
              </a:tr>
              <a:tr h="4222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提示方式</a:t>
                      </a:r>
                      <a:endParaRPr sz="1125" b="1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无分层提示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无分层提示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无分层提示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直接给出答案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252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三级提示不给答案</a:t>
                      </a:r>
                      <a:endParaRPr sz="1125" b="1">
                        <a:solidFill>
                          <a:srgbClr val="1252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BF7"/>
                    </a:solidFill>
                  </a:tcPr>
                </a:tc>
              </a:tr>
              <a:tr h="4222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过程留痕</a:t>
                      </a:r>
                      <a:endParaRPr sz="1125" b="1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成绩与提交记录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学习行为数据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提交记录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无留痕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252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纠错全过程留痕</a:t>
                      </a:r>
                      <a:endParaRPr sz="1125" b="1">
                        <a:solidFill>
                          <a:srgbClr val="1252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BF7"/>
                    </a:solidFill>
                  </a:tcPr>
                </a:tc>
              </a:tr>
              <a:tr h="4222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公开采购价量级</a:t>
                      </a:r>
                      <a:endParaRPr sz="1125" b="1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8,500 元起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148,700 – 760,000 元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院校自建为主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订阅制</a:t>
                      </a:r>
                      <a:endParaRPr sz="1125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1,500 元 / 学期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A36B"/>
                    </a:solidFill>
                  </a:tcPr>
                </a:tc>
              </a:tr>
            </a:tbl>
          </a:graphicData>
        </a:graphic>
      </p:graphicFrame>
      <p:sp>
        <p:nvSpPr>
          <p:cNvPr id="835" name="圆角矩形 834"/>
          <p:cNvSpPr/>
          <p:nvPr/>
        </p:nvSpPr>
        <p:spPr>
          <a:xfrm>
            <a:off x="666750" y="4362450"/>
            <a:ext cx="6229350" cy="2076450"/>
          </a:xfrm>
          <a:prstGeom prst="roundRect">
            <a:avLst>
              <a:gd name="adj" fmla="val 8257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  <a:effectLst>
            <a:outerShdw blurRad="247650" dist="76200" dir="5400000">
              <a:srgbClr val="12523A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36" name="文本框 835" descr="{&quot;isTemplate&quot;:true,&quot;type&quot;:&quot;text&quot;}"/>
          <p:cNvSpPr txBox="1"/>
          <p:nvPr/>
        </p:nvSpPr>
        <p:spPr>
          <a:xfrm>
            <a:off x="914400" y="4810125"/>
            <a:ext cx="3600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我们的定价</a:t>
            </a:r>
            <a:endParaRPr lang="zh-CN" sz="1275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7" name="文本框 836" descr="{&quot;isTemplate&quot;:true,&quot;type&quot;:&quot;text&quot;}"/>
          <p:cNvSpPr txBox="1"/>
          <p:nvPr/>
        </p:nvSpPr>
        <p:spPr>
          <a:xfrm>
            <a:off x="914400" y="5048250"/>
            <a:ext cx="2152650" cy="942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1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1,500</a:t>
            </a:r>
            <a:endParaRPr lang="en-US" sz="61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38" name="文本框 837" descr="{&quot;isTemplate&quot;:true,&quot;type&quot;:&quot;text&quot;}"/>
          <p:cNvSpPr txBox="1"/>
          <p:nvPr/>
        </p:nvSpPr>
        <p:spPr>
          <a:xfrm>
            <a:off x="3143250" y="5048250"/>
            <a:ext cx="1371600" cy="942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元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课程·学期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9" name="圆角矩形 838"/>
          <p:cNvSpPr/>
          <p:nvPr/>
        </p:nvSpPr>
        <p:spPr>
          <a:xfrm>
            <a:off x="4667250" y="5210175"/>
            <a:ext cx="1981200" cy="381000"/>
          </a:xfrm>
          <a:prstGeom prst="roundRect">
            <a:avLst>
              <a:gd name="adj" fmla="val 30000"/>
            </a:avLst>
          </a:pr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840" name="文本框 839" descr="{&quot;isTemplate&quot;:true,&quot;type&quot;:&quot;text&quot;}"/>
          <p:cNvSpPr txBox="1"/>
          <p:nvPr/>
        </p:nvSpPr>
        <p:spPr>
          <a:xfrm>
            <a:off x="4819650" y="5305425"/>
            <a:ext cx="1676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只卖一门课用得起的服务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1" name="圆角矩形 840"/>
          <p:cNvSpPr/>
          <p:nvPr/>
        </p:nvSpPr>
        <p:spPr>
          <a:xfrm>
            <a:off x="7048500" y="4362450"/>
            <a:ext cx="4476750" cy="2076450"/>
          </a:xfrm>
          <a:prstGeom prst="roundRect">
            <a:avLst>
              <a:gd name="adj" fmla="val 8257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42" name="文本框 841" descr="{&quot;isTemplate&quot;:true,&quot;type&quot;:&quot;text&quot;}"/>
          <p:cNvSpPr txBox="1"/>
          <p:nvPr/>
        </p:nvSpPr>
        <p:spPr>
          <a:xfrm>
            <a:off x="7277100" y="4724400"/>
            <a:ext cx="4019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竞品公开中标价区间</a:t>
            </a:r>
            <a:endParaRPr lang="zh-CN" sz="12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3" name="文本框 842" descr="{&quot;isTemplate&quot;:true,&quot;type&quot;:&quot;text&quot;}"/>
          <p:cNvSpPr txBox="1"/>
          <p:nvPr/>
        </p:nvSpPr>
        <p:spPr>
          <a:xfrm>
            <a:off x="7277100" y="4962525"/>
            <a:ext cx="1209675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8,500</a:t>
            </a:r>
            <a:endParaRPr lang="en-US" sz="345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44" name="文本框 843" descr="{&quot;isTemplate&quot;:true,&quot;type&quot;:&quot;text&quot;}"/>
          <p:cNvSpPr txBox="1"/>
          <p:nvPr/>
        </p:nvSpPr>
        <p:spPr>
          <a:xfrm>
            <a:off x="8562975" y="4962525"/>
            <a:ext cx="12763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— 760,000 </a:t>
            </a: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元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5" name="文本框 844" descr="{&quot;isTemplate&quot;:true,&quot;type&quot;:&quot;text&quot;}"/>
          <p:cNvSpPr txBox="1"/>
          <p:nvPr/>
        </p:nvSpPr>
        <p:spPr>
          <a:xfrm>
            <a:off x="7277100" y="5572125"/>
            <a:ext cx="40195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PTA </a:t>
            </a: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单套</a:t>
            </a:r>
            <a:r>
              <a:rPr lang="en-US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8,500 </a:t>
            </a: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元（长春理工</a:t>
            </a:r>
            <a:r>
              <a:rPr lang="en-US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2025</a:t>
            </a: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）·</a:t>
            </a:r>
            <a:r>
              <a:rPr lang="en-US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头歌整校级</a:t>
            </a:r>
            <a:r>
              <a:rPr lang="en-US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148,700–760,000 </a:t>
            </a: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元（河南农职院、商洛学院）</a:t>
            </a:r>
            <a:endParaRPr lang="zh-CN" sz="112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6" name="文本框 845" descr="{&quot;isTemplate&quot;:true,&quot;type&quot;:&quot;text&quot;}"/>
          <p:cNvSpPr txBox="1"/>
          <p:nvPr/>
        </p:nvSpPr>
        <p:spPr>
          <a:xfrm>
            <a:off x="666750" y="6515100"/>
            <a:ext cx="4943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价格为公开中标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报价，含不同配置与服务范围，仅作量级对照，不构成性价比结论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7" name="文本框 846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08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矩形 8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50" name="圆角矩形 849"/>
          <p:cNvSpPr/>
          <p:nvPr/>
        </p:nvSpPr>
        <p:spPr>
          <a:xfrm>
            <a:off x="-952500" y="1524000"/>
            <a:ext cx="2857500" cy="2857500"/>
          </a:xfrm>
          <a:prstGeom prst="roundRect">
            <a:avLst>
              <a:gd name="adj" fmla="val 50000"/>
            </a:avLst>
          </a:prstGeom>
          <a:solidFill>
            <a:srgbClr val="E6F5EC">
              <a:alpha val="55000"/>
            </a:srgbClr>
          </a:solidFill>
        </p:spPr>
        <p:txBody>
          <a:bodyPr/>
          <a:p/>
        </p:txBody>
      </p:sp>
      <p:sp>
        <p:nvSpPr>
          <p:cNvPr id="851" name="文本框 850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2" name="矩形 851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853" name="文本框 852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4" name="圆角矩形 853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55" name="文本框 854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6" name="圆角矩形 855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57" name="文本框 856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8" name="圆角矩形 857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859" name="文本框 858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0" name="圆角矩形 859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61" name="文本框 860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2" name="圆角矩形 861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63" name="文本框 862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4" name="圆角矩形 863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865" name="文本框 864" descr="{&quot;isTemplate&quot;:true,&quot;type&quot;:&quot;text&quot;}"/>
          <p:cNvSpPr txBox="1"/>
          <p:nvPr/>
        </p:nvSpPr>
        <p:spPr>
          <a:xfrm>
            <a:off x="876300" y="819150"/>
            <a:ext cx="9372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四个问题说清交易结构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6" name="文本框 865" descr="{&quot;isTemplate&quot;:true,&quot;type&quot;:&quot;text&quot;}"/>
          <p:cNvSpPr txBox="1"/>
          <p:nvPr/>
        </p:nvSpPr>
        <p:spPr>
          <a:xfrm>
            <a:off x="876300" y="1238250"/>
            <a:ext cx="9372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谁使用、谁付费、为何付费、如何交付，三阶段推进路径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7" name="圆角矩形 866"/>
          <p:cNvSpPr/>
          <p:nvPr/>
        </p:nvSpPr>
        <p:spPr>
          <a:xfrm>
            <a:off x="10401300" y="971550"/>
            <a:ext cx="1123950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68" name="文本框 867" descr="{&quot;isTemplate&quot;:true,&quot;type&quot;:&quot;text&quot;}"/>
          <p:cNvSpPr txBox="1"/>
          <p:nvPr/>
        </p:nvSpPr>
        <p:spPr>
          <a:xfrm>
            <a:off x="10534650" y="1038225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可成交性设计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9" name="圆角矩形 868"/>
          <p:cNvSpPr/>
          <p:nvPr/>
        </p:nvSpPr>
        <p:spPr>
          <a:xfrm>
            <a:off x="666750" y="1485900"/>
            <a:ext cx="5343525" cy="1352550"/>
          </a:xfrm>
          <a:prstGeom prst="roundRect">
            <a:avLst>
              <a:gd name="adj" fmla="val 11268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70" name="圆角矩形 869"/>
          <p:cNvSpPr/>
          <p:nvPr/>
        </p:nvSpPr>
        <p:spPr>
          <a:xfrm>
            <a:off x="857250" y="19240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71" name="图片 87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075" y="2047875"/>
            <a:ext cx="238125" cy="238125"/>
          </a:xfrm>
          <a:prstGeom prst="rect">
            <a:avLst/>
          </a:prstGeom>
        </p:spPr>
      </p:pic>
      <p:sp>
        <p:nvSpPr>
          <p:cNvPr id="872" name="文本框 871" descr="{&quot;isTemplate&quot;:true,&quot;type&quot;:&quot;text&quot;}"/>
          <p:cNvSpPr txBox="1"/>
          <p:nvPr/>
        </p:nvSpPr>
        <p:spPr>
          <a:xfrm>
            <a:off x="1466850" y="1724025"/>
            <a:ext cx="43529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谁使用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3" name="文本框 872" descr="{&quot;isTemplate&quot;:true,&quot;type&quot;:&quot;text&quot;}"/>
          <p:cNvSpPr txBox="1"/>
          <p:nvPr/>
        </p:nvSpPr>
        <p:spPr>
          <a:xfrm>
            <a:off x="1466850" y="2028825"/>
            <a:ext cx="43529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学生：提交代码、领取提示、修正复评；教师：布置题目、查看学情；助教：答疑与复核。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4" name="圆角矩形 873"/>
          <p:cNvSpPr/>
          <p:nvPr/>
        </p:nvSpPr>
        <p:spPr>
          <a:xfrm>
            <a:off x="6162675" y="1485900"/>
            <a:ext cx="5343525" cy="1352550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875" name="圆角矩形 874"/>
          <p:cNvSpPr/>
          <p:nvPr/>
        </p:nvSpPr>
        <p:spPr>
          <a:xfrm>
            <a:off x="6353175" y="19240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76" name="图片 87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47875"/>
            <a:ext cx="238125" cy="238125"/>
          </a:xfrm>
          <a:prstGeom prst="rect">
            <a:avLst/>
          </a:prstGeom>
        </p:spPr>
      </p:pic>
      <p:sp>
        <p:nvSpPr>
          <p:cNvPr id="877" name="文本框 876" descr="{&quot;isTemplate&quot;:true,&quot;type&quot;:&quot;text&quot;}"/>
          <p:cNvSpPr txBox="1"/>
          <p:nvPr/>
        </p:nvSpPr>
        <p:spPr>
          <a:xfrm>
            <a:off x="6962775" y="1724025"/>
            <a:ext cx="43529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谁付费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8" name="文本框 877" descr="{&quot;isTemplate&quot;:true,&quot;type&quot;:&quot;text&quot;}"/>
          <p:cNvSpPr txBox="1"/>
          <p:nvPr/>
        </p:nvSpPr>
        <p:spPr>
          <a:xfrm>
            <a:off x="6962775" y="2028825"/>
            <a:ext cx="43529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课程单位与课程负责人为决策起点，二级学院、学校教务为后续扩展，决策链短、金额小。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9" name="圆角矩形 878"/>
          <p:cNvSpPr/>
          <p:nvPr/>
        </p:nvSpPr>
        <p:spPr>
          <a:xfrm>
            <a:off x="666750" y="2990850"/>
            <a:ext cx="5343525" cy="1352550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880" name="圆角矩形 879"/>
          <p:cNvSpPr/>
          <p:nvPr/>
        </p:nvSpPr>
        <p:spPr>
          <a:xfrm>
            <a:off x="857250" y="34290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81" name="图片 88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075" y="3552825"/>
            <a:ext cx="238125" cy="238125"/>
          </a:xfrm>
          <a:prstGeom prst="rect">
            <a:avLst/>
          </a:prstGeom>
        </p:spPr>
      </p:pic>
      <p:sp>
        <p:nvSpPr>
          <p:cNvPr id="882" name="文本框 881" descr="{&quot;isTemplate&quot;:true,&quot;type&quot;:&quot;text&quot;}"/>
          <p:cNvSpPr txBox="1"/>
          <p:nvPr/>
        </p:nvSpPr>
        <p:spPr>
          <a:xfrm>
            <a:off x="1466850" y="3228975"/>
            <a:ext cx="43529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为何付费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3" name="文本框 882" descr="{&quot;isTemplate&quot;:true,&quot;type&quot;:&quot;text&quot;}"/>
          <p:cNvSpPr txBox="1"/>
          <p:nvPr/>
        </p:nvSpPr>
        <p:spPr>
          <a:xfrm>
            <a:off x="1466850" y="3533775"/>
            <a:ext cx="43529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批改人力成本下降，纠错过程可追溯，教学质量可量化，且单价远低于整套平台采购。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4" name="圆角矩形 883"/>
          <p:cNvSpPr/>
          <p:nvPr/>
        </p:nvSpPr>
        <p:spPr>
          <a:xfrm>
            <a:off x="6162675" y="2990850"/>
            <a:ext cx="5343525" cy="1352550"/>
          </a:xfrm>
          <a:prstGeom prst="roundRect">
            <a:avLst>
              <a:gd name="adj" fmla="val 11268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85" name="圆角矩形 884"/>
          <p:cNvSpPr/>
          <p:nvPr/>
        </p:nvSpPr>
        <p:spPr>
          <a:xfrm>
            <a:off x="6353175" y="34290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86" name="图片 88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552825"/>
            <a:ext cx="238125" cy="238125"/>
          </a:xfrm>
          <a:prstGeom prst="rect">
            <a:avLst/>
          </a:prstGeom>
        </p:spPr>
      </p:pic>
      <p:sp>
        <p:nvSpPr>
          <p:cNvPr id="887" name="文本框 886" descr="{&quot;isTemplate&quot;:true,&quot;type&quot;:&quot;text&quot;}"/>
          <p:cNvSpPr txBox="1"/>
          <p:nvPr/>
        </p:nvSpPr>
        <p:spPr>
          <a:xfrm>
            <a:off x="6962775" y="3228975"/>
            <a:ext cx="43529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如何交付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8" name="文本框 887" descr="{&quot;isTemplate&quot;:true,&quot;type&quot;:&quot;text&quot;}"/>
          <p:cNvSpPr txBox="1"/>
          <p:nvPr/>
        </p:nvSpPr>
        <p:spPr>
          <a:xfrm>
            <a:off x="6962775" y="3533775"/>
            <a:ext cx="43529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SaaS </a:t>
            </a: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在线使用，按课程配置服务包，按学期订阅，无需本地部署与专职运维。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9" name="圆角矩形 888"/>
          <p:cNvSpPr/>
          <p:nvPr/>
        </p:nvSpPr>
        <p:spPr>
          <a:xfrm>
            <a:off x="666750" y="4495800"/>
            <a:ext cx="3533775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890" name="圆角矩形 889"/>
          <p:cNvSpPr/>
          <p:nvPr/>
        </p:nvSpPr>
        <p:spPr>
          <a:xfrm>
            <a:off x="838200" y="4648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891" name="文本框 890" descr="{&quot;isTemplate&quot;:true,&quot;type&quot;:&quot;text&quot;}"/>
          <p:cNvSpPr txBox="1"/>
          <p:nvPr/>
        </p:nvSpPr>
        <p:spPr>
          <a:xfrm>
            <a:off x="952500" y="4714875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1</a:t>
            </a:r>
            <a:endParaRPr lang="en-US" sz="1275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92" name="文本框 891" descr="{&quot;isTemplate&quot;:true,&quot;type&quot;:&quot;text&quot;}"/>
          <p:cNvSpPr txBox="1"/>
          <p:nvPr/>
        </p:nvSpPr>
        <p:spPr>
          <a:xfrm>
            <a:off x="1257300" y="4695825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校内验证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3" name="文本框 892" descr="{&quot;isTemplate&quot;:true,&quot;type&quot;:&quot;text&quot;}"/>
          <p:cNvSpPr txBox="1"/>
          <p:nvPr/>
        </p:nvSpPr>
        <p:spPr>
          <a:xfrm>
            <a:off x="838200" y="5048250"/>
            <a:ext cx="3190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 1–8 </a:t>
            </a:r>
            <a:r>
              <a:rPr lang="zh-CN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1125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4" name="文本框 893" descr="{&quot;isTemplate&quot;:true,&quot;type&quot;:&quot;text&quot;}"/>
          <p:cNvSpPr txBox="1"/>
          <p:nvPr/>
        </p:nvSpPr>
        <p:spPr>
          <a:xfrm>
            <a:off x="838200" y="5295900"/>
            <a:ext cx="31908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门课程小规模试点，收集证据与反馈，验证纠错闭环是否真正跑通。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5" name="圆角矩形 894"/>
          <p:cNvSpPr/>
          <p:nvPr/>
        </p:nvSpPr>
        <p:spPr>
          <a:xfrm>
            <a:off x="4333875" y="4495800"/>
            <a:ext cx="3524250" cy="1943100"/>
          </a:xfrm>
          <a:prstGeom prst="roundRect">
            <a:avLst>
              <a:gd name="adj" fmla="val 7843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896" name="圆角矩形 895"/>
          <p:cNvSpPr/>
          <p:nvPr/>
        </p:nvSpPr>
        <p:spPr>
          <a:xfrm>
            <a:off x="4505325" y="4648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</p:spPr>
        <p:txBody>
          <a:bodyPr/>
          <a:p/>
        </p:txBody>
      </p:sp>
      <p:sp>
        <p:nvSpPr>
          <p:cNvPr id="897" name="文本框 896" descr="{&quot;isTemplate&quot;:true,&quot;type&quot;:&quot;text&quot;}"/>
          <p:cNvSpPr txBox="1"/>
          <p:nvPr/>
        </p:nvSpPr>
        <p:spPr>
          <a:xfrm>
            <a:off x="4619625" y="4714875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2</a:t>
            </a:r>
            <a:endParaRPr lang="en-US" sz="127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98" name="文本框 897" descr="{&quot;isTemplate&quot;:true,&quot;type&quot;:&quot;text&quot;}"/>
          <p:cNvSpPr txBox="1"/>
          <p:nvPr/>
        </p:nvSpPr>
        <p:spPr>
          <a:xfrm>
            <a:off x="4924425" y="4695825"/>
            <a:ext cx="1333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课程服务包订阅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9" name="文本框 898" descr="{&quot;isTemplate&quot;:true,&quot;type&quot;:&quot;text&quot;}"/>
          <p:cNvSpPr txBox="1"/>
          <p:nvPr/>
        </p:nvSpPr>
        <p:spPr>
          <a:xfrm>
            <a:off x="4505325" y="5048250"/>
            <a:ext cx="3181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1125" b="1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学期起</a:t>
            </a:r>
            <a:endParaRPr lang="zh-CN" sz="1125" b="1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" name="文本框 899" descr="{&quot;isTemplate&quot;:true,&quot;type&quot;:&quot;text&quot;}"/>
          <p:cNvSpPr txBox="1"/>
          <p:nvPr/>
        </p:nvSpPr>
        <p:spPr>
          <a:xfrm>
            <a:off x="4505325" y="5295900"/>
            <a:ext cx="31813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E8F5EE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200">
                <a:solidFill>
                  <a:srgbClr val="E8F5EE"/>
                </a:solidFill>
                <a:latin typeface="微软雅黑" panose="020B0503020204020204" charset="-122"/>
                <a:ea typeface="微软雅黑" panose="020B0503020204020204" charset="-122"/>
              </a:rPr>
              <a:t> 1,500 </a:t>
            </a:r>
            <a:r>
              <a:rPr lang="zh-CN" sz="1200">
                <a:solidFill>
                  <a:srgbClr val="E8F5EE"/>
                </a:solidFill>
                <a:latin typeface="微软雅黑" panose="020B0503020204020204" charset="-122"/>
                <a:ea typeface="微软雅黑" panose="020B0503020204020204" charset="-122"/>
              </a:rPr>
              <a:t>元</a:t>
            </a:r>
            <a:r>
              <a:rPr lang="en-US" sz="1200">
                <a:solidFill>
                  <a:srgbClr val="E8F5EE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E8F5EE"/>
                </a:solidFill>
                <a:latin typeface="微软雅黑" panose="020B0503020204020204" charset="-122"/>
                <a:ea typeface="微软雅黑" panose="020B0503020204020204" charset="-122"/>
              </a:rPr>
              <a:t>课程·学期收费，多课程与多学期可给折扣，形成稳定订阅。</a:t>
            </a:r>
            <a:endParaRPr lang="zh-CN" sz="1200">
              <a:solidFill>
                <a:srgbClr val="E8F5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1" name="圆角矩形 900"/>
          <p:cNvSpPr/>
          <p:nvPr/>
        </p:nvSpPr>
        <p:spPr>
          <a:xfrm>
            <a:off x="7991475" y="4495800"/>
            <a:ext cx="3533775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902" name="圆角矩形 901"/>
          <p:cNvSpPr/>
          <p:nvPr/>
        </p:nvSpPr>
        <p:spPr>
          <a:xfrm>
            <a:off x="8162925" y="4648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903" name="文本框 902" descr="{&quot;isTemplate&quot;:true,&quot;type&quot;:&quot;text&quot;}"/>
          <p:cNvSpPr txBox="1"/>
          <p:nvPr/>
        </p:nvSpPr>
        <p:spPr>
          <a:xfrm>
            <a:off x="8277225" y="4714875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3</a:t>
            </a:r>
            <a:endParaRPr lang="en-US" sz="1275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04" name="文本框 903" descr="{&quot;isTemplate&quot;:true,&quot;type&quot;:&quot;text&quot;}"/>
          <p:cNvSpPr txBox="1"/>
          <p:nvPr/>
        </p:nvSpPr>
        <p:spPr>
          <a:xfrm>
            <a:off x="8582025" y="4695825"/>
            <a:ext cx="1714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院系部署与跨校推广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5" name="文本框 904" descr="{&quot;isTemplate&quot;:true,&quot;type&quot;:&quot;text&quot;}"/>
          <p:cNvSpPr txBox="1"/>
          <p:nvPr/>
        </p:nvSpPr>
        <p:spPr>
          <a:xfrm>
            <a:off x="8162925" y="5048250"/>
            <a:ext cx="3190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规模化阶段</a:t>
            </a:r>
            <a:endParaRPr lang="zh-CN" sz="1125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6" name="文本框 905" descr="{&quot;isTemplate&quot;:true,&quot;type&quot;:&quot;text&quot;}"/>
          <p:cNvSpPr txBox="1"/>
          <p:nvPr/>
        </p:nvSpPr>
        <p:spPr>
          <a:xfrm>
            <a:off x="8162925" y="5295900"/>
            <a:ext cx="31908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按二级学院打包部署，向同类院校复制，摊薄适配与支持成本。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7" name="文本框 906" descr="{&quot;isTemplate&quot;:true,&quot;type&quot;:&quot;text&quot;}"/>
          <p:cNvSpPr txBox="1"/>
          <p:nvPr/>
        </p:nvSpPr>
        <p:spPr>
          <a:xfrm>
            <a:off x="666750" y="6515100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8" name="文本框 907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09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1" name="圆角矩形 40"/>
          <p:cNvSpPr/>
          <p:nvPr/>
        </p:nvSpPr>
        <p:spPr>
          <a:xfrm>
            <a:off x="10096500" y="4762500"/>
            <a:ext cx="3143250" cy="3143250"/>
          </a:xfrm>
          <a:prstGeom prst="roundRect">
            <a:avLst>
              <a:gd name="adj" fmla="val 50000"/>
            </a:avLst>
          </a:prstGeom>
          <a:solidFill>
            <a:srgbClr val="E6F5EC">
              <a:alpha val="60000"/>
            </a:srgbClr>
          </a:solidFill>
        </p:spPr>
        <p:txBody>
          <a:bodyPr/>
          <a:p/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876300" y="819150"/>
            <a:ext cx="87534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单课程账算得过来，最坏情景仍为正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876300" y="1238250"/>
            <a:ext cx="87534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成本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533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元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定价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1,500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元，三项敏感性压力测试全部为正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9782175" y="971550"/>
            <a:ext cx="1743075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9915525" y="1038225"/>
            <a:ext cx="1476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100 </a:t>
            </a: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× 10 </a:t>
            </a: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题</a:t>
            </a: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× 3 </a:t>
            </a: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66750" y="1485900"/>
            <a:ext cx="5715000" cy="24860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838200" y="1666875"/>
            <a:ext cx="1905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单课程单学期成本拆解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4905375" y="1638300"/>
            <a:ext cx="1304925" cy="285750"/>
          </a:xfrm>
          <a:prstGeom prst="roundRect">
            <a:avLst>
              <a:gd name="adj" fmla="val 26667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5019675" y="1685925"/>
            <a:ext cx="10763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合计</a:t>
            </a: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 533 </a:t>
            </a:r>
            <a:r>
              <a:rPr lang="zh-CN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2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838200" y="2143125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适配与部署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1847850" y="2143125"/>
            <a:ext cx="3771900" cy="171450"/>
          </a:xfrm>
          <a:prstGeom prst="roundRect">
            <a:avLst>
              <a:gd name="adj" fmla="val 50000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66" name="圆角矩形 65"/>
          <p:cNvSpPr/>
          <p:nvPr/>
        </p:nvSpPr>
        <p:spPr>
          <a:xfrm>
            <a:off x="1847850" y="2143125"/>
            <a:ext cx="1133475" cy="171450"/>
          </a:xfrm>
          <a:prstGeom prst="roundRect">
            <a:avLst>
              <a:gd name="adj" fmla="val 50000"/>
            </a:avLst>
          </a:prstGeom>
          <a:solidFill>
            <a:srgbClr val="12523A"/>
          </a:solidFill>
        </p:spPr>
        <p:txBody>
          <a:bodyPr/>
          <a:p/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5715000" y="2038350"/>
            <a:ext cx="495300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160</a:t>
            </a: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2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38200" y="2581275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服务器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1847850" y="2581275"/>
            <a:ext cx="3771900" cy="171450"/>
          </a:xfrm>
          <a:prstGeom prst="roundRect">
            <a:avLst>
              <a:gd name="adj" fmla="val 50000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70" name="圆角矩形 69"/>
          <p:cNvSpPr/>
          <p:nvPr/>
        </p:nvSpPr>
        <p:spPr>
          <a:xfrm>
            <a:off x="1847850" y="2581275"/>
            <a:ext cx="866775" cy="1714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5715000" y="2476500"/>
            <a:ext cx="495300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120</a:t>
            </a: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2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838200" y="3019425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技术支持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1847850" y="3019425"/>
            <a:ext cx="3771900" cy="171450"/>
          </a:xfrm>
          <a:prstGeom prst="roundRect">
            <a:avLst>
              <a:gd name="adj" fmla="val 50000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74" name="圆角矩形 73"/>
          <p:cNvSpPr/>
          <p:nvPr/>
        </p:nvSpPr>
        <p:spPr>
          <a:xfrm>
            <a:off x="1847850" y="3019425"/>
            <a:ext cx="866775" cy="1714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5715000" y="2914650"/>
            <a:ext cx="495300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120</a:t>
            </a: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2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838200" y="3362325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运维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1847850" y="3362325"/>
            <a:ext cx="3771900" cy="171450"/>
          </a:xfrm>
          <a:prstGeom prst="roundRect">
            <a:avLst>
              <a:gd name="adj" fmla="val 50000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78" name="圆角矩形 77"/>
          <p:cNvSpPr/>
          <p:nvPr/>
        </p:nvSpPr>
        <p:spPr>
          <a:xfrm>
            <a:off x="1847850" y="3362325"/>
            <a:ext cx="561975" cy="1714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5715000" y="3352800"/>
            <a:ext cx="495300" cy="1905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80</a:t>
            </a: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2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838200" y="3619500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与评测存储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1847850" y="3619500"/>
            <a:ext cx="3771900" cy="171450"/>
          </a:xfrm>
          <a:prstGeom prst="roundRect">
            <a:avLst>
              <a:gd name="adj" fmla="val 50000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82" name="圆角矩形 81"/>
          <p:cNvSpPr/>
          <p:nvPr/>
        </p:nvSpPr>
        <p:spPr>
          <a:xfrm>
            <a:off x="1847850" y="3619500"/>
            <a:ext cx="381000" cy="1714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5715000" y="3609975"/>
            <a:ext cx="495300" cy="1905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53</a:t>
            </a:r>
            <a:r>
              <a:rPr lang="en-US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2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2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666750" y="4124325"/>
            <a:ext cx="5715000" cy="23145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838200" y="4276725"/>
            <a:ext cx="5372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三情景敏感性测试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838200" y="4619625"/>
            <a:ext cx="5372100" cy="428625"/>
          </a:xfrm>
          <a:prstGeom prst="roundRect">
            <a:avLst>
              <a:gd name="adj" fmla="val 22222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971550" y="4743450"/>
            <a:ext cx="1381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价格减半（</a:t>
            </a:r>
            <a:r>
              <a:rPr lang="en-US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750 </a:t>
            </a: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元）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4867275" y="4724400"/>
            <a:ext cx="523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28.9%</a:t>
            </a:r>
            <a:endParaRPr lang="en-US" sz="15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5486400" y="4714875"/>
            <a:ext cx="590550" cy="238125"/>
          </a:xfrm>
          <a:prstGeom prst="roundRect">
            <a:avLst>
              <a:gd name="adj" fmla="val 28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5581650" y="4752975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仍为正</a:t>
            </a:r>
            <a:endParaRPr lang="zh-CN" sz="1050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838200" y="5133975"/>
            <a:ext cx="5372100" cy="428625"/>
          </a:xfrm>
          <a:prstGeom prst="roundRect">
            <a:avLst>
              <a:gd name="adj" fmla="val 22222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971550" y="5257800"/>
            <a:ext cx="8096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调用翻倍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4733925" y="5238750"/>
            <a:ext cx="523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62.3%</a:t>
            </a:r>
            <a:endParaRPr lang="en-US" sz="15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5353050" y="5229225"/>
            <a:ext cx="723900" cy="238125"/>
          </a:xfrm>
          <a:prstGeom prst="roundRect">
            <a:avLst>
              <a:gd name="adj" fmla="val 28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5448300" y="52673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影响很小</a:t>
            </a:r>
            <a:endParaRPr lang="zh-CN" sz="1050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838200" y="5648325"/>
            <a:ext cx="5372100" cy="428625"/>
          </a:xfrm>
          <a:prstGeom prst="roundRect">
            <a:avLst>
              <a:gd name="adj" fmla="val 22222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971550" y="577215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工时翻倍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4733925" y="5753100"/>
            <a:ext cx="523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40.5%</a:t>
            </a:r>
            <a:endParaRPr lang="en-US" sz="15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5353050" y="5743575"/>
            <a:ext cx="723900" cy="238125"/>
          </a:xfrm>
          <a:prstGeom prst="roundRect">
            <a:avLst>
              <a:gd name="adj" fmla="val 28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5448300" y="57816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仍可接受</a:t>
            </a:r>
            <a:endParaRPr lang="zh-CN" sz="1050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6096000"/>
            <a:ext cx="190500" cy="190500"/>
          </a:xfrm>
          <a:prstGeom prst="rect">
            <a:avLst/>
          </a:prstGeom>
        </p:spPr>
      </p:pic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104900" y="6105525"/>
            <a:ext cx="3105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贡献率</a:t>
            </a:r>
            <a:r>
              <a:rPr lang="en-US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贡献额</a:t>
            </a:r>
            <a:r>
              <a:rPr lang="en-US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÷ </a:t>
            </a:r>
            <a:r>
              <a:rPr lang="zh-CN" sz="112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定价，均为单课程单学期口径</a:t>
            </a:r>
            <a:endParaRPr lang="zh-CN" sz="112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6553200" y="1485900"/>
            <a:ext cx="4972050" cy="2076450"/>
          </a:xfrm>
          <a:prstGeom prst="roundRect">
            <a:avLst>
              <a:gd name="adj" fmla="val 8257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  <a:effectLst>
            <a:outerShdw blurRad="247650" dist="76200" dir="5400000">
              <a:srgbClr val="12523A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8524875" y="1495425"/>
            <a:ext cx="102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单课程贡献率</a:t>
            </a:r>
            <a:endParaRPr lang="zh-CN" sz="1350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7858125" y="1762125"/>
            <a:ext cx="2019300" cy="1104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64.5</a:t>
            </a:r>
            <a:endParaRPr lang="en-US" sz="72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9915525" y="1762125"/>
            <a:ext cx="304800" cy="1104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lang="en-US" sz="2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762750" y="2981325"/>
            <a:ext cx="1457325" cy="571500"/>
          </a:xfrm>
          <a:prstGeom prst="roundRect">
            <a:avLst>
              <a:gd name="adj" fmla="val 16667"/>
            </a:avLst>
          </a:pr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7362825" y="3067050"/>
            <a:ext cx="266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定价</a:t>
            </a:r>
            <a:endParaRPr lang="zh-CN" sz="1050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7096125" y="3257550"/>
            <a:ext cx="7905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1,500 </a:t>
            </a:r>
            <a:r>
              <a:rPr lang="zh-CN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8315325" y="2981325"/>
            <a:ext cx="1447800" cy="571500"/>
          </a:xfrm>
          <a:prstGeom prst="roundRect">
            <a:avLst>
              <a:gd name="adj" fmla="val 16667"/>
            </a:avLst>
          </a:pr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8905875" y="3067050"/>
            <a:ext cx="266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成本</a:t>
            </a:r>
            <a:endParaRPr lang="zh-CN" sz="1050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8743950" y="3257550"/>
            <a:ext cx="600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533 </a:t>
            </a:r>
            <a:r>
              <a:rPr lang="zh-CN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9858375" y="2981325"/>
            <a:ext cx="1457325" cy="571500"/>
          </a:xfrm>
          <a:prstGeom prst="roundRect">
            <a:avLst>
              <a:gd name="adj" fmla="val 16667"/>
            </a:avLst>
          </a:pr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10391775" y="3067050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贡献额</a:t>
            </a:r>
            <a:endParaRPr lang="zh-CN" sz="1050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10287000" y="3257550"/>
            <a:ext cx="600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967 </a:t>
            </a:r>
            <a:r>
              <a:rPr lang="zh-CN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6553200" y="3714750"/>
            <a:ext cx="4972050" cy="2724150"/>
          </a:xfrm>
          <a:prstGeom prst="roundRect">
            <a:avLst>
              <a:gd name="adj" fmla="val 6294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6743700" y="3886200"/>
            <a:ext cx="4591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价格量级对照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6743700" y="4219575"/>
            <a:ext cx="45910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877050" y="4333875"/>
            <a:ext cx="12287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本项目</a:t>
            </a:r>
            <a:r>
              <a:rPr lang="en-US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单课程包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10334625" y="4314825"/>
            <a:ext cx="866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1,500 </a:t>
            </a:r>
            <a:r>
              <a:rPr lang="zh-CN" sz="150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50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1" name="圆角矩形 120"/>
          <p:cNvSpPr/>
          <p:nvPr/>
        </p:nvSpPr>
        <p:spPr>
          <a:xfrm>
            <a:off x="6743700" y="4724400"/>
            <a:ext cx="45910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6877050" y="4838700"/>
            <a:ext cx="15430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PTA </a:t>
            </a: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单套（公开中标）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0334625" y="4819650"/>
            <a:ext cx="866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8,500 </a:t>
            </a:r>
            <a:r>
              <a:rPr lang="zh-CN" sz="15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5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4" name="圆角矩形 123"/>
          <p:cNvSpPr/>
          <p:nvPr/>
        </p:nvSpPr>
        <p:spPr>
          <a:xfrm>
            <a:off x="6743700" y="5229225"/>
            <a:ext cx="45910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6877050" y="5343525"/>
            <a:ext cx="1676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整校级平台（公开中标）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10125075" y="5324475"/>
            <a:ext cx="10763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760,000 </a:t>
            </a:r>
            <a:r>
              <a:rPr lang="zh-CN" sz="1500" b="1">
                <a:solidFill>
                  <a:srgbClr val="12523A"/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zh-CN" sz="1500" b="1">
              <a:solidFill>
                <a:srgbClr val="12523A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3700" y="6076950"/>
            <a:ext cx="190500" cy="190500"/>
          </a:xfrm>
          <a:prstGeom prst="rect">
            <a:avLst/>
          </a:prstGeom>
        </p:spPr>
      </p:pic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7010400" y="6086475"/>
            <a:ext cx="2533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年费约为整校级采购价的</a:t>
            </a: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1/50 – 1/250</a:t>
            </a:r>
            <a:endParaRPr lang="en-US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666750" y="6515100"/>
            <a:ext cx="5095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口径：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100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名学生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× 10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题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× 3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= 3,000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次评测，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40%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触发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AI = 1,200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次调用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10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 descr="&lt;Slide style={{ background: '#FFFFFF', padding: '36px 70px 24px 70px' }}&gt;&#10;&#10;    &lt;Box style={{ position: 'absolute', left: -110, bottom: -110, width: 320, height: 320, borderRadius: 160, background: '#E6F5EC', opacity: 0.55 }} /&gt;&#10;&#10;    {/* N 区 · 章节导航条（当前：04 团队规划） */}&#10;    &lt;Box style={{ position: 'relative', zIndex: 2, flexDirection: 'row', alignItems: 'center', justifyContent: 'space-between', height: 36 }}&gt;&#10;        &lt;Box style={{ flexDirection: 'row', alignItems: 'center', gap: 10 }}&gt;&#10;            &lt;Text style={{ fontSize: 14, color: '#12523A', fontFamily: 'Microsoft YaHei', fontWeight: 'bold' }}&gt;CodePilot Edu&lt;/Text&gt;&#10;            &lt;Box style={{ width: 1, height: 16, background: '#D3E9DC' }} /&gt;&#10;            &lt;Text style={{ fontSize: 14, color: '#6E857C', fontFamily: 'Microsoft YaHei' }}&gt;第十届中华职业教育创新创业大赛 · 本科组&lt;/Text&gt;&#10;        &lt;/Box&gt;&#10;        &lt;Box style={{ flexDirection: 'row', alignItems: 'center', gap: 8 }}&gt;&#10;            {[['01', '项目背景'], ['02', '技术创新'], ['03', '商业路径'], ['04', '团队规划'], ['05', '教育价值']].map((it, i) =&gt; (&#10;                &lt;Box key={i} style={{ background: i === 3 ? 'linear-gradient(120deg, #12523A 0%, #2FA36B 100%)' : '#E6F5EC', borderRadius: 8, padding: '7px 11px' }}&gt;&#10;                    &lt;Text style={{ fontSize: 14, color: i === 3 ? '#FFFFFF' : '#6E857C', fontFamily: 'Microsoft YaHei', fontWeight: 'bold' }}&gt;{it[0]} {it[1]}&lt;/Text&gt;&#10;                &lt;/Box&gt;&#10;            ))}&#10;        &lt;/Box&gt;&#10;    &lt;/Box&gt;&#10;&#10;    {/* A 区 · 标题块 */}&#10;    &lt;Box style={{ position: 'relative', zIndex: 2, flexDirection: 'row', alignItems: 'center', gap: 16, height: 76, marginTop: 8 }}&gt;&#10;        &lt;Box style={{ width: 6, height: 48, borderRadius: 3, background: '#2FA36B' }} /&gt;&#10;        &lt;Box style={{ flex: 1 }}&gt;&#10;            &lt;Text style={{ fontSize: 34, fontWeight: 'bold', color: '#12523A', fontFamily: 'Microsoft YaHei' }}&gt;五层架构清晰，安全边界先定义好&lt;/Text&gt;&#10;            &lt;Text style={{ fontSize: 17, color: '#6E857C', fontFamily: 'Microsoft YaHei', marginTop: 3 }}&gt;受限评测沙箱是技术底座，六项限制保证学生代码可控、可隔离、可追溯&lt;/Text&gt;&#10;        &lt;/Box&gt;&#10;        &lt;Box style={{ background: '#E6F5EC', padding: '7px 14px', borderRadius: 10 }}&gt;&#10;            &lt;Text style={{ fontSize: 15, color: '#12523A', fontFamily: 'Microsoft YaHei', fontWeight: 'bold' }}&gt;落地条件&lt;/Text&gt;&#10;        &lt;/Box&gt;&#10;    &lt;/Box&gt;&#10;&#10;    {/* B 区 · 内容 */}&#10;    &lt;Box style={{ position: 'relative', zIndex: 2, height: 520, flexDirection: 'row', gap: 18 }}&gt;&#10;&#10;        {/* 左 · 五层架构 */}&#10;        &lt;Box style={{ width: 620, gap: 11 }}&gt;&#10;            {[&#10;                ['desktop', '前端交互层', 'Vue 3', '代码提交、分层提示展示、纠错过程回放'],&#10;                ['server', '服务层', 'FastAPI', '评测调度、证据抽取、提示层级编排'],&#10;                ['database', '数据层', 'SQLite（初期）', '提交记录、错因标签、班级学情数据'],&#10;                ['terminal', '评测层', 'GCC 受限沙箱', '编译运行、用例比对、输出差异采集'],&#10;                ['robot', '模型层', '兼容模型 API', '错因诊断生成、分层提示文案生成'],&#10;            ].map((it, i) =&gt; (&#10;                &lt;Box key={i} style={{ flex: 1, background: i === 3 ? '#E6F5EC' : '#FFFFFF', border: i === 3 ? 'none' : '1px solid #D3E9DC', borderRadius: 14, padding: '12px 18px', flexDirection: 'row', alignItems: 'center', gap: 16 }}&gt;&#10;                    &lt;Box style={{ width: 46, height: 46, borderRadius: 12, background: i === 3 ? '#FFFFFF' : '#E6F5EC', justifyContent: 'center', alignItems: 'center' }}&gt;&#10;                        &lt;FAIcon name={it[0]} style={{ fill: '#2FA36B', width: 23, height: 23 }} /&gt;&#10;                    &lt;/Box&gt;&#10;                    &lt;Box style={{ width: 150 }}&gt;&#10;                        &lt;Text style={{ fontSize: 19, color: '#12523A', fontFamily: 'Microsoft YaHei', fontWeight: 'bold' }}&gt;{it[1]}&lt;/Text&gt;&#10;                        &lt;Text style={{ fontSize: 15, color: '#2FA36B', fontFamily: 'Consolas', marginTop: 2 }}&gt;{it[2]}&lt;/Text&gt;&#10;                    &lt;/Box&gt;&#10;                    &lt;Box style={{ flex: 1, borderLeft: '1px solid #D3E9DC', paddingLeft: 16 }}&gt;&#10;                        &lt;Text style={{ fontSize: 15, color: '#22312B', fontFamily: 'Microsoft YaHei', lineHeight: 1.5 }}&gt;{it[3]}&lt;/Text&gt;&#10;                    &lt;/Box&gt;&#10;                &lt;/Box&gt;&#10;            ))}&#10;        &lt;/Box&gt;&#10;&#10;        {/* 右 · 六项安全边界 */}&#10;        &lt;Box style={{ flex: 1, background: '#FFFFFF', border: '1px solid #D3E9DC', borderRadius: 18, padding: '16px 18px', boxShadow: '0 6px 22px rgba(18,82,58,0.08)' }}&gt;&#10;            &lt;Box style={{ flexDirection: 'row', alignItems: 'center', justifyContent: 'space-between' }}&gt;&#10;                &lt;Box style={{ flexDirection: 'row', alignItems: 'center', gap: 10 }}&gt;&#10;                    &lt;FAIcon name='shield-alt' style={{ fill: '#2FA36B', width: 26, height: 26 }} /&gt;&#10;                    &lt;Text style={{ fontSize: 20, color: '#12523A', fontFamily: 'Microsoft YaHei', fontWeight: 'bold' }}&gt;受限评测 · 六项安全边界&lt;/Text&gt;&#10;                &lt;/Box&gt;&#10;                &lt;Box style={{ background: '#E6F5EC', borderRadius: 8, padding: '6px 12px' }}&gt;&#10;                    &lt;Text style={{ fontSize: 15, color: '#12523A', fontFamily: 'Microsoft YaHei', fontWeight: 'bold' }}&gt;全部已定义&lt;/Text&gt;&#10;                &lt;/Box&gt;&#10;            &lt;/Box&gt;&#10;            &lt;Box style={{ marginTop: 14, flexDirection: 'row', flexWrap: 'wrap', gap: 10, flex: 1 }}&gt;&#10;                {[&#10;                    ['clock', '超时限制', '单次运行设上限'],&#10;                    ['microchip', 'CPU 限制', '占用超阈值即终止'],&#10;                    ['memory', '内存限制', '防止内存耗尽'],&#10;                    ['tasks', '进程限制', '禁止创建子进程'],&#10;                    ['folder', '文件限制', '仅可访问临时目录'],&#10;                    ['network-wired', '网络限制', '运行期完全断网'],&#10;                ].map((it, i) =&gt; (&#10;                    &lt;Box key={i} style={{ width: '47.5%', background: '#F5FBF7', borderRadius: 12, padding: '14px 12px', alignItems: 'center', gap: 6 }}&gt;&#10;                        &lt;FAIcon name={it[0]} style={{ fill: '#2FA36B', width: 26, height: 26 }} /&gt;&#10;                        &lt;Text style={{ fontSize: 16, color: '#12523A', fontFamily: 'Microsoft YaHei', fontWeight: 'bold' }}&gt;{it[1]}&lt;/Text&gt;&#10;                        &lt;Text style={{ fontSize: 14, color: '#6E857C', fontFamily: 'Microsoft YaHei', textAlign: 'center' }}&gt;{it[2]}&lt;/Text&gt;&#10;                    &lt;/Box&gt;&#10;                ))}&#10;            &lt;/Box&gt;&#10;            &lt;Box style={{ marginTop: 'auto', background: '#E6F5EC', borderRadius: 12, padding: '12px 14px' }}&gt;&#10;                &lt;Text style={{ fontSize: 15, color: '#12523A', fontFamily: 'Microsoft YaHei', fontWeight: 'bold' }}&gt;学生代码在隔离环境中运行，不接触主机资源与网络&lt;/Text&gt;&#10;            &lt;/Box&gt;&#10;        &lt;/Box&gt;&#10;    &lt;/Box&gt;&#10;&#10;    {/* C 区 · 页脚 */}&#10;    &lt;Box style={{ position: 'relative', zIndex: 2, flexDirection: 'row', justifyContent: 'space-between', alignItems: 'center', marginTop: 8 }}&gt;&#10;        &lt;Text style={{ fontSize: 14, color: '#6E857C', fontFamily: 'Microsoft YaHei' }}&gt;CodePilot Edu · 广西职业师范学院 · ZERO 团队&lt;/Text&gt;&#10;        &lt;Text style={{ fontSize: 14, color: '#6E857C', fontFamily: 'Microsoft YaHei' }}&gt;11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3" name="圆角矩形 132"/>
          <p:cNvSpPr/>
          <p:nvPr/>
        </p:nvSpPr>
        <p:spPr>
          <a:xfrm>
            <a:off x="-1047750" y="485775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E6F5EC">
              <a:alpha val="55000"/>
            </a:srgbClr>
          </a:solidFill>
        </p:spPr>
        <p:txBody>
          <a:bodyPr/>
          <a:p/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圆角矩形 142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876300" y="819150"/>
            <a:ext cx="96583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五层架构清晰，安全边界先定义好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876300" y="1238250"/>
            <a:ext cx="96583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受限评测沙箱是技术底座，六项限制保证学生代码可控、可隔离、可追溯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圆角矩形 149"/>
          <p:cNvSpPr/>
          <p:nvPr/>
        </p:nvSpPr>
        <p:spPr>
          <a:xfrm>
            <a:off x="10687050" y="971550"/>
            <a:ext cx="838200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10820400" y="10382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落地条件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666750" y="1485900"/>
            <a:ext cx="5905500" cy="904875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153" name="圆角矩形 152"/>
          <p:cNvSpPr/>
          <p:nvPr/>
        </p:nvSpPr>
        <p:spPr>
          <a:xfrm>
            <a:off x="838200" y="17240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6F5EC"/>
          </a:solidFill>
        </p:spPr>
        <p:txBody>
          <a:bodyPr/>
          <a:p/>
        </p:txBody>
      </p:sp>
      <p:pic>
        <p:nvPicPr>
          <p:cNvPr id="154" name="图片 15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38325"/>
            <a:ext cx="219075" cy="219075"/>
          </a:xfrm>
          <a:prstGeom prst="rect">
            <a:avLst/>
          </a:prstGeom>
        </p:spPr>
      </p:pic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428750" y="1733550"/>
            <a:ext cx="1428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前端交互层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1428750" y="1971675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Vue 3</a:t>
            </a:r>
            <a:endParaRPr lang="en-US" sz="1125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7" name="任意多边形 156"/>
          <p:cNvSpPr/>
          <p:nvPr/>
        </p:nvSpPr>
        <p:spPr>
          <a:xfrm>
            <a:off x="3009900" y="1809750"/>
            <a:ext cx="3400425" cy="257175"/>
          </a:xfrm>
          <a:custGeom>
            <a:avLst/>
            <a:gdLst/>
            <a:ahLst/>
            <a:cxnLst/>
            <a:pathLst>
              <a:path w="357" h="27">
                <a:moveTo>
                  <a:pt x="0" y="0"/>
                </a:moveTo>
                <a:lnTo>
                  <a:pt x="1" y="0"/>
                </a:lnTo>
                <a:lnTo>
                  <a:pt x="1" y="27"/>
                </a:lnTo>
                <a:lnTo>
                  <a:pt x="0" y="27"/>
                </a:lnTo>
                <a:close/>
              </a:path>
            </a:pathLst>
          </a:custGeom>
          <a:solidFill>
            <a:srgbClr val="D3E9DC"/>
          </a:solidFill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3171825" y="1809750"/>
            <a:ext cx="3228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代码提交、分层提示展示、纠错过程回放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666750" y="2495550"/>
            <a:ext cx="5905500" cy="904875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160" name="圆角矩形 159"/>
          <p:cNvSpPr/>
          <p:nvPr/>
        </p:nvSpPr>
        <p:spPr>
          <a:xfrm>
            <a:off x="838200" y="27336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6F5EC"/>
          </a:solidFill>
        </p:spPr>
        <p:txBody>
          <a:bodyPr/>
          <a:p/>
        </p:txBody>
      </p:sp>
      <p:pic>
        <p:nvPicPr>
          <p:cNvPr id="161" name="图片 16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847975"/>
            <a:ext cx="219075" cy="219075"/>
          </a:xfrm>
          <a:prstGeom prst="rect">
            <a:avLst/>
          </a:prstGeom>
        </p:spPr>
      </p:pic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1428750" y="2743200"/>
            <a:ext cx="1428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服务层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1428750" y="2981325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FastAPI</a:t>
            </a:r>
            <a:endParaRPr lang="en-US" sz="1125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任意多边形 163"/>
          <p:cNvSpPr/>
          <p:nvPr/>
        </p:nvSpPr>
        <p:spPr>
          <a:xfrm>
            <a:off x="3009900" y="2819400"/>
            <a:ext cx="3400425" cy="257175"/>
          </a:xfrm>
          <a:custGeom>
            <a:avLst/>
            <a:gdLst/>
            <a:ahLst/>
            <a:cxnLst/>
            <a:pathLst>
              <a:path w="357" h="27">
                <a:moveTo>
                  <a:pt x="0" y="0"/>
                </a:moveTo>
                <a:lnTo>
                  <a:pt x="1" y="0"/>
                </a:lnTo>
                <a:lnTo>
                  <a:pt x="1" y="27"/>
                </a:lnTo>
                <a:lnTo>
                  <a:pt x="0" y="27"/>
                </a:lnTo>
                <a:close/>
              </a:path>
            </a:pathLst>
          </a:custGeom>
          <a:solidFill>
            <a:srgbClr val="D3E9DC"/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3171825" y="2819400"/>
            <a:ext cx="3228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评测调度、证据抽取、提示层级编排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圆角矩形 165"/>
          <p:cNvSpPr/>
          <p:nvPr/>
        </p:nvSpPr>
        <p:spPr>
          <a:xfrm>
            <a:off x="666750" y="3505200"/>
            <a:ext cx="59055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167" name="圆角矩形 166"/>
          <p:cNvSpPr/>
          <p:nvPr/>
        </p:nvSpPr>
        <p:spPr>
          <a:xfrm>
            <a:off x="838200" y="37433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6F5EC"/>
          </a:solidFill>
        </p:spPr>
        <p:txBody>
          <a:bodyPr/>
          <a:p/>
        </p:txBody>
      </p:sp>
      <p:pic>
        <p:nvPicPr>
          <p:cNvPr id="168" name="图片 16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857625"/>
            <a:ext cx="219075" cy="219075"/>
          </a:xfrm>
          <a:prstGeom prst="rect">
            <a:avLst/>
          </a:prstGeom>
        </p:spPr>
      </p:pic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1428750" y="3762375"/>
            <a:ext cx="1428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1428750" y="400050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SQLite</a:t>
            </a:r>
            <a:r>
              <a:rPr lang="zh-CN" sz="1125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（初期）</a:t>
            </a:r>
            <a:endParaRPr lang="zh-CN" sz="1125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1" name="任意多边形 170"/>
          <p:cNvSpPr/>
          <p:nvPr/>
        </p:nvSpPr>
        <p:spPr>
          <a:xfrm>
            <a:off x="3009900" y="3838575"/>
            <a:ext cx="3400425" cy="257175"/>
          </a:xfrm>
          <a:custGeom>
            <a:avLst/>
            <a:gdLst/>
            <a:ahLst/>
            <a:cxnLst/>
            <a:pathLst>
              <a:path w="357" h="27">
                <a:moveTo>
                  <a:pt x="0" y="0"/>
                </a:moveTo>
                <a:lnTo>
                  <a:pt x="1" y="0"/>
                </a:lnTo>
                <a:lnTo>
                  <a:pt x="1" y="27"/>
                </a:lnTo>
                <a:lnTo>
                  <a:pt x="0" y="27"/>
                </a:lnTo>
                <a:close/>
              </a:path>
            </a:pathLst>
          </a:custGeom>
          <a:solidFill>
            <a:srgbClr val="D3E9DC"/>
          </a:solidFill>
        </p:spPr>
        <p:txBody>
          <a:bodyPr/>
          <a:p/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3171825" y="3838575"/>
            <a:ext cx="3228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提交记录、错因标签、班级学情数据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圆角矩形 172"/>
          <p:cNvSpPr/>
          <p:nvPr/>
        </p:nvSpPr>
        <p:spPr>
          <a:xfrm>
            <a:off x="666750" y="4524375"/>
            <a:ext cx="5905500" cy="904875"/>
          </a:xfrm>
          <a:prstGeom prst="roundRect">
            <a:avLst>
              <a:gd name="adj" fmla="val 14737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174" name="圆角矩形 173"/>
          <p:cNvSpPr/>
          <p:nvPr/>
        </p:nvSpPr>
        <p:spPr>
          <a:xfrm>
            <a:off x="838200" y="47625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75" name="图片 1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876800"/>
            <a:ext cx="219075" cy="219075"/>
          </a:xfrm>
          <a:prstGeom prst="rect">
            <a:avLst/>
          </a:prstGeom>
        </p:spPr>
      </p:pic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428750" y="4772025"/>
            <a:ext cx="1428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评测层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1428750" y="501015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GCC </a:t>
            </a:r>
            <a:r>
              <a:rPr lang="zh-CN" sz="1125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受限沙箱</a:t>
            </a:r>
            <a:endParaRPr lang="zh-CN" sz="1125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8" name="任意多边形 177"/>
          <p:cNvSpPr/>
          <p:nvPr/>
        </p:nvSpPr>
        <p:spPr>
          <a:xfrm>
            <a:off x="3009900" y="4848225"/>
            <a:ext cx="3400425" cy="257175"/>
          </a:xfrm>
          <a:custGeom>
            <a:avLst/>
            <a:gdLst/>
            <a:ahLst/>
            <a:cxnLst/>
            <a:pathLst>
              <a:path w="357" h="27">
                <a:moveTo>
                  <a:pt x="0" y="0"/>
                </a:moveTo>
                <a:lnTo>
                  <a:pt x="1" y="0"/>
                </a:lnTo>
                <a:lnTo>
                  <a:pt x="1" y="27"/>
                </a:lnTo>
                <a:lnTo>
                  <a:pt x="0" y="27"/>
                </a:lnTo>
                <a:close/>
              </a:path>
            </a:pathLst>
          </a:custGeom>
          <a:solidFill>
            <a:srgbClr val="D3E9DC"/>
          </a:soli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3171825" y="4848225"/>
            <a:ext cx="3228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编译运行、用例比对、输出差异采集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666750" y="5534025"/>
            <a:ext cx="5905500" cy="904875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181" name="圆角矩形 180"/>
          <p:cNvSpPr/>
          <p:nvPr/>
        </p:nvSpPr>
        <p:spPr>
          <a:xfrm>
            <a:off x="838200" y="5772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6F5EC"/>
          </a:solidFill>
        </p:spPr>
        <p:txBody>
          <a:bodyPr/>
          <a:p/>
        </p:txBody>
      </p:sp>
      <p:pic>
        <p:nvPicPr>
          <p:cNvPr id="182" name="图片 18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886450"/>
            <a:ext cx="219075" cy="219075"/>
          </a:xfrm>
          <a:prstGeom prst="rect">
            <a:avLst/>
          </a:prstGeom>
        </p:spPr>
      </p:pic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28750" y="5781675"/>
            <a:ext cx="1428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模型层</a:t>
            </a:r>
            <a:endParaRPr lang="zh-CN" sz="14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1428750" y="601980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兼容模型</a:t>
            </a:r>
            <a:r>
              <a:rPr lang="en-US" sz="1125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 API</a:t>
            </a:r>
            <a:endParaRPr lang="en-US" sz="1125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5" name="任意多边形 184"/>
          <p:cNvSpPr/>
          <p:nvPr/>
        </p:nvSpPr>
        <p:spPr>
          <a:xfrm>
            <a:off x="3009900" y="5857875"/>
            <a:ext cx="3400425" cy="257175"/>
          </a:xfrm>
          <a:custGeom>
            <a:avLst/>
            <a:gdLst/>
            <a:ahLst/>
            <a:cxnLst/>
            <a:pathLst>
              <a:path w="357" h="27">
                <a:moveTo>
                  <a:pt x="0" y="0"/>
                </a:moveTo>
                <a:lnTo>
                  <a:pt x="1" y="0"/>
                </a:lnTo>
                <a:lnTo>
                  <a:pt x="1" y="27"/>
                </a:lnTo>
                <a:lnTo>
                  <a:pt x="0" y="27"/>
                </a:lnTo>
                <a:close/>
              </a:path>
            </a:pathLst>
          </a:custGeom>
          <a:solidFill>
            <a:srgbClr val="D3E9DC"/>
          </a:solidFill>
        </p:spPr>
        <p:txBody>
          <a:bodyPr/>
          <a:p/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3171825" y="5857875"/>
            <a:ext cx="3228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错因诊断生成、分层提示文案生成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圆角矩形 186"/>
          <p:cNvSpPr/>
          <p:nvPr/>
        </p:nvSpPr>
        <p:spPr>
          <a:xfrm>
            <a:off x="6743700" y="1485900"/>
            <a:ext cx="4781550" cy="4953000"/>
          </a:xfrm>
          <a:prstGeom prst="roundRect">
            <a:avLst>
              <a:gd name="adj" fmla="val 3586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88" name="图片 18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15150" y="1657350"/>
            <a:ext cx="247650" cy="247650"/>
          </a:xfrm>
          <a:prstGeom prst="rect">
            <a:avLst/>
          </a:prstGeom>
        </p:spPr>
      </p:pic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7258050" y="1666875"/>
            <a:ext cx="21050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受限评测</a:t>
            </a:r>
            <a:r>
              <a:rPr lang="en-US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六项安全边界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圆角矩形 189"/>
          <p:cNvSpPr/>
          <p:nvPr/>
        </p:nvSpPr>
        <p:spPr>
          <a:xfrm>
            <a:off x="10410825" y="1638300"/>
            <a:ext cx="942975" cy="285750"/>
          </a:xfrm>
          <a:prstGeom prst="roundRect">
            <a:avLst>
              <a:gd name="adj" fmla="val 26667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10525125" y="1695450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全部已定义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6915150" y="2057400"/>
            <a:ext cx="2105025" cy="1209675"/>
          </a:xfrm>
          <a:prstGeom prst="roundRect">
            <a:avLst>
              <a:gd name="adj" fmla="val 9449"/>
            </a:avLst>
          </a:prstGeom>
          <a:solidFill>
            <a:srgbClr val="F5FBF7"/>
          </a:solidFill>
        </p:spPr>
        <p:txBody>
          <a:bodyPr/>
          <a:p/>
        </p:txBody>
      </p:sp>
      <p:pic>
        <p:nvPicPr>
          <p:cNvPr id="193" name="图片 192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48600" y="2190750"/>
            <a:ext cx="247650" cy="247650"/>
          </a:xfrm>
          <a:prstGeom prst="rect">
            <a:avLst/>
          </a:prstGeom>
        </p:spPr>
      </p:pic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7667625" y="249555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超时限制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7505700" y="2743200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单次运行设上限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圆角矩形 195"/>
          <p:cNvSpPr/>
          <p:nvPr/>
        </p:nvSpPr>
        <p:spPr>
          <a:xfrm>
            <a:off x="9115425" y="2057400"/>
            <a:ext cx="2114550" cy="1209675"/>
          </a:xfrm>
          <a:prstGeom prst="roundRect">
            <a:avLst>
              <a:gd name="adj" fmla="val 9449"/>
            </a:avLst>
          </a:prstGeom>
          <a:solidFill>
            <a:srgbClr val="F5FBF7"/>
          </a:solidFill>
        </p:spPr>
        <p:txBody>
          <a:bodyPr/>
          <a:p/>
        </p:txBody>
      </p:sp>
      <p:pic>
        <p:nvPicPr>
          <p:cNvPr id="197" name="图片 196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48875" y="2190750"/>
            <a:ext cx="247650" cy="247650"/>
          </a:xfrm>
          <a:prstGeom prst="rect">
            <a:avLst/>
          </a:prstGeom>
        </p:spPr>
      </p:pic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839325" y="2495550"/>
            <a:ext cx="676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CPU </a:t>
            </a: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限制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639300" y="27432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占用超阈值即终止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/>
        </p:nvSpPr>
        <p:spPr>
          <a:xfrm>
            <a:off x="6915150" y="3362325"/>
            <a:ext cx="2105025" cy="1219200"/>
          </a:xfrm>
          <a:prstGeom prst="roundRect">
            <a:avLst>
              <a:gd name="adj" fmla="val 9375"/>
            </a:avLst>
          </a:prstGeom>
          <a:solidFill>
            <a:srgbClr val="F5FBF7"/>
          </a:solidFill>
        </p:spPr>
        <p:txBody>
          <a:bodyPr/>
          <a:p/>
        </p:txBody>
      </p:sp>
      <p:pic>
        <p:nvPicPr>
          <p:cNvPr id="201" name="图片 200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48600" y="3495675"/>
            <a:ext cx="247650" cy="247650"/>
          </a:xfrm>
          <a:prstGeom prst="rect">
            <a:avLst/>
          </a:prstGeom>
        </p:spPr>
      </p:pic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7667625" y="380047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内存限制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7572375" y="40481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防止内存耗尽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圆角矩形 203"/>
          <p:cNvSpPr/>
          <p:nvPr/>
        </p:nvSpPr>
        <p:spPr>
          <a:xfrm>
            <a:off x="9115425" y="3362325"/>
            <a:ext cx="2114550" cy="1219200"/>
          </a:xfrm>
          <a:prstGeom prst="roundRect">
            <a:avLst>
              <a:gd name="adj" fmla="val 9375"/>
            </a:avLst>
          </a:prstGeom>
          <a:solidFill>
            <a:srgbClr val="F5FBF7"/>
          </a:solidFill>
        </p:spPr>
        <p:txBody>
          <a:bodyPr/>
          <a:p/>
        </p:txBody>
      </p:sp>
      <p:pic>
        <p:nvPicPr>
          <p:cNvPr id="205" name="图片 204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048875" y="3495675"/>
            <a:ext cx="247650" cy="247650"/>
          </a:xfrm>
          <a:prstGeom prst="rect">
            <a:avLst/>
          </a:prstGeom>
        </p:spPr>
      </p:pic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9867900" y="380047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进程限制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9705975" y="4048125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禁止创建子进程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6915150" y="4676775"/>
            <a:ext cx="2105025" cy="1209675"/>
          </a:xfrm>
          <a:prstGeom prst="roundRect">
            <a:avLst>
              <a:gd name="adj" fmla="val 9449"/>
            </a:avLst>
          </a:prstGeom>
          <a:solidFill>
            <a:srgbClr val="F5FBF7"/>
          </a:solidFill>
        </p:spPr>
        <p:txBody>
          <a:bodyPr/>
          <a:p/>
        </p:txBody>
      </p:sp>
      <p:pic>
        <p:nvPicPr>
          <p:cNvPr id="209" name="图片 208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848600" y="4810125"/>
            <a:ext cx="247650" cy="247650"/>
          </a:xfrm>
          <a:prstGeom prst="rect">
            <a:avLst/>
          </a:prstGeom>
        </p:spPr>
      </p:pic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7667625" y="511492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文件限制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7439025" y="5362575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仅可访问临时目录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圆角矩形 211"/>
          <p:cNvSpPr/>
          <p:nvPr/>
        </p:nvSpPr>
        <p:spPr>
          <a:xfrm>
            <a:off x="9115425" y="4676775"/>
            <a:ext cx="2114550" cy="1209675"/>
          </a:xfrm>
          <a:prstGeom prst="roundRect">
            <a:avLst>
              <a:gd name="adj" fmla="val 9449"/>
            </a:avLst>
          </a:prstGeom>
          <a:solidFill>
            <a:srgbClr val="F5FBF7"/>
          </a:solidFill>
        </p:spPr>
        <p:txBody>
          <a:bodyPr/>
          <a:p/>
        </p:txBody>
      </p:sp>
      <p:pic>
        <p:nvPicPr>
          <p:cNvPr id="213" name="图片 212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048875" y="4810125"/>
            <a:ext cx="247650" cy="247650"/>
          </a:xfrm>
          <a:prstGeom prst="rect">
            <a:avLst/>
          </a:prstGeom>
        </p:spPr>
      </p:pic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867900" y="511492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网络限制</a:t>
            </a:r>
            <a:endParaRPr lang="zh-CN" sz="12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9705975" y="5362575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运行期完全断网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圆角矩形 215"/>
          <p:cNvSpPr/>
          <p:nvPr/>
        </p:nvSpPr>
        <p:spPr>
          <a:xfrm>
            <a:off x="6915150" y="5886450"/>
            <a:ext cx="4438650" cy="400050"/>
          </a:xfrm>
          <a:prstGeom prst="roundRect">
            <a:avLst>
              <a:gd name="adj" fmla="val 28571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7048500" y="6000750"/>
            <a:ext cx="4171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学生代码在隔离环境中运行，不接触主机资源与网络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666750" y="6515100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11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" descr="&lt;Slide style={{ background: '#FFFFFF', padding: '36px 70px 24px 70px' }}&gt;&#10;&#10;    &lt;Box style={{ position: 'absolute', right: -110, top: 150, width: 320, height: 320, borderRadius: 160, background: '#E6F5EC', opacity: 0.55 }} /&gt;&#10;&#10;    {/* N 区 · 章节导航条（当前：04 团队规划） */}&#10;    &lt;Box style={{ position: 'relative', zIndex: 2, flexDirection: 'row', alignItems: 'center', justifyContent: 'space-between', height: 36 }}&gt;&#10;        &lt;Box style={{ flexDirection: 'row', alignItems: 'center', gap: 10 }}&gt;&#10;            &lt;Text style={{ fontSize: 14, color: '#12523A', fontFamily: 'Microsoft YaHei', fontWeight: 'bold' }}&gt;CodePilot Edu&lt;/Text&gt;&#10;            &lt;Box style={{ width: 1, height: 16, background: '#D3E9DC' }} /&gt;&#10;            &lt;Text style={{ fontSize: 14, color: '#6E857C', fontFamily: 'Microsoft YaHei' }}&gt;第十届中华职业教育创新创业大赛 · 本科组&lt;/Text&gt;&#10;        &lt;/Box&gt;&#10;        &lt;Box style={{ flexDirection: 'row', alignItems: 'center', gap: 8 }}&gt;&#10;            {[['01', '项目背景'], ['02', '技术创新'], ['03', '商业路径'], ['04', '团队规划'], ['05', '教育价值']].map((it, i) =&gt; (&#10;                &lt;Box key={i} style={{ background: i === 3 ? 'linear-gradient(120deg, #12523A 0%, #2FA36B 100%)' : '#E6F5EC', borderRadius: 8, padding: '7px 11px' }}&gt;&#10;                    &lt;Text style={{ fontSize: 14, color: i === 3 ? '#FFFFFF' : '#6E857C', fontFamily: 'Microsoft YaHei', fontWeight: 'bold' }}&gt;{it[0]} {it[1]}&lt;/Text&gt;&#10;                &lt;/Box&gt;&#10;            ))}&#10;        &lt;/Box&gt;&#10;    &lt;/Box&gt;&#10;&#10;    {/* A 区 · 标题块 */}&#10;    &lt;Box style={{ position: 'relative', zIndex: 2, flexDirection: 'row', alignItems: 'center', gap: 16, height: 76, marginTop: 8 }}&gt;&#10;        &lt;Box style={{ width: 6, height: 48, borderRadius: 3, background: '#2FA36B' }} /&gt;&#10;        &lt;Box style={{ flex: 1 }}&gt;&#10;            &lt;Text style={{ fontSize: 34, fontWeight: 'bold', color: '#12523A', fontFamily: 'Microsoft YaHei' }}&gt;4 人分工明确，8 周里程碑可查&lt;/Text&gt;&#10;            &lt;Text style={{ fontSize: 17, color: '#6E857C', fontFamily: 'Microsoft YaHei', marginTop: 3 }}&gt;指导教师 1–2 名待确认 · 团队 4 人，符合 3–5 人参赛要求&lt;/Text&gt;&#10;        &lt;/Box&gt;&#10;        &lt;Box style={{ background: '#E6F5EC', padding: '7px 14px', borderRadius: 10 }}&gt;&#10;            &lt;Text style={{ fontSize: 15, color: '#12523A', fontFamily: 'Microsoft YaHei', fontWeight: 'bold' }}&gt;团队 20 分&lt;/Text&gt;&#10;        &lt;/Box&gt;&#10;    &lt;/Box&gt;&#10;&#10;    {/* B 区 · 内容 */}&#10;    &lt;Box style={{ position: 'relative', zIndex: 2, height: 520, flexDirection: 'column', gap: 16 }}&gt;&#10;&#10;        {/* 成员卡 */}&#10;        &lt;Box style={{ flexDirection: 'row', gap: 16, height: 250 }}&gt;&#10;            {[&#10;                ['叶兴楠', '负责人 · 统筹与答辩', '软件工程 2026 级', '项目统筹、进度管理、路演答辩与对外沟通', true],&#10;                ['林李想', '后端与评测', '评测沙箱', 'FastAPI 服务、GCC 受限评测、证据抽取逻辑', false],&#10;                ['黄显涛', '前端开发', '交互界面', 'Vue 3 界面、提交与提示展示、过程回放', false],&#10;                ['汪盛淇', 'AI 与质量', '诊断质量', '提示分层设计、诊断准确度验证、测试用例维护', false],&#10;            ].map((it, i) =&gt; (&#10;                &lt;Box key={i} style={{ flex: 1, background: it[5] ? '#E6F5EC' : '#FFFFFF', border: it[5] ? 'none' : '1px solid #D3E9DC', borderRadius: 16, padding: '12px 12px', alignItems: 'center' }}&gt;&#10;                    &lt;Box style={{ width: '100%', height: 84, background: '#F5FBF7', border: '2px dashed #7CC9A3', borderRadius: 12, justifyContent: 'center', alignItems: 'center', gap: 4 }}&gt;&#10;                        &lt;FAIcon name='user-circle' style={{ fill: '#7CC9A3', width: 30, height: 30 }} /&gt;&#10;                        &lt;Text style={{ fontSize: 13, color: '#6E857C', fontFamily: 'Microsoft YaHei' }}&gt;此处插入照片&lt;/Text&gt;&#10;                    &lt;/Box&gt;&#10;                    &lt;Text style={{ fontSize: 21, color: '#12523A', fontFamily: 'Microsoft YaHei', fontWeight: 'bold', marginTop: 10 }}&gt;{it[0]}&lt;/Text&gt;&#10;                    &lt;Text style={{ fontSize: 15, color: '#2FA36B', fontFamily: 'Microsoft YaHei', fontWeight: 'bold', marginTop: 3 }}&gt;{it[1]}&lt;/Text&gt;&#10;                    &lt;Text style={{ fontSize: 13, color: '#6E857C', fontFamily: 'Microsoft YaHei', marginTop: 2 }}&gt;{it[2]}&lt;/Text&gt;&#10;                    &lt;Text style={{ fontSize: 14, color: '#22312B', fontFamily: 'Microsoft YaHei', lineHeight: 1.5, marginTop: 8, textAlign: 'center' }}&gt;{it[3]}&lt;/Text&gt;&#10;                &lt;/Box&gt;&#10;            ))}&#10;        &lt;/Box&gt;&#10;&#10;        {/* 里程碑 */}&#10;        &lt;Box style={{ flex: 1, background: '#FFFFFF', border: '1px solid #D3E9DC', borderRadius: 18, padding: '16px 20px', boxShadow: '0 6px 22px rgba(18,82,58,0.08)' }}&gt;&#10;            &lt;Box style={{ flexDirection: 'row', alignItems: 'center', justifyContent: 'space-between' }}&gt;&#10;                &lt;Text style={{ fontSize: 20, color: '#12523A', fontFamily: 'Microsoft YaHei', fontWeight: 'bold' }}&gt;8 周实施里程碑&lt;/Text&gt;&#10;                &lt;Box style={{ background: '#E6F5EC', borderRadius: 8, padding: '5px 12px' }}&gt;&#10;                    &lt;Text style={{ fontSize: 15, color: '#12523A', fontFamily: 'Microsoft YaHei', fontWeight: 'bold' }}&gt;10/25 提交 → 第 8 周验证付费条件&lt;/Text&gt;&#10;                &lt;/Box&gt;&#10;            &lt;/Box&gt;&#10;            &lt;Box style={{ marginTop: 14, flexDirection: 'row', gap: 12, flex: 1 }}&gt;&#10;                {[&#10;                    ['第 1–2 周', '教师访谈与参考集', '访谈 3–5 位任课教师，构建离线错因参考集，明确诊断口径。'],&#10;                    ['第 3–4 周', '受限评测闭环', '打通提交—评测—证据—提示—复评全链路，六项安全边界上线。'],&#10;                    ['第 5–6 周', '小规模课程试点', '选 1 门 C 语言课程试点，采集真实纠错过程与使用反馈。'],&#10;                    ['第 7–8 周', '付费条件验证', '与课程单位确认付费意愿与价格接受度，形成可复制服务包。'],&#10;                ].map((it, i) =&gt; (&#10;                    &lt;Box key={i} style={{ flex: 1, background: i === 3 ? '#E6F5EC' : '#F5FBF7', borderRadius: 12, padding: '12px 14px' }}&gt;&#10;                        &lt;Box style={{ flexDirection: 'row', alignItems: 'center', gap: 8 }}&gt;&#10;                            &lt;Box style={{ width: 22, height: 22, borderRadius: 11, background: '#2FA36B', justifyContent: 'center', alignItems: 'center' }}&gt;&#10;                                &lt;Text style={{ fontSize: 12, color: '#FFFFFF', fontWeight: 'bold', fontFamily: 'Consolas' }}&gt;{i + 1}&lt;/Text&gt;&#10;                            &lt;/Box&gt;&#10;                            &lt;Text style={{ fontSize: 15, color: '#2FA36B', fontFamily: 'Consolas', fontWeight: 'bold' }}&gt;{it[0]}&lt;/Text&gt;&#10;                        &lt;/Box&gt;&#10;                        &lt;Text style={{ fontSize: 17, color: '#12523A', fontFamily: 'Microsoft YaHei', fontWeight: 'bold', marginTop: 8 }}&gt;{it[1]}&lt;/Text&gt;&#10;                        &lt;Text style={{ fontSize: 14, color: '#22312B', fontFamily: 'Microsoft YaHei', lineHeight: 1.5, marginTop: 6 }}&gt;{it[2]}&lt;/Text&gt;&#10;                    &lt;/Box&gt;&#10;                ))}&#10;            &lt;/Box&gt;&#10;        &lt;/Box&gt;&#10;    &lt;/Box&gt;&#10;&#10;    {/* C 区 · 页脚 */}&#10;    &lt;Box style={{ position: 'relative', zIndex: 2, flexDirection: 'row', justifyContent: 'space-between', alignItems: 'center', marginTop: 8 }}&gt;&#10;        &lt;Text style={{ fontSize: 14, color: '#6E857C', fontFamily: 'Microsoft YaHei' }}&gt;CodePilot Edu · 广西职业师范学院 · ZERO 团队&lt;/Text&gt;&#10;        &lt;Text style={{ fontSize: 14, color: '#6E857C', fontFamily: 'Microsoft YaHei' }}&gt;12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矩形 2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22" name="圆角矩形 221"/>
          <p:cNvSpPr/>
          <p:nvPr/>
        </p:nvSpPr>
        <p:spPr>
          <a:xfrm>
            <a:off x="10191750" y="142875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E6F5EC">
              <a:alpha val="55000"/>
            </a:srgbClr>
          </a:solidFill>
        </p:spPr>
        <p:txBody>
          <a:bodyPr/>
          <a:p/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圆角矩形 225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圆角矩形 227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圆角矩形 229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圆角矩形 231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圆角矩形 233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圆角矩形 235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876300" y="819150"/>
            <a:ext cx="95345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人分工明确，</a:t>
            </a:r>
            <a:r>
              <a:rPr lang="en-US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周里程碑可查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876300" y="1238250"/>
            <a:ext cx="95345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指导教师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1–2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名待确认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人，符合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3–5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人参赛要求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圆角矩形 238"/>
          <p:cNvSpPr/>
          <p:nvPr/>
        </p:nvSpPr>
        <p:spPr>
          <a:xfrm>
            <a:off x="10563225" y="971550"/>
            <a:ext cx="962025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10696575" y="1038225"/>
            <a:ext cx="695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20 </a:t>
            </a: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666750" y="1485900"/>
            <a:ext cx="2600325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242" name="圆角矩形 241"/>
          <p:cNvSpPr/>
          <p:nvPr/>
        </p:nvSpPr>
        <p:spPr>
          <a:xfrm>
            <a:off x="781050" y="1600200"/>
            <a:ext cx="2371725" cy="800100"/>
          </a:xfrm>
          <a:prstGeom prst="roundRect">
            <a:avLst>
              <a:gd name="adj" fmla="val 14286"/>
            </a:avLst>
          </a:prstGeom>
          <a:solidFill>
            <a:srgbClr val="F5FBF7"/>
          </a:solidFill>
          <a:ln w="25400">
            <a:solidFill>
              <a:srgbClr val="7CC9A3"/>
            </a:solidFill>
            <a:prstDash val="dash"/>
          </a:ln>
        </p:spPr>
        <p:txBody>
          <a:bodyPr/>
          <a:p/>
        </p:txBody>
      </p:sp>
      <p:pic>
        <p:nvPicPr>
          <p:cNvPr id="243" name="图片 24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8800" y="1762125"/>
            <a:ext cx="285750" cy="285750"/>
          </a:xfrm>
          <a:prstGeom prst="rect">
            <a:avLst/>
          </a:prstGeom>
        </p:spPr>
      </p:pic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1600200" y="2085975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此处插入照片</a:t>
            </a:r>
            <a:endParaRPr lang="zh-CN" sz="9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1666875" y="2495550"/>
            <a:ext cx="6000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叶兴楠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1323975" y="2771775"/>
            <a:ext cx="1295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负责人</a:t>
            </a:r>
            <a:r>
              <a:rPr lang="en-US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统筹与答辩</a:t>
            </a:r>
            <a:endParaRPr lang="zh-CN" sz="1125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476375" y="2962275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软件工程</a:t>
            </a:r>
            <a:r>
              <a:rPr lang="en-US" sz="9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2026 </a:t>
            </a:r>
            <a:r>
              <a:rPr lang="zh-CN" sz="9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级</a:t>
            </a:r>
            <a:endParaRPr lang="zh-CN" sz="9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781050" y="3190875"/>
            <a:ext cx="23717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项目统筹、进度管理、路演答辩与对外沟通</a:t>
            </a:r>
            <a:endParaRPr lang="zh-CN" sz="10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圆角矩形 248"/>
          <p:cNvSpPr/>
          <p:nvPr/>
        </p:nvSpPr>
        <p:spPr>
          <a:xfrm>
            <a:off x="3419475" y="1485900"/>
            <a:ext cx="2600325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250" name="圆角矩形 249"/>
          <p:cNvSpPr/>
          <p:nvPr/>
        </p:nvSpPr>
        <p:spPr>
          <a:xfrm>
            <a:off x="3533775" y="1600200"/>
            <a:ext cx="2371725" cy="800100"/>
          </a:xfrm>
          <a:prstGeom prst="roundRect">
            <a:avLst>
              <a:gd name="adj" fmla="val 14286"/>
            </a:avLst>
          </a:prstGeom>
          <a:solidFill>
            <a:srgbClr val="F5FBF7"/>
          </a:solidFill>
          <a:ln w="25400">
            <a:solidFill>
              <a:srgbClr val="7CC9A3"/>
            </a:solidFill>
            <a:prstDash val="dash"/>
          </a:ln>
        </p:spPr>
        <p:txBody>
          <a:bodyPr/>
          <a:p/>
        </p:txBody>
      </p:sp>
      <p:pic>
        <p:nvPicPr>
          <p:cNvPr id="251" name="图片 2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1525" y="1762125"/>
            <a:ext cx="285750" cy="285750"/>
          </a:xfrm>
          <a:prstGeom prst="rect">
            <a:avLst/>
          </a:prstGeom>
        </p:spPr>
      </p:pic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4352925" y="2085975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此处插入照片</a:t>
            </a:r>
            <a:endParaRPr lang="zh-CN" sz="9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4419600" y="2495550"/>
            <a:ext cx="6000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林李想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4362450" y="277177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后端与评测</a:t>
            </a:r>
            <a:endParaRPr lang="zh-CN" sz="1125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4476750" y="296227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评测沙箱</a:t>
            </a:r>
            <a:endParaRPr lang="zh-CN" sz="9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3533775" y="3190875"/>
            <a:ext cx="23717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FastAPI </a:t>
            </a: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服务、</a:t>
            </a:r>
            <a:r>
              <a:rPr lang="en-US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GCC </a:t>
            </a: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受限评测、证据抽取逻辑</a:t>
            </a:r>
            <a:endParaRPr lang="zh-CN" sz="10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圆角矩形 256"/>
          <p:cNvSpPr/>
          <p:nvPr/>
        </p:nvSpPr>
        <p:spPr>
          <a:xfrm>
            <a:off x="6172200" y="1485900"/>
            <a:ext cx="2600325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258" name="圆角矩形 257"/>
          <p:cNvSpPr/>
          <p:nvPr/>
        </p:nvSpPr>
        <p:spPr>
          <a:xfrm>
            <a:off x="6286500" y="1600200"/>
            <a:ext cx="2371725" cy="800100"/>
          </a:xfrm>
          <a:prstGeom prst="roundRect">
            <a:avLst>
              <a:gd name="adj" fmla="val 14286"/>
            </a:avLst>
          </a:prstGeom>
          <a:solidFill>
            <a:srgbClr val="F5FBF7"/>
          </a:solidFill>
          <a:ln w="25400">
            <a:solidFill>
              <a:srgbClr val="7CC9A3"/>
            </a:solidFill>
            <a:prstDash val="dash"/>
          </a:ln>
        </p:spPr>
        <p:txBody>
          <a:bodyPr/>
          <a:p/>
        </p:txBody>
      </p:sp>
      <p:pic>
        <p:nvPicPr>
          <p:cNvPr id="259" name="图片 25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4250" y="1762125"/>
            <a:ext cx="285750" cy="285750"/>
          </a:xfrm>
          <a:prstGeom prst="rect">
            <a:avLst/>
          </a:prstGeom>
        </p:spPr>
      </p:pic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7105650" y="2085975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此处插入照片</a:t>
            </a:r>
            <a:endParaRPr lang="zh-CN" sz="9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7172325" y="2495550"/>
            <a:ext cx="6000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黄显涛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7191375" y="277177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前端开发</a:t>
            </a:r>
            <a:endParaRPr lang="zh-CN" sz="1125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7229475" y="296227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交互界面</a:t>
            </a:r>
            <a:endParaRPr lang="zh-CN" sz="9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286500" y="3190875"/>
            <a:ext cx="23717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Vue 3 </a:t>
            </a: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界面、提交与提示展示、过程回放</a:t>
            </a:r>
            <a:endParaRPr lang="zh-CN" sz="10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8924925" y="1485900"/>
            <a:ext cx="2600325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266" name="圆角矩形 265"/>
          <p:cNvSpPr/>
          <p:nvPr/>
        </p:nvSpPr>
        <p:spPr>
          <a:xfrm>
            <a:off x="9039225" y="1600200"/>
            <a:ext cx="2371725" cy="800100"/>
          </a:xfrm>
          <a:prstGeom prst="roundRect">
            <a:avLst>
              <a:gd name="adj" fmla="val 14286"/>
            </a:avLst>
          </a:prstGeom>
          <a:solidFill>
            <a:srgbClr val="F5FBF7"/>
          </a:solidFill>
          <a:ln w="25400">
            <a:solidFill>
              <a:srgbClr val="7CC9A3"/>
            </a:solidFill>
            <a:prstDash val="dash"/>
          </a:ln>
        </p:spPr>
        <p:txBody>
          <a:bodyPr/>
          <a:p/>
        </p:txBody>
      </p:sp>
      <p:pic>
        <p:nvPicPr>
          <p:cNvPr id="267" name="图片 2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86975" y="1762125"/>
            <a:ext cx="285750" cy="285750"/>
          </a:xfrm>
          <a:prstGeom prst="rect">
            <a:avLst/>
          </a:prstGeom>
        </p:spPr>
      </p:pic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9858375" y="2085975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此处插入照片</a:t>
            </a:r>
            <a:endParaRPr lang="zh-CN" sz="9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9925050" y="2495550"/>
            <a:ext cx="6000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汪盛淇</a:t>
            </a:r>
            <a:endParaRPr lang="zh-CN" sz="15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9915525" y="2771775"/>
            <a:ext cx="628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125" b="1">
                <a:solidFill>
                  <a:srgbClr val="2FA36B"/>
                </a:solidFill>
                <a:latin typeface="微软雅黑" panose="020B0503020204020204" charset="-122"/>
                <a:ea typeface="微软雅黑" panose="020B0503020204020204" charset="-122"/>
              </a:rPr>
              <a:t>与质量</a:t>
            </a:r>
            <a:endParaRPr lang="zh-CN" sz="1125" b="1">
              <a:solidFill>
                <a:srgbClr val="2FA3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9982200" y="296227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诊断质量</a:t>
            </a:r>
            <a:endParaRPr lang="zh-CN" sz="9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9039225" y="3190875"/>
            <a:ext cx="23717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提示分层设计、诊断准确度验证、测试用例维护</a:t>
            </a:r>
            <a:endParaRPr lang="zh-CN" sz="10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6750" y="4019550"/>
            <a:ext cx="10858500" cy="2419350"/>
          </a:xfrm>
          <a:prstGeom prst="roundRect">
            <a:avLst>
              <a:gd name="adj" fmla="val 7087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857250" y="4191000"/>
            <a:ext cx="1323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150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周实施里程碑</a:t>
            </a:r>
            <a:endParaRPr lang="zh-CN" sz="150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圆角矩形 274"/>
          <p:cNvSpPr/>
          <p:nvPr/>
        </p:nvSpPr>
        <p:spPr>
          <a:xfrm>
            <a:off x="8810625" y="4171950"/>
            <a:ext cx="2524125" cy="266700"/>
          </a:xfrm>
          <a:prstGeom prst="roundRect">
            <a:avLst>
              <a:gd name="adj" fmla="val 28571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8924925" y="4219575"/>
            <a:ext cx="2295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10/25 </a:t>
            </a: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周验证付费条件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857250" y="4572000"/>
            <a:ext cx="2533650" cy="1714500"/>
          </a:xfrm>
          <a:prstGeom prst="roundRect">
            <a:avLst>
              <a:gd name="adj" fmla="val 666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278" name="圆角矩形 277"/>
          <p:cNvSpPr/>
          <p:nvPr/>
        </p:nvSpPr>
        <p:spPr>
          <a:xfrm>
            <a:off x="990600" y="46863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1066800" y="4724400"/>
            <a:ext cx="66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1</a:t>
            </a:r>
            <a:endParaRPr lang="en-US" sz="9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1276350" y="4705350"/>
            <a:ext cx="800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第</a:t>
            </a:r>
            <a:r>
              <a:rPr lang="en-US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 1–2 </a:t>
            </a:r>
            <a:r>
              <a:rPr lang="zh-CN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周</a:t>
            </a:r>
            <a:endParaRPr lang="zh-CN" sz="1125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990600" y="4972050"/>
            <a:ext cx="2266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教师访谈与参考集</a:t>
            </a:r>
            <a:endParaRPr lang="zh-CN" sz="12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90600" y="5229225"/>
            <a:ext cx="22669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访谈</a:t>
            </a:r>
            <a:r>
              <a:rPr lang="en-US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3–5 </a:t>
            </a: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位任课教师，构建离线错因参考集，明确诊断口径。</a:t>
            </a:r>
            <a:endParaRPr lang="zh-CN" sz="10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3505200" y="4572000"/>
            <a:ext cx="2533650" cy="1714500"/>
          </a:xfrm>
          <a:prstGeom prst="roundRect">
            <a:avLst>
              <a:gd name="adj" fmla="val 666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284" name="圆角矩形 283"/>
          <p:cNvSpPr/>
          <p:nvPr/>
        </p:nvSpPr>
        <p:spPr>
          <a:xfrm>
            <a:off x="3638550" y="46863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3714750" y="4724400"/>
            <a:ext cx="66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2</a:t>
            </a:r>
            <a:endParaRPr lang="en-US" sz="9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3924300" y="4705350"/>
            <a:ext cx="800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第</a:t>
            </a:r>
            <a:r>
              <a:rPr lang="en-US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 3–4 </a:t>
            </a:r>
            <a:r>
              <a:rPr lang="zh-CN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周</a:t>
            </a:r>
            <a:endParaRPr lang="zh-CN" sz="1125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3638550" y="4972050"/>
            <a:ext cx="2266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受限评测闭环</a:t>
            </a:r>
            <a:endParaRPr lang="zh-CN" sz="12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3638550" y="5229225"/>
            <a:ext cx="22669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打通提交—评测—证据—提示—复评全链路，六项安全边界上线。</a:t>
            </a:r>
            <a:endParaRPr lang="zh-CN" sz="10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6153150" y="4572000"/>
            <a:ext cx="2533650" cy="1714500"/>
          </a:xfrm>
          <a:prstGeom prst="roundRect">
            <a:avLst>
              <a:gd name="adj" fmla="val 6667"/>
            </a:avLst>
          </a:prstGeom>
          <a:solidFill>
            <a:srgbClr val="F5FBF7"/>
          </a:solidFill>
        </p:spPr>
        <p:txBody>
          <a:bodyPr/>
          <a:p/>
        </p:txBody>
      </p:sp>
      <p:sp>
        <p:nvSpPr>
          <p:cNvPr id="290" name="圆角矩形 289"/>
          <p:cNvSpPr/>
          <p:nvPr/>
        </p:nvSpPr>
        <p:spPr>
          <a:xfrm>
            <a:off x="6286500" y="46863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6362700" y="4724400"/>
            <a:ext cx="66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3</a:t>
            </a:r>
            <a:endParaRPr lang="en-US" sz="9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6572250" y="4705350"/>
            <a:ext cx="800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第</a:t>
            </a:r>
            <a:r>
              <a:rPr lang="en-US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 5–6 </a:t>
            </a:r>
            <a:r>
              <a:rPr lang="zh-CN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周</a:t>
            </a:r>
            <a:endParaRPr lang="zh-CN" sz="1125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6286500" y="4972050"/>
            <a:ext cx="2266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小规模课程试点</a:t>
            </a:r>
            <a:endParaRPr lang="zh-CN" sz="12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6286500" y="5229225"/>
            <a:ext cx="22669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lang="en-US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门</a:t>
            </a:r>
            <a:r>
              <a:rPr lang="en-US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C </a:t>
            </a: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语言课程试点，采集真实纠错过程与使用反馈。</a:t>
            </a:r>
            <a:endParaRPr lang="zh-CN" sz="10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圆角矩形 294"/>
          <p:cNvSpPr/>
          <p:nvPr/>
        </p:nvSpPr>
        <p:spPr>
          <a:xfrm>
            <a:off x="8801100" y="4572000"/>
            <a:ext cx="2533650" cy="1714500"/>
          </a:xfrm>
          <a:prstGeom prst="roundRect">
            <a:avLst>
              <a:gd name="adj" fmla="val 6667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296" name="圆角矩形 295"/>
          <p:cNvSpPr/>
          <p:nvPr/>
        </p:nvSpPr>
        <p:spPr>
          <a:xfrm>
            <a:off x="8934450" y="46863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9010650" y="4724400"/>
            <a:ext cx="66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4</a:t>
            </a:r>
            <a:endParaRPr lang="en-US" sz="9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9220200" y="4705350"/>
            <a:ext cx="800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第</a:t>
            </a:r>
            <a:r>
              <a:rPr lang="en-US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 7–8 </a:t>
            </a:r>
            <a:r>
              <a:rPr lang="zh-CN" sz="1125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周</a:t>
            </a:r>
            <a:endParaRPr lang="zh-CN" sz="1125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8934450" y="4972050"/>
            <a:ext cx="2266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付费条件验证</a:t>
            </a:r>
            <a:endParaRPr lang="zh-CN" sz="127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8934450" y="5229225"/>
            <a:ext cx="22669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与课程单位确认付费意愿与价格接受度，形成可复制服务包。</a:t>
            </a:r>
            <a:endParaRPr lang="zh-CN" sz="105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666750" y="6515100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12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" descr="&lt;Slide style={{ background: '#FFFFFF', padding: '36px 70px 24px 70px' }}&gt;&#10;&#10;    &lt;Box style={{ position: 'absolute', left: -110, top: 140, width: 320, height: 320, borderRadius: 160, background: '#E6F5EC', opacity: 0.6 }} /&gt;&#10;&#10;    {/* N 区 · 章节导航条（当前：05 教育价值） */}&#10;    &lt;Box style={{ position: 'relative', zIndex: 2, flexDirection: 'row', alignItems: 'center', justifyContent: 'space-between', height: 36 }}&gt;&#10;        &lt;Box style={{ flexDirection: 'row', alignItems: 'center', gap: 10 }}&gt;&#10;            &lt;Text style={{ fontSize: 14, color: '#12523A', fontFamily: 'Microsoft YaHei', fontWeight: 'bold' }}&gt;CodePilot Edu&lt;/Text&gt;&#10;            &lt;Box style={{ width: 1, height: 16, background: '#D3E9DC' }} /&gt;&#10;            &lt;Text style={{ fontSize: 14, color: '#6E857C', fontFamily: 'Microsoft YaHei' }}&gt;第十届中华职业教育创新创业大赛 · 本科组&lt;/Text&gt;&#10;        &lt;/Box&gt;&#10;        &lt;Box style={{ flexDirection: 'row', alignItems: 'center', gap: 8 }}&gt;&#10;            {[['01', '项目背景'], ['02', '技术创新'], ['03', '商业路径'], ['04', '团队规划'], ['05', '教育价值']].map((it, i) =&gt; (&#10;                &lt;Box key={i} style={{ background: i === 4 ? 'linear-gradient(120deg, #12523A 0%, #2FA36B 100%)' : '#E6F5EC', borderRadius: 8, padding: '7px 11px' }}&gt;&#10;                    &lt;Text style={{ fontSize: 14, color: i === 4 ? '#FFFFFF' : '#6E857C', fontFamily: 'Microsoft YaHei', fontWeight: 'bold' }}&gt;{it[0]} {it[1]}&lt;/Text&gt;&#10;                &lt;/Box&gt;&#10;            ))}&#10;        &lt;/Box&gt;&#10;    &lt;/Box&gt;&#10;&#10;    {/* A 区 · 标题块 */}&#10;    &lt;Box style={{ position: 'relative', zIndex: 2, flexDirection: 'row', alignItems: 'center', gap: 16, height: 76, marginTop: 8 }}&gt;&#10;        &lt;Box style={{ width: 6, height: 48, borderRadius: 3, background: '#2FA36B' }} /&gt;&#10;        &lt;Box style={{ flex: 1 }}&gt;&#10;            &lt;Text style={{ fontSize: 34, fontWeight: 'bold', color: '#12523A', fontFamily: 'Microsoft YaHei' }}&gt;职教育工匠：把育人放回第一位&lt;/Text&gt;&#10;            &lt;Text style={{ fontSize: 17, color: '#6E857C', fontFamily: 'Microsoft YaHei', marginTop: 3 }}&gt;呼应大赛主题「职教育工匠，双创筑梦想」· 引领教育 20 分&lt;/Text&gt;&#10;        &lt;/Box&gt;&#10;        &lt;Box style={{ background: '#E6F5EC', padding: '7px 14px', borderRadius: 10 }}&gt;&#10;            &lt;Text style={{ fontSize: 15, color: '#12523A', fontFamily: 'Microsoft YaHei', fontWeight: 'bold' }}&gt;可复制可推广&lt;/Text&gt;&#10;        &lt;/Box&gt;&#10;    &lt;/Box&gt;&#10;&#10;    {/* B 区 · 内容 */}&#10;    &lt;Box style={{ position: 'relative', zIndex: 2, height: 520, flexDirection: 'row', gap: 18 }}&gt;&#10;&#10;        {/* 左 · 四象限 */}&#10;        &lt;Box style={{ flex: 1, flexDirection: 'row', flexWrap: 'wrap', gap: 14 }}&gt;&#10;            {[&#10;                ['user-graduate', '学生', '自主纠错能力', '从等答案变成自己改，遇到错误先定位再修正，能力可迁移到其他课程。'],&#10;                ['chalkboard-teacher', '教师', '精准反馈', '讲评直接引用班级共性错误，把有限的时间用在真正卡住学生的问题上。'],&#10;                ['users', '团队', '工程与创业实践', '4 名本科生完成从需求调研、技术选型到商业验证的完整闭环训练。'],&#10;                ['project-diagram', '模式', '可复制推广', '按课程交付、轻量部署，同类院校可直接复制，无需整校预算。'],&#10;            ].map((it, i) =&gt; (&#10;                &lt;Box key={i} style={{ width: '48.8%', height: 246, background: i === 0 ? '#E6F5EC' : '#FFFFFF', border: i === 0 ? 'none' : '1px solid #D3E9DC', borderRadius: 16, padding: '18px 20px' }}&gt;&#10;                    &lt;Box style={{ flexDirection: 'row', alignItems: 'center', gap: 10 }}&gt;&#10;                        &lt;Box style={{ width: 44, height: 44, borderRadius: 22, background: '#FFFFFF', justifyContent: 'center', alignItems: 'center' }}&gt;&#10;                            &lt;FAIcon name={it[0]} style={{ fill: '#2FA36B', width: 22, height: 22 }} /&gt;&#10;                        &lt;/Box&gt;&#10;                        &lt;Text style={{ fontSize: 17, color: '#6E857C', fontFamily: 'Microsoft YaHei' }}&gt;{it[1]}&lt;/Text&gt;&#10;                    &lt;/Box&gt;&#10;                    &lt;Text style={{ fontSize: 22, color: '#12523A', fontFamily: 'Microsoft YaHei', fontWeight: 'bold', marginTop: 12 }}&gt;{it[2]}&lt;/Text&gt;&#10;                    &lt;Text style={{ fontSize: 16, color: '#22312B', fontFamily: 'Microsoft YaHei', lineHeight: 1.6, marginTop: 10 }}&gt;{it[3]}&lt;/Text&gt;&#10;                &lt;/Box&gt;&#10;            ))}&#10;        &lt;/Box&gt;&#10;&#10;        {/* 右 · Slogan + 图片占位 */}&#10;        &lt;Box style={{ width: 400, gap: 16 }}&gt;&#10;            &lt;Box style={{ flex: 1, background: '#F5FBF7', border: '2px dashed #7CC9A3', borderRadius: 16, justifyContent: 'center', alignItems: 'center', gap: 10 }}&gt;&#10;                &lt;FAIcon name='image' style={{ fill: '#7CC9A3', width: 50, height: 50 }} /&gt;&#10;                &lt;Text style={{ fontSize: 18, color: '#12523A', fontFamily: 'Microsoft YaHei', fontWeight: 'bold' }}&gt;此处插入：课堂使用场景照片&lt;/Text&gt;&#10;                &lt;Text style={{ fontSize: 14, color: '#6E857C', fontFamily: 'Microsoft YaHei' }}&gt;建议尺寸 400 × 320 px · 替换后删除此框&lt;/Text&gt;&#10;            &lt;/Box&gt;&#10;&#10;            &lt;Box style={{ height: 176, background: 'linear-gradient(120deg, #12523A 0%, #2FA36B 100%)', borderRadius: 18, padding: '20px 22px', justifyContent: 'center', boxShadow: '0 8px 26px rgba(18,82,58,0.20)' }}&gt;&#10;                &lt;Text style={{ fontSize: 17, color: '#D9EDE3', fontFamily: 'Microsoft YaHei' }}&gt;我们的主张&lt;/Text&gt;&#10;                &lt;Text style={{ fontSize: 24, color: '#FFFFFF', fontFamily: 'Microsoft YaHei', fontWeight: 'bold', lineHeight: 1.45, marginTop: 8 }}&gt;让每一次编程错误，都成为一次真正有效的学习&lt;/Text&gt;&#10;                &lt;Box style={{ flexDirection: 'row', alignItems: 'center', gap: 8, marginTop: 14 }}&gt;&#10;                    &lt;FAIcon name='seedling' style={{ fill: '#FFFFFF', width: 22, height: 22 }} /&gt;&#10;                    &lt;Text style={{ fontSize: 16, color: '#FFFFFF', fontFamily: 'Microsoft YaHei', fontWeight: 'bold' }}&gt;职教育工匠，双创筑梦想&lt;/Text&gt;&#10;                &lt;/Box&gt;&#10;            &lt;/Box&gt;&#10;        &lt;/Box&gt;&#10;    &lt;/Box&gt;&#10;&#10;    {/* C 区 · 页脚 */}&#10;    &lt;Box style={{ position: 'relative', zIndex: 2, flexDirection: 'row', justifyContent: 'space-between', alignItems: 'center', marginTop: 8 }}&gt;&#10;        &lt;Text style={{ fontSize: 14, color: '#6E857C', fontFamily: 'Microsoft YaHei' }}&gt;CodePilot Edu · 广西职业师范学院 · ZERO 团队&lt;/Text&gt;&#10;        &lt;Text style={{ fontSize: 14, color: '#6E857C', fontFamily: 'Microsoft YaHei' }}&gt;13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矩形 3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05" name="圆角矩形 304"/>
          <p:cNvSpPr/>
          <p:nvPr/>
        </p:nvSpPr>
        <p:spPr>
          <a:xfrm>
            <a:off x="-1047750" y="133350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E6F5EC">
              <a:alpha val="60000"/>
            </a:srgbClr>
          </a:solidFill>
        </p:spPr>
        <p:txBody>
          <a:bodyPr/>
          <a:p/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圆角矩形 308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圆角矩形 310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圆角矩形 312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圆角矩形 316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876300" y="819150"/>
            <a:ext cx="9372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职教育工匠：把育人放回第一位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876300" y="1238250"/>
            <a:ext cx="9372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呼应大赛主题「职教育工匠，双创筑梦想」·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引领教育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20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圆角矩形 321"/>
          <p:cNvSpPr/>
          <p:nvPr/>
        </p:nvSpPr>
        <p:spPr>
          <a:xfrm>
            <a:off x="10401300" y="971550"/>
            <a:ext cx="1123950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10534650" y="1038225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可复制可推广</a:t>
            </a:r>
            <a:endParaRPr lang="zh-CN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圆角矩形 323"/>
          <p:cNvSpPr/>
          <p:nvPr/>
        </p:nvSpPr>
        <p:spPr>
          <a:xfrm>
            <a:off x="666750" y="1485900"/>
            <a:ext cx="3352800" cy="2343150"/>
          </a:xfrm>
          <a:prstGeom prst="roundRect">
            <a:avLst>
              <a:gd name="adj" fmla="val 6504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25" name="圆角矩形 324"/>
          <p:cNvSpPr/>
          <p:nvPr/>
        </p:nvSpPr>
        <p:spPr>
          <a:xfrm>
            <a:off x="857250" y="16573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326" name="图片 32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025" y="1762125"/>
            <a:ext cx="209550" cy="209550"/>
          </a:xfrm>
          <a:prstGeom prst="rect">
            <a:avLst/>
          </a:prstGeom>
        </p:spPr>
      </p:pic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1371600" y="177165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学生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857250" y="2190750"/>
            <a:ext cx="2971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自主纠错能力</a:t>
            </a:r>
            <a:endParaRPr lang="zh-CN" sz="16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857250" y="2543175"/>
            <a:ext cx="29718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从等答案变成自己改，遇到错误先定位再修正，能力可迁移到其他课程。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圆角矩形 329"/>
          <p:cNvSpPr/>
          <p:nvPr/>
        </p:nvSpPr>
        <p:spPr>
          <a:xfrm>
            <a:off x="4152900" y="1485900"/>
            <a:ext cx="3362325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331" name="圆角矩形 330"/>
          <p:cNvSpPr/>
          <p:nvPr/>
        </p:nvSpPr>
        <p:spPr>
          <a:xfrm>
            <a:off x="4343400" y="16573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332" name="图片 33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8175" y="1762125"/>
            <a:ext cx="209550" cy="209550"/>
          </a:xfrm>
          <a:prstGeom prst="rect">
            <a:avLst/>
          </a:prstGeom>
        </p:spPr>
      </p:pic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4857750" y="177165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教师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4343400" y="2190750"/>
            <a:ext cx="29813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精准反馈</a:t>
            </a:r>
            <a:endParaRPr lang="zh-CN" sz="16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4343400" y="2543175"/>
            <a:ext cx="29813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讲评直接引用班级共性错误，把有限的时间用在真正卡住学生的问题上。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圆角矩形 335"/>
          <p:cNvSpPr/>
          <p:nvPr/>
        </p:nvSpPr>
        <p:spPr>
          <a:xfrm>
            <a:off x="666750" y="4029075"/>
            <a:ext cx="335280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337" name="圆角矩形 336"/>
          <p:cNvSpPr/>
          <p:nvPr/>
        </p:nvSpPr>
        <p:spPr>
          <a:xfrm>
            <a:off x="857250" y="4200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338" name="图片 33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025" y="4305300"/>
            <a:ext cx="209550" cy="209550"/>
          </a:xfrm>
          <a:prstGeom prst="rect">
            <a:avLst/>
          </a:prstGeom>
        </p:spPr>
      </p:pic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1371600" y="4314825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857250" y="4733925"/>
            <a:ext cx="2971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工程与创业实践</a:t>
            </a:r>
            <a:endParaRPr lang="zh-CN" sz="16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857250" y="5086350"/>
            <a:ext cx="29718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名本科生完成从需求调研、技术选型到商业验证的完整闭环训练。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圆角矩形 341"/>
          <p:cNvSpPr/>
          <p:nvPr/>
        </p:nvSpPr>
        <p:spPr>
          <a:xfrm>
            <a:off x="4152900" y="4029075"/>
            <a:ext cx="3362325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343" name="圆角矩形 342"/>
          <p:cNvSpPr/>
          <p:nvPr/>
        </p:nvSpPr>
        <p:spPr>
          <a:xfrm>
            <a:off x="4343400" y="4200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344" name="图片 34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8175" y="4305300"/>
            <a:ext cx="209550" cy="209550"/>
          </a:xfrm>
          <a:prstGeom prst="rect">
            <a:avLst/>
          </a:prstGeom>
        </p:spPr>
      </p:pic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4857750" y="4314825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模式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4343400" y="4733925"/>
            <a:ext cx="29813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可复制推广</a:t>
            </a:r>
            <a:endParaRPr lang="zh-CN" sz="16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4343400" y="5086350"/>
            <a:ext cx="29813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按课程交付、轻量部署，同类院校可直接复制，无需整校预算。</a:t>
            </a:r>
            <a:endParaRPr lang="zh-CN" sz="1200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7715250" y="1485900"/>
            <a:ext cx="3810000" cy="3124200"/>
          </a:xfrm>
          <a:prstGeom prst="roundRect">
            <a:avLst>
              <a:gd name="adj" fmla="val 4878"/>
            </a:avLst>
          </a:prstGeom>
          <a:solidFill>
            <a:srgbClr val="F5FBF7"/>
          </a:solidFill>
          <a:ln w="25400">
            <a:solidFill>
              <a:srgbClr val="7CC9A3"/>
            </a:solidFill>
            <a:prstDash val="dash"/>
          </a:ln>
        </p:spPr>
        <p:txBody>
          <a:bodyPr/>
          <a:p/>
        </p:txBody>
      </p:sp>
      <p:pic>
        <p:nvPicPr>
          <p:cNvPr id="349" name="图片 34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82125" y="2533650"/>
            <a:ext cx="476250" cy="476250"/>
          </a:xfrm>
          <a:prstGeom prst="rect">
            <a:avLst/>
          </a:prstGeom>
        </p:spPr>
      </p:pic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8505825" y="3105150"/>
            <a:ext cx="222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此处插入：课堂使用场景照片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8391525" y="3409950"/>
            <a:ext cx="2457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建议尺寸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400 × 320 px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替换后删除此框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7715250" y="4762500"/>
            <a:ext cx="3810000" cy="1676400"/>
          </a:xfrm>
          <a:prstGeom prst="roundRect">
            <a:avLst>
              <a:gd name="adj" fmla="val 10227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  <a:effectLst>
            <a:outerShdw blurRad="247650" dist="76200" dir="5400000">
              <a:srgbClr val="12523A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7924800" y="4895850"/>
            <a:ext cx="3390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9EDE3"/>
                </a:solidFill>
                <a:latin typeface="微软雅黑" panose="020B0503020204020204" charset="-122"/>
                <a:ea typeface="微软雅黑" panose="020B0503020204020204" charset="-122"/>
              </a:rPr>
              <a:t>我们的主张</a:t>
            </a:r>
            <a:endParaRPr lang="zh-CN" sz="1275">
              <a:solidFill>
                <a:srgbClr val="D9ED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7924800" y="5172075"/>
            <a:ext cx="33909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让每一次编程错误，都成为一次真正有效的学习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5" name="图片 354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24800" y="6105525"/>
            <a:ext cx="209550" cy="209550"/>
          </a:xfrm>
          <a:prstGeom prst="rect">
            <a:avLst/>
          </a:prstGeom>
        </p:spPr>
      </p:pic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8210550" y="6115050"/>
            <a:ext cx="1676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职教育工匠，双创筑梦想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666750" y="6515100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13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" descr="&lt;Slide style={{ background: '#FFFFFF', padding: '36px 70px 24px 70px' }}&gt;&#10;&#10;    &lt;Box style={{ position: 'absolute', right: -110, top: 130, width: 320, height: 320, borderRadius: 160, background: '#E6F5EC', opacity: 0.5 }} /&gt;&#10;&#10;    {/* N 区 · 章节导航条（当前：05 教育价值） */}&#10;    &lt;Box style={{ position: 'relative', zIndex: 2, flexDirection: 'row', alignItems: 'center', justifyContent: 'space-between', height: 36 }}&gt;&#10;        &lt;Box style={{ flexDirection: 'row', alignItems: 'center', gap: 10 }}&gt;&#10;            &lt;Text style={{ fontSize: 14, color: '#12523A', fontFamily: 'Microsoft YaHei', fontWeight: 'bold' }}&gt;CodePilot Edu&lt;/Text&gt;&#10;            &lt;Box style={{ width: 1, height: 16, background: '#D3E9DC' }} /&gt;&#10;            &lt;Text style={{ fontSize: 14, color: '#6E857C', fontFamily: 'Microsoft YaHei' }}&gt;第十届中华职业教育创新创业大赛 · 本科组&lt;/Text&gt;&#10;        &lt;/Box&gt;&#10;        &lt;Box style={{ flexDirection: 'row', alignItems: 'center', gap: 8 }}&gt;&#10;            {[['01', '项目背景'], ['02', '技术创新'], ['03', '商业路径'], ['04', '团队规划'], ['05', '教育价值']].map((it, i) =&gt; (&#10;                &lt;Box key={i} style={{ background: i === 4 ? 'linear-gradient(120deg, #12523A 0%, #2FA36B 100%)' : '#E6F5EC', borderRadius: 8, padding: '7px 11px' }}&gt;&#10;                    &lt;Text style={{ fontSize: 14, color: i === 4 ? '#FFFFFF' : '#6E857C', fontFamily: 'Microsoft YaHei', fontWeight: 'bold' }}&gt;{it[0]} {it[1]}&lt;/Text&gt;&#10;                &lt;/Box&gt;&#10;            ))}&#10;        &lt;/Box&gt;&#10;    &lt;/Box&gt;&#10;&#10;    {/* A 区 · 标题块 */}&#10;    &lt;Box style={{ position: 'relative', zIndex: 2, flexDirection: 'row', alignItems: 'center', gap: 16, height: 76, marginTop: 8 }}&gt;&#10;        &lt;Box style={{ width: 6, height: 48, borderRadius: 3, background: '#2FA36B' }} /&gt;&#10;        &lt;Box style={{ flex: 1 }}&gt;&#10;            &lt;Text style={{ fontSize: 34, fontWeight: 'bold', color: '#12523A', fontFamily: 'Microsoft YaHei' }}&gt;备用：六类风险已识别，措施已配好&lt;/Text&gt;&#10;            &lt;Text style={{ fontSize: 17, color: '#6E857C', fontFamily: 'Microsoft YaHei', marginTop: 3 }}&gt;答辩追问时使用 · 每条风险都有对应控制动作与责任人&lt;/Text&gt;&#10;        &lt;/Box&gt;&#10;        &lt;Box style={{ background: '#E6F5EC', padding: '7px 14px', borderRadius: 10 }}&gt;&#10;            &lt;Text style={{ fontSize: 15, color: '#12523A', fontFamily: 'Microsoft YaHei', fontWeight: 'bold' }}&gt;备用页 01&lt;/Text&gt;&#10;        &lt;/Box&gt;&#10;    &lt;/Box&gt;&#10;&#10;    {/* B 区 · 内容 */}&#10;    &lt;Box style={{ position: 'relative', zIndex: 2, height: 520, background: '#FFFFFF', border: '1px solid #D3E9DC', borderRadius: 18, padding: '10px 12px', boxShadow: '0 6px 22px rgba(18,82,58,0.08)' }}&gt;&#10;        &lt;Table&#10;            style={{ width: '100%', height: '100%' }}&#10;            defaultTextStyle={{ fontSize: 16, textAlign: 'left', color: '#22312B', fontFamily: 'Microsoft YaHei' }}&#10;            defaultCellStyle={{&#10;                border: {&#10;                    left: { width: 1, color: '#D3E9DC' },&#10;                    right: { width: 1, color: '#D3E9DC' },&#10;                    top: { width: 1, color: '#D3E9DC' },&#10;                    bottom: { width: 1, color: '#D3E9DC' },&#10;                },&#10;            }}&#10;            cells={[&#10;                [&#10;                    { text: '风险类别', textStyle: { bold: true, color: '#FFFFFF', textAlign: 'center' }, cellStyle: { background: { color: '#12523A' } } },&#10;                    { text: '风险描述', textStyle: { bold: true, color: '#FFFFFF' }, cellStyle: { background: { color: '#12523A' } } },&#10;                    { text: '控制措施', textStyle: { bold: true, color: '#FFFFFF' }, cellStyle: { background: { color: '#12523A' } } },&#10;                ],&#10;                [&#10;                    { text: '需求与付费', textStyle: { bold: true, color: '#12523A' }, cellStyle: { background: { color: '#E6F5EC' } } },&#10;                    '课程单位付费意愿不足，或预算审批周期长',&#10;                    '先以免费试点换取真实证据，再用学情报告推动付费决策，单课程金额小、决策链短',&#10;                ],&#10;                [&#10;                    { text: 'AI 误诊', textStyle: { bold: true, color: '#12523A' }, cellStyle: { background: { color: '#E6F5EC' } } },&#10;                    '诊断结论出错，或提示中泄露完整答案',&#10;                    '事实与推测严格分栏并标注置信度；三级提示只给思路不给代码；教师端可复核与纠正',&#10;                ],&#10;                [&#10;                    { text: '评测隔离', textStyle: { bold: true, color: '#12523A' }, cellStyle: { background: { color: '#E6F5EC' } } },&#10;                    '学生代码突破沙箱，影响主机或其他用户',&#10;                    '超时、CPU、内存、进程、文件、网络六项限制全部启用，运行期完全断网',&#10;                ],&#10;                [&#10;                    { text: '数据授权', textStyle: { bold: true, color: '#12523A' }, cellStyle: { background: { color: '#E6F5EC' } } },&#10;                    '学生作业数据与学情数据的使用边界不清',&#10;                    '使用前明确授权范围，数据仅用于本课程教学与统计，不对外提供、不做商业流转',&#10;                ],&#10;                [&#10;                    { text: '成本低估', textStyle: { bold: true, color: '#12523A' }, cellStyle: { background: { color: '#E6F5EC' } } },&#10;                    '调用量或人工工时超预期，压缩贡献率',&#10;                    '已完成三情景敏感性测试，最坏情景贡献率仍为正；按实际用量按季度复盘调价',&#10;                ],&#10;                [&#10;                    { text: '团队资源', textStyle: { bold: true, color: '#12523A' }, cellStyle: { background: { color: '#E6F5EC' } } },&#10;                    '成员课业与项目进度冲突，里程碑延后',&#10;                    '8 周里程碑按周拆分到人，指导教师把关关键节点，评测闭环优先于功能扩展',&#10;                ],&#10;            ]}&#10;        /&gt;&#10;    &lt;/Box&gt;&#10;&#10;    {/* C 区 · 页脚 */}&#10;    &lt;Box style={{ position: 'relative', zIndex: 2, flexDirection: 'row', justifyContent: 'space-between', alignItems: 'center', marginTop: 8 }}&gt;&#10;        &lt;Text style={{ fontSize: 14, color: '#6E857C', fontFamily: 'Microsoft YaHei' }}&gt;CodePilot Edu · 广西职业师范学院 · ZERO 团队&lt;/Text&gt;&#10;        &lt;Text style={{ fontSize: 14, color: '#6E857C', fontFamily: 'Microsoft YaHei' }}&gt;14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矩形 3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61" name="圆角矩形 360"/>
          <p:cNvSpPr/>
          <p:nvPr/>
        </p:nvSpPr>
        <p:spPr>
          <a:xfrm>
            <a:off x="10191750" y="123825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E6F5EC">
              <a:alpha val="50000"/>
            </a:srgbClr>
          </a:solidFill>
        </p:spPr>
        <p:txBody>
          <a:bodyPr/>
          <a:p/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矩形 362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圆角矩形 366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9" name="圆角矩形 368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圆角矩形 374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876300" y="819150"/>
            <a:ext cx="95821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备用：六类风险已识别，措施已配好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876300" y="1238250"/>
            <a:ext cx="9582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答辩追问时使用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每条风险都有对应控制动作与责任人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圆角矩形 377"/>
          <p:cNvSpPr/>
          <p:nvPr/>
        </p:nvSpPr>
        <p:spPr>
          <a:xfrm>
            <a:off x="10610850" y="971550"/>
            <a:ext cx="914400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10744200" y="1038225"/>
            <a:ext cx="647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备用页</a:t>
            </a: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01</a:t>
            </a:r>
            <a:endParaRPr lang="en-US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圆角矩形 379"/>
          <p:cNvSpPr/>
          <p:nvPr/>
        </p:nvSpPr>
        <p:spPr>
          <a:xfrm>
            <a:off x="666750" y="1485900"/>
            <a:ext cx="10858500" cy="4953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  <a:effectLst>
            <a:outerShdw blurRad="209550" dist="57150" dir="5400000">
              <a:srgbClr val="12523A">
                <a:alpha val="8000"/>
              </a:srgbClr>
            </a:outerShdw>
          </a:effectLst>
        </p:spPr>
        <p:txBody>
          <a:bodyPr/>
          <a:p/>
        </p:txBody>
      </p:sp>
      <p:graphicFrame>
        <p:nvGraphicFramePr>
          <p:cNvPr id="381" name="表格 380"/>
          <p:cNvGraphicFramePr/>
          <p:nvPr/>
        </p:nvGraphicFramePr>
        <p:xfrm>
          <a:off x="781050" y="1581150"/>
          <a:ext cx="10629900" cy="4762500"/>
        </p:xfrm>
        <a:graphic>
          <a:graphicData uri="http://schemas.openxmlformats.org/drawingml/2006/table">
            <a:tbl>
              <a:tblPr/>
              <a:tblGrid>
                <a:gridCol w="933032"/>
                <a:gridCol w="3265612"/>
                <a:gridCol w="6431256"/>
              </a:tblGrid>
              <a:tr h="68035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风险类别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52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风险描述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52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控制措施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523A"/>
                    </a:solidFill>
                  </a:tcPr>
                </a:tc>
              </a:tr>
              <a:tr h="68035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252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需求与付费</a:t>
                      </a:r>
                      <a:endParaRPr sz="1200" b="1">
                        <a:solidFill>
                          <a:srgbClr val="1252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课程单位付费意愿不足，或预算审批周期长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先以免费试点换取真实证据，再用学情报告推动付费决策，单课程金额小、决策链短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035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252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 误诊</a:t>
                      </a:r>
                      <a:endParaRPr sz="1200" b="1">
                        <a:solidFill>
                          <a:srgbClr val="1252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诊断结论出错，或提示中泄露完整答案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事实与推测严格分栏并标注置信度；三级提示只给思路不给代码；教师端可复核与纠正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035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252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评测隔离</a:t>
                      </a:r>
                      <a:endParaRPr sz="1200" b="1">
                        <a:solidFill>
                          <a:srgbClr val="1252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学生代码突破沙箱，影响主机或其他用户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超时、CPU、内存、进程、文件、网络六项限制全部启用，运行期完全断网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035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252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数据授权</a:t>
                      </a:r>
                      <a:endParaRPr sz="1200" b="1">
                        <a:solidFill>
                          <a:srgbClr val="1252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学生作业数据与学情数据的使用边界不清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使用前明确授权范围，数据仅用于本课程教学与统计，不对外提供、不做商业流转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035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252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成本低估</a:t>
                      </a:r>
                      <a:endParaRPr sz="1200" b="1">
                        <a:solidFill>
                          <a:srgbClr val="1252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调用量或人工工时超预期，压缩贡献率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已完成三情景敏感性测试，最坏情景贡献率仍为正；按实际用量按季度复盘调价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035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252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团队资源</a:t>
                      </a:r>
                      <a:endParaRPr sz="1200" b="1">
                        <a:solidFill>
                          <a:srgbClr val="12523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5E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成员课业与项目进度冲突，里程碑延后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2231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 周里程碑按周拆分到人，指导教师把关关键节点，评测闭环优先于功能扩展</a:t>
                      </a:r>
                      <a:endParaRPr sz="1200">
                        <a:solidFill>
                          <a:srgbClr val="2231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66750" y="6515100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14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4" name="" descr="&lt;Slide style={{ background: '#FFFFFF', padding: '36px 70px 24px 70px' }}&gt;&#10;&#10;    &lt;Box style={{ position: 'absolute', left: -110, bottom: -110, width: 320, height: 320, borderRadius: 160, background: '#E6F5EC', opacity: 0.55 }} /&gt;&#10;&#10;    {/* N 区 · 章节导航条（当前：05 教育价值） */}&#10;    &lt;Box style={{ position: 'relative', zIndex: 2, flexDirection: 'row', alignItems: 'center', justifyContent: 'space-between', height: 36 }}&gt;&#10;        &lt;Box style={{ flexDirection: 'row', alignItems: 'center', gap: 10 }}&gt;&#10;            &lt;Text style={{ fontSize: 14, color: '#12523A', fontFamily: 'Microsoft YaHei', fontWeight: 'bold' }}&gt;CodePilot Edu&lt;/Text&gt;&#10;            &lt;Box style={{ width: 1, height: 16, background: '#D3E9DC' }} /&gt;&#10;            &lt;Text style={{ fontSize: 14, color: '#6E857C', fontFamily: 'Microsoft YaHei' }}&gt;第十届中华职业教育创新创业大赛 · 本科组&lt;/Text&gt;&#10;        &lt;/Box&gt;&#10;        &lt;Box style={{ flexDirection: 'row', alignItems: 'center', gap: 8 }}&gt;&#10;            {[['01', '项目背景'], ['02', '技术创新'], ['03', '商业路径'], ['04', '团队规划'], ['05', '教育价值']].map((it, i) =&gt; (&#10;                &lt;Box key={i} style={{ background: i === 4 ? 'linear-gradient(120deg, #12523A 0%, #2FA36B 100%)' : '#E6F5EC', borderRadius: 8, padding: '7px 11px' }}&gt;&#10;                    &lt;Text style={{ fontSize: 14, color: i === 4 ? '#FFFFFF' : '#6E857C', fontFamily: 'Microsoft YaHei', fontWeight: 'bold' }}&gt;{it[0]} {it[1]}&lt;/Text&gt;&#10;                &lt;/Box&gt;&#10;            ))}&#10;        &lt;/Box&gt;&#10;    &lt;/Box&gt;&#10;&#10;    {/* A 区 · 标题块 */}&#10;    &lt;Box style={{ position: 'relative', zIndex: 2, flexDirection: 'row', alignItems: 'center', gap: 16, height: 76, marginTop: 8 }}&gt;&#10;        &lt;Box style={{ width: 6, height: 48, borderRadius: 3, background: '#2FA36B' }} /&gt;&#10;        &lt;Box style={{ flex: 1 }}&gt;&#10;            &lt;Text style={{ fontSize: 34, fontWeight: 'bold', color: '#12523A', fontFamily: 'Microsoft YaHei' }}&gt;备用：评委高频问题与应答&lt;/Text&gt;&#10;            &lt;Text style={{ fontSize: 17, color: '#6E857C', fontFamily: 'Microsoft YaHei', marginTop: 3 }}&gt;答辩环节使用 · 回答均基于已完成事实与公开数据，不做超出阶段的承诺&lt;/Text&gt;&#10;        &lt;/Box&gt;&#10;        &lt;Box style={{ background: '#E6F5EC', padding: '7px 14px', borderRadius: 10 }}&gt;&#10;            &lt;Text style={{ fontSize: 15, color: '#12523A', fontFamily: 'Microsoft YaHei', fontWeight: 'bold' }}&gt;备用页 02&lt;/Text&gt;&#10;        &lt;/Box&gt;&#10;    &lt;/Box&gt;&#10;&#10;    {/* B 区 · 内容 */}&#10;    &lt;Box style={{ position: 'relative', zIndex: 2, height: 520, gap: 12 }}&gt;&#10;        {[&#10;            ['与 PTA、头歌等现有平台有什么区别？', '它们卖整套平台，定位整校整院，采购价 8,500–760,000 元；我们按单门课程交付，1,500 元/学期，且做的是它们不管的错因诊断与分层提示。'],&#10;            ['为什么不直接用 ChatGPT 这类通用 AI？', '通用 AI 直接给完整代码，学生会复制提交，思考被跳过；我们把评测证据接入诊断，事实与推测分栏，三级提示不给答案，最后一步必须学生自己走完。'],&#10;            ['学校凭什么为这个付费？', '付费方是课程单位而非学校层面，金额小、决策链短；换来的是批改人力下降、纠错过程可追溯、教学质量可量化，且价格比整套平台低一到两个数量级。'],&#10;            ['如何保证诊断准确？', '诊断结论以真实评测结果为依据而非凭空生成，事实与推测分栏标注置信度，教师端可复核纠正；离线参考集正在构建，用于持续校准准确度。'],&#10;            ['目前到底完成了什么？', '项目处于立项与初步研发验证阶段：需求调研与竞品分析已完成，技术方案与五层架构已确定，受限评测的安全边界已定义，下一步是打通评测闭环与小规模试点。'],&#10;        ].map((it, i) =&gt; (&#10;            &lt;Box key={i} style={{ flex: 1, background: i === 0 ? '#E6F5EC' : '#FFFFFF', border: i === 0 ? 'none' : '1px solid #D3E9DC', borderRadius: 14, padding: '10px 18px', flexDirection: 'row', gap: 16, alignItems: 'center' }}&gt;&#10;                &lt;Box style={{ width: 40, height: 40, borderRadius: 12, background: i === 0 ? '#FFFFFF' : '#E6F5EC', justifyContent: 'center', alignItems: 'center' }}&gt;&#10;                    &lt;Text style={{ fontSize: 18, color: '#2FA36B', fontWeight: 'bold', fontFamily: 'Consolas' }}&gt;Q{i + 1}&lt;/Text&gt;&#10;                &lt;/Box&gt;&#10;                &lt;Box style={{ flex: 1 }}&gt;&#10;                    &lt;Text style={{ fontSize: 18, color: '#12523A', fontFamily: 'Microsoft YaHei', fontWeight: 'bold' }}&gt;{it[0]}&lt;/Text&gt;&#10;                    &lt;Text style={{ fontSize: 15, color: '#22312B', fontFamily: 'Microsoft YaHei', lineHeight: 1.5, marginTop: 3 }}&gt;{it[1]}&lt;/Text&gt;&#10;                &lt;/Box&gt;&#10;            &lt;/Box&gt;&#10;        ))}&#10;    &lt;/Box&gt;&#10;&#10;    {/* C 区 · 页脚 */}&#10;    &lt;Box style={{ position: 'relative', zIndex: 2, flexDirection: 'row', justifyContent: 'space-between', alignItems: 'center', marginTop: 8 }}&gt;&#10;        &lt;Text style={{ fontSize: 14, color: '#6E857C', fontFamily: 'Microsoft YaHei' }}&gt;CodePilot Edu · 广西职业师范学院 · ZERO 团队&lt;/Text&gt;&#10;        &lt;Text style={{ fontSize: 14, color: '#6E857C', fontFamily: 'Microsoft YaHei' }}&gt;15 / 1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矩形 3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86" name="圆角矩形 385"/>
          <p:cNvSpPr/>
          <p:nvPr/>
        </p:nvSpPr>
        <p:spPr>
          <a:xfrm>
            <a:off x="-1047750" y="485775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E6F5EC">
              <a:alpha val="55000"/>
            </a:srgbClr>
          </a:solidFill>
        </p:spPr>
        <p:txBody>
          <a:bodyPr/>
          <a:p/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666750" y="438150"/>
            <a:ext cx="95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CodePilot Edu</a:t>
            </a:r>
            <a:endParaRPr lang="en-US" sz="10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矩形 387"/>
          <p:cNvSpPr/>
          <p:nvPr/>
        </p:nvSpPr>
        <p:spPr>
          <a:xfrm>
            <a:off x="1714500" y="447675"/>
            <a:ext cx="9525" cy="152400"/>
          </a:xfrm>
          <a:prstGeom prst="rect">
            <a:avLst/>
          </a:prstGeom>
          <a:solidFill>
            <a:srgbClr val="D3E9DC"/>
          </a:solidFill>
        </p:spPr>
        <p:txBody>
          <a:bodyPr/>
          <a:p/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1819275" y="438150"/>
            <a:ext cx="2514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第十届中华职业教育创新创业大赛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本科组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圆角矩形 389"/>
          <p:cNvSpPr/>
          <p:nvPr/>
        </p:nvSpPr>
        <p:spPr>
          <a:xfrm>
            <a:off x="64579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65627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2" name="圆角矩形 391"/>
          <p:cNvSpPr/>
          <p:nvPr/>
        </p:nvSpPr>
        <p:spPr>
          <a:xfrm>
            <a:off x="74866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75914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技术创新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圆角矩形 393"/>
          <p:cNvSpPr/>
          <p:nvPr/>
        </p:nvSpPr>
        <p:spPr>
          <a:xfrm>
            <a:off x="85153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86201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商业路径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圆角矩形 395"/>
          <p:cNvSpPr/>
          <p:nvPr/>
        </p:nvSpPr>
        <p:spPr>
          <a:xfrm>
            <a:off x="9544050" y="371475"/>
            <a:ext cx="952500" cy="295275"/>
          </a:xfrm>
          <a:prstGeom prst="roundRect">
            <a:avLst>
              <a:gd name="adj" fmla="val 25806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96488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团队规划</a:t>
            </a:r>
            <a:endParaRPr lang="zh-CN" sz="1050" b="1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圆角矩形 397"/>
          <p:cNvSpPr/>
          <p:nvPr/>
        </p:nvSpPr>
        <p:spPr>
          <a:xfrm>
            <a:off x="10572750" y="371475"/>
            <a:ext cx="952500" cy="295275"/>
          </a:xfrm>
          <a:prstGeom prst="roundRect">
            <a:avLst>
              <a:gd name="adj" fmla="val 25806"/>
            </a:avLst>
          </a:prstGeom>
          <a:gradFill>
            <a:gsLst>
              <a:gs pos="0">
                <a:srgbClr val="12523A"/>
              </a:gs>
              <a:gs pos="100000">
                <a:srgbClr val="2FA36B"/>
              </a:gs>
            </a:gsLst>
            <a:lin ang="1800000" scaled="1"/>
          </a:gradFill>
        </p:spPr>
        <p:txBody>
          <a:bodyPr/>
          <a:p/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10677525" y="438150"/>
            <a:ext cx="742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教育价值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圆角矩形 399"/>
          <p:cNvSpPr/>
          <p:nvPr/>
        </p:nvSpPr>
        <p:spPr>
          <a:xfrm>
            <a:off x="666750" y="895350"/>
            <a:ext cx="5715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</p:spPr>
        <p:txBody>
          <a:bodyPr/>
          <a:p/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876300" y="819150"/>
            <a:ext cx="95821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备用：评委高频问题与应答</a:t>
            </a:r>
            <a:endParaRPr lang="zh-CN" sz="25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2" name="文本框 401" descr="{&quot;isTemplate&quot;:true,&quot;type&quot;:&quot;text&quot;}"/>
          <p:cNvSpPr txBox="1"/>
          <p:nvPr/>
        </p:nvSpPr>
        <p:spPr>
          <a:xfrm>
            <a:off x="876300" y="1238250"/>
            <a:ext cx="9582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答辩环节使用</a:t>
            </a:r>
            <a:r>
              <a:rPr lang="en-US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回答均基于已完成事实与公开数据，不做超出阶段的承诺</a:t>
            </a:r>
            <a:endParaRPr lang="zh-CN" sz="1275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3" name="圆角矩形 402"/>
          <p:cNvSpPr/>
          <p:nvPr/>
        </p:nvSpPr>
        <p:spPr>
          <a:xfrm>
            <a:off x="10610850" y="971550"/>
            <a:ext cx="914400" cy="304800"/>
          </a:xfrm>
          <a:prstGeom prst="roundRect">
            <a:avLst>
              <a:gd name="adj" fmla="val 3125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10744200" y="1038225"/>
            <a:ext cx="647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备用页</a:t>
            </a:r>
            <a:r>
              <a:rPr lang="en-US" sz="1125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02</a:t>
            </a:r>
            <a:endParaRPr lang="en-US" sz="1125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圆角矩形 404"/>
          <p:cNvSpPr/>
          <p:nvPr/>
        </p:nvSpPr>
        <p:spPr>
          <a:xfrm>
            <a:off x="666750" y="1485900"/>
            <a:ext cx="10858500" cy="847725"/>
          </a:xfrm>
          <a:prstGeom prst="roundRect">
            <a:avLst>
              <a:gd name="adj" fmla="val 1573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06" name="圆角矩形 405"/>
          <p:cNvSpPr/>
          <p:nvPr/>
        </p:nvSpPr>
        <p:spPr>
          <a:xfrm>
            <a:off x="838200" y="172402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933450" y="1809750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Q</a:t>
            </a: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1</a:t>
            </a:r>
            <a:endParaRPr lang="en-US" sz="135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1371600" y="1666875"/>
            <a:ext cx="9982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PTA</a:t>
            </a: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、头歌等现有平台有什么区别？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1371600" y="1905000"/>
            <a:ext cx="9982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它们卖整套平台，定位整校整院，采购价</a:t>
            </a:r>
            <a:r>
              <a:rPr lang="en-US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8,500–760,000 </a:t>
            </a: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元；我们按单门课程交付，</a:t>
            </a:r>
            <a:r>
              <a:rPr lang="en-US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1,500 </a:t>
            </a: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元</a:t>
            </a:r>
            <a:r>
              <a:rPr lang="en-US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学期，且做的是它们不管的错因诊断与分层提示。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666750" y="2447925"/>
            <a:ext cx="10858500" cy="847725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411" name="圆角矩形 410"/>
          <p:cNvSpPr/>
          <p:nvPr/>
        </p:nvSpPr>
        <p:spPr>
          <a:xfrm>
            <a:off x="838200" y="268605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933450" y="2771775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Q</a:t>
            </a: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2</a:t>
            </a:r>
            <a:endParaRPr lang="en-US" sz="135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1371600" y="2628900"/>
            <a:ext cx="9982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为什么不直接用</a:t>
            </a:r>
            <a:r>
              <a:rPr lang="en-US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ChatGPT </a:t>
            </a: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这类通用</a:t>
            </a:r>
            <a:r>
              <a:rPr lang="en-US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 AI</a:t>
            </a: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1371600" y="2867025"/>
            <a:ext cx="9982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通用</a:t>
            </a:r>
            <a:r>
              <a:rPr lang="en-US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直接给完整代码，学生会复制提交，思考被跳过；我们把评测证据接入诊断，事实与推测分栏，三级提示不给答案，最后一步必须学生自己走完。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圆角矩形 414"/>
          <p:cNvSpPr/>
          <p:nvPr/>
        </p:nvSpPr>
        <p:spPr>
          <a:xfrm>
            <a:off x="666750" y="3409950"/>
            <a:ext cx="10858500" cy="847725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416" name="圆角矩形 415"/>
          <p:cNvSpPr/>
          <p:nvPr/>
        </p:nvSpPr>
        <p:spPr>
          <a:xfrm>
            <a:off x="838200" y="364807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933450" y="3733800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Q</a:t>
            </a: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3</a:t>
            </a:r>
            <a:endParaRPr lang="en-US" sz="135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1371600" y="3590925"/>
            <a:ext cx="9982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学校凭什么为这个付费？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1371600" y="3829050"/>
            <a:ext cx="9982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付费方是课程单位而非学校层面，金额小、决策链短；换来的是批改人力下降、纠错过程可追溯、教学质量可量化，且价格比整套平台低一到两个数量级。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0" name="圆角矩形 419"/>
          <p:cNvSpPr/>
          <p:nvPr/>
        </p:nvSpPr>
        <p:spPr>
          <a:xfrm>
            <a:off x="666750" y="4371975"/>
            <a:ext cx="10858500" cy="847725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421" name="圆角矩形 420"/>
          <p:cNvSpPr/>
          <p:nvPr/>
        </p:nvSpPr>
        <p:spPr>
          <a:xfrm>
            <a:off x="838200" y="461010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933450" y="4695825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Q</a:t>
            </a: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4</a:t>
            </a:r>
            <a:endParaRPr lang="en-US" sz="135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1371600" y="4552950"/>
            <a:ext cx="9982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如何保证诊断准确？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1371600" y="4791075"/>
            <a:ext cx="9982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诊断结论以真实评测结果为依据而非凭空生成，事实与推测分栏标注置信度，教师端可复核纠正；离线参考集正在构建，用于持续校准准确度。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圆角矩形 424"/>
          <p:cNvSpPr/>
          <p:nvPr/>
        </p:nvSpPr>
        <p:spPr>
          <a:xfrm>
            <a:off x="666750" y="5334000"/>
            <a:ext cx="10858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3E9DC"/>
            </a:solidFill>
            <a:prstDash val="solid"/>
          </a:ln>
        </p:spPr>
        <p:txBody>
          <a:bodyPr/>
          <a:p/>
        </p:txBody>
      </p:sp>
      <p:sp>
        <p:nvSpPr>
          <p:cNvPr id="426" name="圆角矩形 425"/>
          <p:cNvSpPr/>
          <p:nvPr/>
        </p:nvSpPr>
        <p:spPr>
          <a:xfrm>
            <a:off x="838200" y="569595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E6F5EC"/>
          </a:solidFill>
        </p:spPr>
        <p:txBody>
          <a:bodyPr/>
          <a:p/>
        </p:txBody>
      </p:sp>
      <p:sp>
        <p:nvSpPr>
          <p:cNvPr id="427" name="文本框 426" descr="{&quot;isTemplate&quot;:true,&quot;type&quot;:&quot;text&quot;}"/>
          <p:cNvSpPr txBox="1"/>
          <p:nvPr/>
        </p:nvSpPr>
        <p:spPr>
          <a:xfrm>
            <a:off x="933450" y="5781675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Q</a:t>
            </a:r>
            <a:r>
              <a:rPr lang="en-US" sz="1350" b="1">
                <a:solidFill>
                  <a:srgbClr val="2FA36B"/>
                </a:solidFill>
                <a:latin typeface="Consolas" panose="020B0609020204030204"/>
                <a:ea typeface="Consolas" panose="020B0609020204030204"/>
              </a:rPr>
              <a:t>5</a:t>
            </a:r>
            <a:endParaRPr lang="en-US" sz="1350" b="1">
              <a:solidFill>
                <a:srgbClr val="2FA36B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1371600" y="5514975"/>
            <a:ext cx="9982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523A"/>
                </a:solidFill>
                <a:latin typeface="微软雅黑" panose="020B0503020204020204" charset="-122"/>
                <a:ea typeface="微软雅黑" panose="020B0503020204020204" charset="-122"/>
              </a:rPr>
              <a:t>目前到底完成了什么？</a:t>
            </a:r>
            <a:endParaRPr lang="zh-CN" sz="1350" b="1">
              <a:solidFill>
                <a:srgbClr val="125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1371600" y="5753100"/>
            <a:ext cx="99822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22312B"/>
                </a:solidFill>
                <a:latin typeface="微软雅黑" panose="020B0503020204020204" charset="-122"/>
                <a:ea typeface="微软雅黑" panose="020B0503020204020204" charset="-122"/>
              </a:rPr>
              <a:t>项目处于立项与初步研发验证阶段：需求调研与竞品分析已完成，技术方案与五层架构已确定，受限评测的安全边界已定义，下一步是打通评测闭环与小规模试点。</a:t>
            </a:r>
            <a:endParaRPr lang="zh-CN" sz="1125">
              <a:solidFill>
                <a:srgbClr val="223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666750" y="6515100"/>
            <a:ext cx="2847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CodePilot Edu ·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广西职业师范学院</a:t>
            </a: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 · ZERO </a:t>
            </a:r>
            <a:r>
              <a:rPr lang="zh-CN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团队</a:t>
            </a:r>
            <a:endParaRPr lang="zh-CN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11068050" y="651510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E857C"/>
                </a:solidFill>
                <a:latin typeface="微软雅黑" panose="020B0503020204020204" charset="-122"/>
                <a:ea typeface="微软雅黑" panose="020B0503020204020204" charset="-122"/>
              </a:rPr>
              <a:t>15 / 15</a:t>
            </a:r>
            <a:endParaRPr lang="en-US" sz="1050">
              <a:solidFill>
                <a:srgbClr val="6E857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6596</Words>
  <Application>WPS 演示</Application>
  <PresentationFormat/>
  <Paragraphs>1094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Consolas</vt:lpstr>
      <vt:lpstr>Menlo</vt:lpstr>
      <vt:lpstr>Segoe Print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WPS_1696001982</cp:lastModifiedBy>
  <cp:revision>1</cp:revision>
  <dcterms:created xsi:type="dcterms:W3CDTF">2026-10-24T11:26:15Z</dcterms:created>
  <dcterms:modified xsi:type="dcterms:W3CDTF">2026-10-24T11:26:19Z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{"AIGC":{"Label":"1","ContentProducer":"00119111010856365494821B355","ProduceID":"01a16d75cc9f767894dece36dceacfc1","ReservedCode1":"","ContentPropagator":"00119111010856365494821B355","PropagateID":"01a16d75cc9f767894dece36dceacfc1","ReservedCode2":""}}</vt:lpwstr>
  </property>
  <property fmtid="{D5CDD505-2E9C-101B-9397-08002B2CF9AE}" pid="3" name="KSOProductBuildVer">
    <vt:lpwstr>2052-12.1.0.29158</vt:lpwstr>
  </property>
  <property fmtid="{D5CDD505-2E9C-101B-9397-08002B2CF9AE}" pid="4" name="ICV">
    <vt:lpwstr>DD8AAD9B6E4248EB8BED0266A4EA6283_12</vt:lpwstr>
  </property>
</Properties>
</file>