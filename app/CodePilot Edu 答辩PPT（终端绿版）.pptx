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各位评委好，我们是 ZERO 团队的 CodePilot Edu，AI 分层纠错程序设计实训平台。一句话概括我们的主张：让每一次编程错误，都成为一次真正有效的学习。项目目前具备方案与界面展示基础，下一步是二十个计划席位、四周的一期课堂验证，学期交付验证从二零二七年起分批推进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汇报分五个篇章，对应评审的四个维度。先讲项目背景，说清课堂断层和市场分层；再讲技术创新，展示六步闭环、三个特色和一个完整演示；第三部分商业路径，讲清免费加付费的盈利模式和单位经济账；第四部分团队规划，介绍教授带队的四人分工和五阶段路线；最后回到教育价值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的出发点是课堂观察里的三个断点。学生端：看见失败却不知从何检查，求助时又缺少题目、代码和尝试经过的完整上下文；教师端：只看到最终通过情况，难以判断学生怎样改对。结果是错误被绕过而不是被学会，反馈缺少过程证据。我们的一期课堂验证是二十个计划席位、八道独立题目、四十组基础用例、连续四周、四份周报告，这是计划口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市场我们看得很克制。教育部二零二五年度统计显示，全国普通本科学校一千二百七十八所、年度招生五百零三点七一万人，这只说明教学场景的背景规模，不等同我们的客户或收入。我们的可服务范围是广西及相邻区域里愿意配合适配的院系，逐校确认，不预报客户总量。初期接触就是本校一个课堂、二十个计划席位，先访谈两名教师、十名学生和一名经费联系人，未形成记录前不预设购买意愿比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我们的解决方案是一条六步闭环：学生提交代码，系统执行并给出失败依据，AI 基于证据解释错因并生成分层提示，学生修改重提，教师查看并辅导，全过程留痕。每一步都有产出、都可验证。它带来三个结果：学生得到的是台阶而不是答案，最后一步必须自己走完；教师得到完整证据，讲评可以直接引用；课程得到数据，共性错误自动聚类，不再只凭经验讲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个特色都落在同一个原则上：不给答案，只给证据和台阶。第一，评测证据驱动的结构化诊断，事实栏写可验证的编译状态和输出差异，推测栏标注依据，模型推断单独标记，不替代执行结果。第二，面向自主纠错的分层提示，从知识点引导到逻辑定位再到修正思路，逐级解锁。第三，教师依据过程选择辅导对象和主题，教学判断由教师负责。要说明的是，产品创新落在学习流程与课程服务组织上，我们不主张自研基础模型、原创编译器或独创判题内核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用方案书图二的案例说明怎么教会。任务是计算一到 N 之和，展示代码却把上界写死为十，而且只累加偶数，期望五十五，实际输出三十。第一层提示引导检查循环范围与求和目标是否一致；第二层定位到上界未与 N 关联、if 条件只累加偶数；第三层才给修正思路，让循环覆盖一到 N 全部数字，用小输入比如 N 等于三推演验证，并说明修改原因。三级提示全程不给完整答案。界面里的通过用例、耗时等标记用于展示，我们不据此认定真实课堂成效。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面对成熟平台，我们的态度是诚实。自动评测、AI 辅助与过程可见，同类产品都有，我们不作为独有主张。PTA 有自动评测和混合答疑，头歌有智能评测和大模型诊断，CodeGrade 有可配置 AI 助手，ChatGPT 学习模式有分层解释。我们拟验证的切入点是：同题失败依据、提示与教师辅导衔接的体验，小范围课程适配与持续支持的投入和价值，这些在公开资料里未被确认，正是我们要用课堂验证回答的问题。核查日二零二五年十月二十五日，未登录试用或询价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盈利模式是免费加付费两档主要收入。免费基础功能覆盖练习、评测和课程基础查看，AI 提示受积分、次数和平台预算限制：注册赠十积分，每日合格练习奖两分，AI 提示每次消耗两积分，每人每日最多三次、每月最多十次，免费 AI 年度预算六百到一千二百元逐年封顶。付费方面，学期课程服务包四千八百元一包，覆盖一个班、一门课、四十席、十六周、三十二题；小班专题训练四百九十九元一人，十二人成班，四周二十四课时。需要强调，这些价格与金额都是二零二七到二零二九年的经营情景假设，尚无实际订单或收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单位账算得清。课程包直接成本两千一百元：团队交付人工四十小时乘四十元一小时共一千六百元，模型预算一百元，云资源四百元，毛利两千七百元，毛利率百分之五十六点二五。十二人训练班收入五千九百八十八元，成本三千八百元，主要是外聘师资两千八百八十元，毛利两千一百八十八元。三年基准预测：二零二七年八包四班、收入六万二、利润一千六；二零二九年十八包八班、收入十三万四、利润两万二。启动资源三万元，现金需求一万三千二。保守情景下只有四包两班会亏损一万八千多，应对是先缩减付费扩张、按实测范围重新报价。这些全部是预测口径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技术上是五层架构：Vue 3 前端、FastAPI 接口服务、MySQL 数据存储、独立评测层和兼容 API 的模型服务。技术方案只承担三项服务：可靠呈现评测依据、按需提供解释与提示、把修改过程交给教师查看。安全边界六项：非特权运行、断网、CPU 内存限额、进程与输出限额、临时目录清理、个人信息和密钥不进提示。实际运行能力以核验结果为准，三语言三十份固定错误样例属于技术验证计划，不计作课堂试点成绩。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指导教师李志军教授，有科技项目评审和创业指导经验，指导过大创国家级四项、自治区级八项，ICPC、CCPC、蓝桥杯都有指导经历，曾指导学生获得本大赛广西赛区银奖。团队四人分工明确：我统筹需求和交付确认，林李想负责前后端和评测，黄显涛负责样例测试和演示材料，汪盛淇负责培训报告和质量记录。路线分五阶段：现在是方案与界面展示基础；四季度做一期准备，访谈和配置八道题；随后连续四周课堂验证，二十席位、八题、四份周报告；二零二七年起学期交付验证；二零二八到二九年复盘扩大。各阶段通过后再扩大范围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回到育人。教育价值用三问检验：学生是否能解释修改，教师是否据报告采取行动，课程资源是否被实际复用。评价办法四项：学生理解看修改理由加无提示同类新题；教师采用要区分报告生成与实际用于辅导，试点保留至少两次具体辅导动作；项目实践以四名成员的实际交付件评价；资源复制须完成第二轮真实使用后再认定。我们不预填学习提升或减负比例。我们的主张始终是：让每一次编程错误，都成为一次真正有效的学习。职教育工匠，双创筑梦想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备用页，回应风险追问。六类风险都有应对：获客与订单不达，漏斗是待验证假设，八包目标以试点与采购沟通为前提，未满足则顺延；保守情景亏损一万八千多，先缩减付费扩张、重新报价；学生直接获取答案，用修改理由和无提示新题检查理解；服务容量不足，先查工时余量，不能按时就减单延期；模型与经费波动，免费预算封顶加现金缓冲；学业影响服务窗口，限制并行任务、保留交接材料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这一页预备评委高频问题。与成熟平台的区别：同类能力都有，我们验证的是课程里的衔接体验。为什么不直接用 ChatGPT：它直接给答案，我们证据与推断分开、逐层提示。学校凭什么付费：付费主体是院系或课程经费的假设，课程包四千八、训练班四百九十九，均为情景假设。诊断可靠性：推断与执行依据分开显示，三十份固定样例属技术验证计划。目前完成了什么：已具备方案与界面展示基础，独立运行、教学成效、实际复用与成交仍需验证，我们如实呈现，不超出阶段做承诺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depilot-dabia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depilot-dabia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hero"/>
          <p:cNvGrpSpPr/>
          <p:nvPr/>
        </p:nvGrpSpPr>
        <p:grpSpPr>
          <a:xfrm>
            <a:off x="895350" y="952500"/>
            <a:ext cx="6405658" cy="3490468"/>
            <a:chOff x="895350" y="952500"/>
            <a:chExt cx="6405658" cy="3490468"/>
          </a:xfrm>
        </p:grpSpPr>
        <p:sp>
          <p:nvSpPr>
            <p:cNvPr id="2" name="TextBox 2"/>
            <p:cNvSpPr txBox="1"/>
            <p:nvPr/>
          </p:nvSpPr>
          <p:spPr>
            <a:xfrm>
              <a:off x="908304" y="952500"/>
              <a:ext cx="43819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第十届中华职业教育创新创业大赛（2026）· 学生赛道本科组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03732" y="1289050"/>
              <a:ext cx="3323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&gt;_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1835150"/>
              <a:ext cx="476487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评测证据 </a:t>
              </a:r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新诊断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95350" y="2635250"/>
              <a:ext cx="476487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分层提示 </a:t>
              </a:r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真学习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780" y="3651250"/>
              <a:ext cx="63942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&gt; CodePilot Edu · 让每一次编程错误，都成为一次真正有效的学习</a:t>
              </a:r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3732" y="4032250"/>
              <a:ext cx="375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分层纠错程序设计实训平台</a:t>
              </a:r>
            </a:p>
          </p:txBody>
        </p:sp>
      </p:grpSp>
      <p:grpSp>
        <p:nvGrpSpPr>
          <p:cNvPr id="21" name="status-pills"/>
          <p:cNvGrpSpPr/>
          <p:nvPr/>
        </p:nvGrpSpPr>
        <p:grpSpPr>
          <a:xfrm>
            <a:off x="914400" y="4762500"/>
            <a:ext cx="10363200" cy="495300"/>
            <a:chOff x="914400" y="4762500"/>
            <a:chExt cx="10363200" cy="495300"/>
          </a:xfrm>
        </p:grpSpPr>
        <p:grpSp>
          <p:nvGrpSpPr>
            <p:cNvPr id="12" name="status-phase-1"/>
            <p:cNvGrpSpPr/>
            <p:nvPr/>
          </p:nvGrpSpPr>
          <p:grpSpPr>
            <a:xfrm>
              <a:off x="914400" y="4762500"/>
              <a:ext cx="3200400" cy="495300"/>
              <a:chOff x="914400" y="4762500"/>
              <a:chExt cx="3200400" cy="4953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14400" y="4762500"/>
                <a:ext cx="320040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accent6"/>
              </a:solidFill>
              <a:ln w="14288">
                <a:solidFill>
                  <a:schemeClr val="accent2">
                    <a:alpha val="55000"/>
                  </a:schemeClr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136904" y="4924425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已完成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70304" y="4924425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方案与界面展示</a:t>
                </a:r>
              </a:p>
            </p:txBody>
          </p:sp>
        </p:grpSp>
        <p:grpSp>
          <p:nvGrpSpPr>
            <p:cNvPr id="16" name="status-phase-2"/>
            <p:cNvGrpSpPr/>
            <p:nvPr/>
          </p:nvGrpSpPr>
          <p:grpSpPr>
            <a:xfrm>
              <a:off x="4419600" y="4762500"/>
              <a:ext cx="3352800" cy="495300"/>
              <a:chOff x="4419600" y="4762500"/>
              <a:chExt cx="3352800" cy="4953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419600" y="4762500"/>
                <a:ext cx="335280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accent6"/>
              </a:solidFill>
              <a:ln w="14288">
                <a:solidFill>
                  <a:schemeClr val="accent2">
                    <a:alpha val="55000"/>
                  </a:schemeClr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42104" y="4924425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已具备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175504" y="4924425"/>
                <a:ext cx="151455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一期课堂验证 计划中</a:t>
                </a:r>
              </a:p>
            </p:txBody>
          </p:sp>
        </p:grpSp>
        <p:grpSp>
          <p:nvGrpSpPr>
            <p:cNvPr id="20" name="status-phase-3"/>
            <p:cNvGrpSpPr/>
            <p:nvPr/>
          </p:nvGrpSpPr>
          <p:grpSpPr>
            <a:xfrm>
              <a:off x="8077200" y="4762500"/>
              <a:ext cx="3200400" cy="495300"/>
              <a:chOff x="8077200" y="4762500"/>
              <a:chExt cx="3200400" cy="4953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077200" y="4762500"/>
                <a:ext cx="3200400" cy="495300"/>
              </a:xfrm>
              <a:prstGeom prst="roundRect">
                <a:avLst>
                  <a:gd name="adj" fmla="val 11538"/>
                </a:avLst>
              </a:prstGeom>
              <a:solidFill>
                <a:schemeClr val="accent6"/>
              </a:solidFill>
              <a:ln w="14288">
                <a:solidFill>
                  <a:schemeClr val="accent2">
                    <a:alpha val="35000"/>
                  </a:schemeClr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299704" y="4924425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2">
                        <a:alphaMod val="75000"/>
                      </a:schemeClr>
                    </a:solidFill>
                    <a:latin typeface="+mn-lt"/>
                    <a:ea typeface="+mn-ea"/>
                    <a:cs typeface="+mn-cs"/>
                  </a:rPr>
                  <a:t>规划中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833104" y="4924425"/>
                <a:ext cx="159532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学期交付验证 2027 起</a:t>
                </a:r>
              </a:p>
            </p:txBody>
          </p:sp>
        </p:grpSp>
      </p:grpSp>
      <p:grpSp>
        <p:nvGrpSpPr>
          <p:cNvPr id="25" name="footer"/>
          <p:cNvGrpSpPr/>
          <p:nvPr/>
        </p:nvGrpSpPr>
        <p:grpSpPr>
          <a:xfrm>
            <a:off x="907542" y="5905500"/>
            <a:ext cx="10375773" cy="518033"/>
            <a:chOff x="907542" y="5905500"/>
            <a:chExt cx="10375773" cy="518033"/>
          </a:xfrm>
        </p:grpSpPr>
        <p:sp>
          <p:nvSpPr>
            <p:cNvPr id="22" name="Rectangle 22"/>
            <p:cNvSpPr/>
            <p:nvPr/>
          </p:nvSpPr>
          <p:spPr>
            <a:xfrm>
              <a:off x="914400" y="5905500"/>
              <a:ext cx="1036320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7542" y="6159500"/>
              <a:ext cx="61055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广西职业师范学院 · 计算机与信息工程学院 ｜ ZERO 团队 ｜ 负责人 叶兴楠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13367" y="6184900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accent2">
                      <a:alphaMod val="85000"/>
                    </a:schemeClr>
                  </a:solidFill>
                  <a:latin typeface="Consolas"/>
                  <a:ea typeface="Microsoft YaHei"/>
                  <a:cs typeface="Consolas"/>
                </a:rPr>
                <a:t>职教育工匠，双创筑梦想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toc-left"/>
          <p:cNvGrpSpPr/>
          <p:nvPr/>
        </p:nvGrpSpPr>
        <p:grpSpPr>
          <a:xfrm>
            <a:off x="895350" y="1987550"/>
            <a:ext cx="2291451" cy="1577467"/>
            <a:chOff x="895350" y="1987550"/>
            <a:chExt cx="2291451" cy="1577467"/>
          </a:xfrm>
        </p:grpSpPr>
        <p:sp>
          <p:nvSpPr>
            <p:cNvPr id="2" name="TextBox 2"/>
            <p:cNvSpPr txBox="1"/>
            <p:nvPr/>
          </p:nvSpPr>
          <p:spPr>
            <a:xfrm>
              <a:off x="895350" y="1987550"/>
              <a:ext cx="133045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08304" y="2870200"/>
              <a:ext cx="12112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4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CONTENTS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7923" y="3314700"/>
              <a:ext cx="227887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五个篇章 · 对应评审四维权重</a:t>
              </a:r>
            </a:p>
          </p:txBody>
        </p:sp>
      </p:grpSp>
      <p:grpSp>
        <p:nvGrpSpPr>
          <p:cNvPr id="32" name="toc-list"/>
          <p:cNvGrpSpPr/>
          <p:nvPr/>
        </p:nvGrpSpPr>
        <p:grpSpPr>
          <a:xfrm>
            <a:off x="4469130" y="1028700"/>
            <a:ext cx="6814185" cy="4581525"/>
            <a:chOff x="4469130" y="1028700"/>
            <a:chExt cx="6814185" cy="4581525"/>
          </a:xfrm>
        </p:grpSpPr>
        <p:grpSp>
          <p:nvGrpSpPr>
            <p:cNvPr id="10" name="toc-row-1"/>
            <p:cNvGrpSpPr/>
            <p:nvPr/>
          </p:nvGrpSpPr>
          <p:grpSpPr>
            <a:xfrm>
              <a:off x="4469130" y="1028700"/>
              <a:ext cx="6814185" cy="578231"/>
              <a:chOff x="4469130" y="1028700"/>
              <a:chExt cx="6814185" cy="578231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4476750" y="1028700"/>
                <a:ext cx="6800850" cy="9525"/>
              </a:xfrm>
              <a:prstGeom prst="rect">
                <a:avLst/>
              </a:prstGeom>
              <a:solidFill>
                <a:srgbClr val="D9E5DD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4469130" y="127000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133594" y="12255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项目背景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9138427" y="1308100"/>
                <a:ext cx="214488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断层痛点 · 市场机会与政策驱动</a:t>
                </a:r>
              </a:p>
            </p:txBody>
          </p:sp>
        </p:grpSp>
        <p:grpSp>
          <p:nvGrpSpPr>
            <p:cNvPr id="15" name="toc-row-2"/>
            <p:cNvGrpSpPr/>
            <p:nvPr/>
          </p:nvGrpSpPr>
          <p:grpSpPr>
            <a:xfrm>
              <a:off x="4469130" y="1943100"/>
              <a:ext cx="6814185" cy="578231"/>
              <a:chOff x="4469130" y="1943100"/>
              <a:chExt cx="6814185" cy="578231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4476750" y="1943100"/>
                <a:ext cx="6800850" cy="9525"/>
              </a:xfrm>
              <a:prstGeom prst="rect">
                <a:avLst/>
              </a:prstGeom>
              <a:solidFill>
                <a:srgbClr val="D9E5DD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469130" y="218440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133594" y="21399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技术创新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115811" y="2222500"/>
                <a:ext cx="21675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解决方案 · 核心特色 · 实例演示</a:t>
                </a:r>
              </a:p>
            </p:txBody>
          </p:sp>
        </p:grpSp>
        <p:grpSp>
          <p:nvGrpSpPr>
            <p:cNvPr id="20" name="toc-row-3"/>
            <p:cNvGrpSpPr/>
            <p:nvPr/>
          </p:nvGrpSpPr>
          <p:grpSpPr>
            <a:xfrm>
              <a:off x="4469130" y="2857500"/>
              <a:ext cx="6814185" cy="578231"/>
              <a:chOff x="4469130" y="2857500"/>
              <a:chExt cx="6814185" cy="578231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4476750" y="2857500"/>
                <a:ext cx="6800850" cy="9525"/>
              </a:xfrm>
              <a:prstGeom prst="rect">
                <a:avLst/>
              </a:prstGeom>
              <a:solidFill>
                <a:srgbClr val="D9E5DD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69130" y="309880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133594" y="30543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商业路径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965037" y="3136900"/>
                <a:ext cx="23182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盈利模式 · 财务规划 · 增长与风险</a:t>
                </a:r>
              </a:p>
            </p:txBody>
          </p:sp>
        </p:grpSp>
        <p:grpSp>
          <p:nvGrpSpPr>
            <p:cNvPr id="25" name="toc-row-4"/>
            <p:cNvGrpSpPr/>
            <p:nvPr/>
          </p:nvGrpSpPr>
          <p:grpSpPr>
            <a:xfrm>
              <a:off x="4469130" y="3771900"/>
              <a:ext cx="6814185" cy="578231"/>
              <a:chOff x="4469130" y="3771900"/>
              <a:chExt cx="6814185" cy="578231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4476750" y="3771900"/>
                <a:ext cx="6800850" cy="9525"/>
              </a:xfrm>
              <a:prstGeom prst="rect">
                <a:avLst/>
              </a:prstGeom>
              <a:solidFill>
                <a:srgbClr val="D9E5DD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469130" y="401320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133594" y="39687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团队规划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289202" y="4051300"/>
                <a:ext cx="199411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技术方案 · 团队与五阶段路线</a:t>
                </a:r>
              </a:p>
            </p:txBody>
          </p:sp>
        </p:grpSp>
        <p:grpSp>
          <p:nvGrpSpPr>
            <p:cNvPr id="30" name="toc-row-5"/>
            <p:cNvGrpSpPr/>
            <p:nvPr/>
          </p:nvGrpSpPr>
          <p:grpSpPr>
            <a:xfrm>
              <a:off x="4469130" y="4686300"/>
              <a:ext cx="6814185" cy="578231"/>
              <a:chOff x="4469130" y="4686300"/>
              <a:chExt cx="6814185" cy="578231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476750" y="4686300"/>
                <a:ext cx="6800850" cy="9525"/>
              </a:xfrm>
              <a:prstGeom prst="rect">
                <a:avLst/>
              </a:prstGeom>
              <a:solidFill>
                <a:srgbClr val="D9E5DD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469130" y="492760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133594" y="48831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教育价值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814262" y="4965700"/>
                <a:ext cx="246905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育人本质 · 评价办法 · 大赛主题呼应</a:t>
                </a:r>
              </a:p>
            </p:txBody>
          </p:sp>
        </p:grpSp>
        <p:sp>
          <p:nvSpPr>
            <p:cNvPr id="31" name="Rectangle 31"/>
            <p:cNvSpPr/>
            <p:nvPr/>
          </p:nvSpPr>
          <p:spPr>
            <a:xfrm>
              <a:off x="4476750" y="5600700"/>
              <a:ext cx="680085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</p:grpSp>
      <p:grpSp>
        <p:nvGrpSpPr>
          <p:cNvPr id="35" name="footer"/>
          <p:cNvGrpSpPr/>
          <p:nvPr/>
        </p:nvGrpSpPr>
        <p:grpSpPr>
          <a:xfrm>
            <a:off x="909066" y="6311900"/>
            <a:ext cx="10373868" cy="205359"/>
            <a:chOff x="909066" y="6311900"/>
            <a:chExt cx="103738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909066" y="6311900"/>
              <a:ext cx="30814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CodePilot Edu · 广西职业师范学院 · ZERO 团队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728065" y="631190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04266" y="463550"/>
            <a:ext cx="10983468" cy="205359"/>
            <a:chOff x="604266" y="463550"/>
            <a:chExt cx="10983468" cy="205359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63550"/>
              <a:ext cx="3445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CODEPILOT EDU · 第十届中华职业教育创新创业大赛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50984" y="463550"/>
              <a:ext cx="493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01 项目背景</a:t>
              </a:r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 · 02 技术创新 · 03 商业路径 · 04 团队规划 · 05 教育价值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4360" y="850900"/>
            <a:ext cx="6896100" cy="810133"/>
            <a:chOff x="594360" y="850900"/>
            <a:chExt cx="689610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从「发现错误」到「理解错误」的断层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现有工具止于判定对错，中间这一段无人负责</a:t>
              </a:r>
            </a:p>
          </p:txBody>
        </p:sp>
      </p:grpSp>
      <p:grpSp>
        <p:nvGrpSpPr>
          <p:cNvPr id="31" name="panel-student"/>
          <p:cNvGrpSpPr/>
          <p:nvPr/>
        </p:nvGrpSpPr>
        <p:grpSpPr>
          <a:xfrm>
            <a:off x="609600" y="1790700"/>
            <a:ext cx="5191125" cy="3448050"/>
            <a:chOff x="609600" y="1790700"/>
            <a:chExt cx="5191125" cy="3448050"/>
          </a:xfrm>
        </p:grpSpPr>
        <p:sp>
          <p:nvSpPr>
            <p:cNvPr id="8" name="Rectangle 8"/>
            <p:cNvSpPr/>
            <p:nvPr/>
          </p:nvSpPr>
          <p:spPr>
            <a:xfrm>
              <a:off x="609600" y="1790700"/>
              <a:ext cx="5191125" cy="3448050"/>
            </a:xfrm>
            <a:prstGeom prst="roundRect">
              <a:avLst>
                <a:gd name="adj" fmla="val 3315"/>
              </a:avLst>
            </a:prstGeom>
            <a:solidFill>
              <a:schemeClr val="accent6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42975" y="2052638"/>
              <a:ext cx="133350" cy="200025"/>
              <a:chOff x="942975" y="2052638"/>
              <a:chExt cx="133350" cy="2000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65200" y="20526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42975" y="21859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48156" y="20129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学生端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51204" y="232410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知道错了，却不知道错在哪</a:t>
              </a:r>
            </a:p>
          </p:txBody>
        </p:sp>
        <p:grpSp>
          <p:nvGrpSpPr>
            <p:cNvPr id="18" name="student-pain-1"/>
            <p:cNvGrpSpPr/>
            <p:nvPr/>
          </p:nvGrpSpPr>
          <p:grpSpPr>
            <a:xfrm>
              <a:off x="876300" y="2724150"/>
              <a:ext cx="3817620" cy="520446"/>
              <a:chOff x="876300" y="2724150"/>
              <a:chExt cx="3817620" cy="520446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876300" y="2724150"/>
                <a:ext cx="266700" cy="2667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65444" y="2778125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87780" y="2736850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看见失败，不知检查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89304" y="3009900"/>
                <a:ext cx="34046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看见失败却不知从何检查，报错术语密集难读。</a:t>
                </a:r>
              </a:p>
            </p:txBody>
          </p:sp>
        </p:grpSp>
        <p:grpSp>
          <p:nvGrpSpPr>
            <p:cNvPr id="23" name="student-pain-2"/>
            <p:cNvGrpSpPr/>
            <p:nvPr/>
          </p:nvGrpSpPr>
          <p:grpSpPr>
            <a:xfrm>
              <a:off x="876300" y="3371850"/>
              <a:ext cx="3979164" cy="520446"/>
              <a:chOff x="876300" y="3371850"/>
              <a:chExt cx="3979164" cy="520446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876300" y="3371850"/>
                <a:ext cx="266700" cy="2667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65444" y="3425825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87780" y="338455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求助缺少上下文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89304" y="3657600"/>
                <a:ext cx="3566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求助时缺少题目、代码和尝试经过的完整上下文。</a:t>
                </a:r>
              </a:p>
            </p:txBody>
          </p:sp>
        </p:grpSp>
        <p:grpSp>
          <p:nvGrpSpPr>
            <p:cNvPr id="28" name="student-pain-3"/>
            <p:cNvGrpSpPr/>
            <p:nvPr/>
          </p:nvGrpSpPr>
          <p:grpSpPr>
            <a:xfrm>
              <a:off x="876300" y="4019550"/>
              <a:ext cx="3656076" cy="520446"/>
              <a:chOff x="876300" y="4019550"/>
              <a:chExt cx="3656076" cy="520446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876300" y="4019550"/>
                <a:ext cx="266700" cy="2667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65444" y="4073525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87780" y="4032250"/>
                <a:ext cx="12825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 直接给答案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289304" y="4305300"/>
                <a:ext cx="32430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一次给出完整代码，复制提交，思考被跳过。</a:t>
                </a:r>
              </a:p>
            </p:txBody>
          </p:sp>
        </p:grpSp>
        <p:sp>
          <p:nvSpPr>
            <p:cNvPr id="29" name="Rectangle 29"/>
            <p:cNvSpPr/>
            <p:nvPr/>
          </p:nvSpPr>
          <p:spPr>
            <a:xfrm>
              <a:off x="876300" y="4724400"/>
              <a:ext cx="4657725" cy="9525"/>
            </a:xfrm>
            <a:prstGeom prst="rect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70204" y="487680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结论：错误被「绕过」，而不是被「学会」</a:t>
              </a:r>
            </a:p>
          </p:txBody>
        </p:sp>
      </p:grpSp>
      <p:grpSp>
        <p:nvGrpSpPr>
          <p:cNvPr id="57" name="panel-teacher"/>
          <p:cNvGrpSpPr/>
          <p:nvPr/>
        </p:nvGrpSpPr>
        <p:grpSpPr>
          <a:xfrm>
            <a:off x="6391275" y="1790700"/>
            <a:ext cx="5191125" cy="3448050"/>
            <a:chOff x="6391275" y="1790700"/>
            <a:chExt cx="5191125" cy="3448050"/>
          </a:xfrm>
        </p:grpSpPr>
        <p:sp>
          <p:nvSpPr>
            <p:cNvPr id="32" name="Rectangle 32"/>
            <p:cNvSpPr/>
            <p:nvPr/>
          </p:nvSpPr>
          <p:spPr>
            <a:xfrm>
              <a:off x="6391275" y="1790700"/>
              <a:ext cx="5191125" cy="3448050"/>
            </a:xfrm>
            <a:prstGeom prst="roundRect">
              <a:avLst>
                <a:gd name="adj" fmla="val 3315"/>
              </a:avLst>
            </a:prstGeom>
            <a:solidFill>
              <a:schemeClr val="accent6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691313" y="2052638"/>
              <a:ext cx="200026" cy="200025"/>
              <a:chOff x="6691313" y="205263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713538" y="20526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691313" y="21859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835776" y="205408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858001" y="218765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029831" y="20129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教师端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32879" y="232410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看得见结果，看不见过程</a:t>
              </a:r>
            </a:p>
          </p:txBody>
        </p:sp>
        <p:grpSp>
          <p:nvGrpSpPr>
            <p:cNvPr id="44" name="teacher-pain-1"/>
            <p:cNvGrpSpPr/>
            <p:nvPr/>
          </p:nvGrpSpPr>
          <p:grpSpPr>
            <a:xfrm>
              <a:off x="6657975" y="2724150"/>
              <a:ext cx="3817620" cy="520446"/>
              <a:chOff x="6657975" y="2724150"/>
              <a:chExt cx="3817620" cy="520446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6657975" y="2724150"/>
                <a:ext cx="266700" cy="2667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747119" y="2778125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069455" y="27368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批改量巨大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070979" y="3009900"/>
                <a:ext cx="34046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学生反复提交，逐份阅读的时间成本无法承担。</a:t>
                </a:r>
              </a:p>
            </p:txBody>
          </p:sp>
        </p:grpSp>
        <p:grpSp>
          <p:nvGrpSpPr>
            <p:cNvPr id="49" name="teacher-pain-2"/>
            <p:cNvGrpSpPr/>
            <p:nvPr/>
          </p:nvGrpSpPr>
          <p:grpSpPr>
            <a:xfrm>
              <a:off x="6657975" y="3371850"/>
              <a:ext cx="3817620" cy="520446"/>
              <a:chOff x="6657975" y="3371850"/>
              <a:chExt cx="3817620" cy="520446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6657975" y="3371850"/>
                <a:ext cx="266700" cy="2667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747119" y="3425825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069455" y="3384550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只见通过，不见过程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070979" y="3657600"/>
                <a:ext cx="34046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只看到最终通过情况，难以判断学生怎样改对。</a:t>
                </a:r>
              </a:p>
            </p:txBody>
          </p:sp>
        </p:grpSp>
        <p:grpSp>
          <p:nvGrpSpPr>
            <p:cNvPr id="54" name="teacher-pain-3"/>
            <p:cNvGrpSpPr/>
            <p:nvPr/>
          </p:nvGrpSpPr>
          <p:grpSpPr>
            <a:xfrm>
              <a:off x="6657975" y="4019550"/>
              <a:ext cx="3494532" cy="520446"/>
              <a:chOff x="6657975" y="4019550"/>
              <a:chExt cx="3494532" cy="520446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6657975" y="4019550"/>
                <a:ext cx="266700" cy="266700"/>
              </a:xfrm>
              <a:prstGeom prst="ellipse">
                <a:avLst/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747119" y="4073525"/>
                <a:ext cx="884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3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069455" y="40322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讲评凭经验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070979" y="4305300"/>
                <a:ext cx="30815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缺少共性错误统计，讲评内容只能凭经验。</a:t>
                </a:r>
              </a:p>
            </p:txBody>
          </p:sp>
        </p:grpSp>
        <p:sp>
          <p:nvSpPr>
            <p:cNvPr id="55" name="Rectangle 55"/>
            <p:cNvSpPr/>
            <p:nvPr/>
          </p:nvSpPr>
          <p:spPr>
            <a:xfrm>
              <a:off x="6657975" y="4724400"/>
              <a:ext cx="4657725" cy="9525"/>
            </a:xfrm>
            <a:prstGeom prst="rect">
              <a:avLst/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51879" y="487680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结论：反馈缺少过程证据，无法精准施教</a:t>
              </a:r>
            </a:p>
          </p:txBody>
        </p:sp>
      </p:grpSp>
      <p:grpSp>
        <p:nvGrpSpPr>
          <p:cNvPr id="63" name="scale-band"/>
          <p:cNvGrpSpPr/>
          <p:nvPr/>
        </p:nvGrpSpPr>
        <p:grpSpPr>
          <a:xfrm>
            <a:off x="0" y="5295900"/>
            <a:ext cx="12192000" cy="990600"/>
            <a:chOff x="0" y="5295900"/>
            <a:chExt cx="12192000" cy="990600"/>
          </a:xfrm>
        </p:grpSpPr>
        <p:sp>
          <p:nvSpPr>
            <p:cNvPr id="58" name="Rectangle 58"/>
            <p:cNvSpPr/>
            <p:nvPr/>
          </p:nvSpPr>
          <p:spPr>
            <a:xfrm>
              <a:off x="0" y="5295900"/>
              <a:ext cx="12192000" cy="8953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95350" y="5353050"/>
              <a:ext cx="74889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470023" y="5505450"/>
              <a:ext cx="35109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个计划席位 · 一期课堂验证（本校 1 个课堂）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471166" y="5797550"/>
              <a:ext cx="35020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8 道独立题目 · 40 组基础用例 · 连续 4 周 · 4 份周报告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82356" y="561340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这就是我们要填补的断层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604266" y="6369050"/>
            <a:ext cx="10983468" cy="205359"/>
            <a:chOff x="604266" y="6369050"/>
            <a:chExt cx="10983468" cy="205359"/>
          </a:xfrm>
        </p:grpSpPr>
        <p:sp>
          <p:nvSpPr>
            <p:cNvPr id="64" name="TextBox 64"/>
            <p:cNvSpPr txBox="1"/>
            <p:nvPr/>
          </p:nvSpPr>
          <p:spPr>
            <a:xfrm>
              <a:off x="604266" y="6369050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口径：三个断点来自团队课堂观察（需求判断）；试点规模为一期课堂验证计划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032865" y="636905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04266" y="463550"/>
            <a:ext cx="10983468" cy="205359"/>
            <a:chOff x="604266" y="463550"/>
            <a:chExt cx="10983468" cy="205359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63550"/>
              <a:ext cx="3445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CODEPILOT EDU · 第十届中华职业教育创新创业大赛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50984" y="463550"/>
              <a:ext cx="493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01 项目背景</a:t>
              </a:r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 · 02 技术创新 · 03 商业路径 · 04 团队规划 · 05 教育价值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4360" y="850900"/>
            <a:ext cx="6492240" cy="810133"/>
            <a:chOff x="594360" y="850900"/>
            <a:chExt cx="649224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先做好一间教室，再谈广西相邻区域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市场规模仅作背景说明，可服务范围逐校确认，不预报客户总量</a:t>
              </a:r>
            </a:p>
          </p:txBody>
        </p:sp>
      </p:grpSp>
      <p:grpSp>
        <p:nvGrpSpPr>
          <p:cNvPr id="14" name="edu-stats"/>
          <p:cNvGrpSpPr/>
          <p:nvPr/>
        </p:nvGrpSpPr>
        <p:grpSpPr>
          <a:xfrm>
            <a:off x="590550" y="1924050"/>
            <a:ext cx="5734050" cy="1983359"/>
            <a:chOff x="590550" y="1924050"/>
            <a:chExt cx="5734050" cy="1983359"/>
          </a:xfrm>
        </p:grpSpPr>
        <p:sp>
          <p:nvSpPr>
            <p:cNvPr id="8" name="TextBox 8"/>
            <p:cNvSpPr txBox="1"/>
            <p:nvPr/>
          </p:nvSpPr>
          <p:spPr>
            <a:xfrm>
              <a:off x="590550" y="1924050"/>
              <a:ext cx="181508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1,278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2654300"/>
              <a:ext cx="30396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 · 全国普通本科学校（2025 年度）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" y="306705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D9E5D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1312" y="3149600"/>
              <a:ext cx="163586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503.71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15768" y="3378200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万人 · 年度普通本科招生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4266" y="3702050"/>
              <a:ext cx="35373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教育部 2025 年度统计公报 · 不含专科起点本科与港澳台</a:t>
              </a:r>
            </a:p>
          </p:txBody>
        </p:sp>
      </p:grpSp>
      <p:grpSp>
        <p:nvGrpSpPr>
          <p:cNvPr id="28" name="market-layers"/>
          <p:cNvGrpSpPr/>
          <p:nvPr/>
        </p:nvGrpSpPr>
        <p:grpSpPr>
          <a:xfrm>
            <a:off x="6814185" y="1917700"/>
            <a:ext cx="4768215" cy="2501900"/>
            <a:chOff x="6814185" y="1917700"/>
            <a:chExt cx="4768215" cy="2501900"/>
          </a:xfrm>
        </p:grpSpPr>
        <p:sp>
          <p:nvSpPr>
            <p:cNvPr id="15" name="TextBox 15"/>
            <p:cNvSpPr txBox="1"/>
            <p:nvPr/>
          </p:nvSpPr>
          <p:spPr>
            <a:xfrm>
              <a:off x="6814185" y="19177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三层市场范围</a:t>
              </a:r>
            </a:p>
          </p:txBody>
        </p:sp>
        <p:grpSp>
          <p:nvGrpSpPr>
            <p:cNvPr id="19" name="layer-national"/>
            <p:cNvGrpSpPr/>
            <p:nvPr/>
          </p:nvGrpSpPr>
          <p:grpSpPr>
            <a:xfrm>
              <a:off x="6819900" y="2209800"/>
              <a:ext cx="4762500" cy="628650"/>
              <a:chOff x="6819900" y="2209800"/>
              <a:chExt cx="4762500" cy="6286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819900" y="2209800"/>
                <a:ext cx="4762500" cy="628650"/>
              </a:xfrm>
              <a:prstGeom prst="roundRect">
                <a:avLst>
                  <a:gd name="adj" fmla="val 12121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042023" y="2305050"/>
                <a:ext cx="702208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全国背景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043547" y="2571750"/>
                <a:ext cx="291231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普通本科院校及年度招生，用于说明课程应用基础</a:t>
                </a:r>
              </a:p>
            </p:txBody>
          </p:sp>
        </p:grpSp>
        <p:grpSp>
          <p:nvGrpSpPr>
            <p:cNvPr id="23" name="layer-serviceable"/>
            <p:cNvGrpSpPr/>
            <p:nvPr/>
          </p:nvGrpSpPr>
          <p:grpSpPr>
            <a:xfrm>
              <a:off x="7105650" y="2952750"/>
              <a:ext cx="4191000" cy="628650"/>
              <a:chOff x="7105650" y="2952750"/>
              <a:chExt cx="4191000" cy="6286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105650" y="2952750"/>
                <a:ext cx="4191000" cy="628650"/>
              </a:xfrm>
              <a:prstGeom prst="roundRect">
                <a:avLst>
                  <a:gd name="adj" fmla="val 12121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27773" y="3048000"/>
                <a:ext cx="874522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可服务范围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29297" y="3314700"/>
                <a:ext cx="291231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广西及相邻区域、愿意配合适配的院系，逐校确认</a:t>
                </a:r>
              </a:p>
            </p:txBody>
          </p:sp>
        </p:grpSp>
        <p:grpSp>
          <p:nvGrpSpPr>
            <p:cNvPr id="27" name="layer-initial"/>
            <p:cNvGrpSpPr/>
            <p:nvPr/>
          </p:nvGrpSpPr>
          <p:grpSpPr>
            <a:xfrm>
              <a:off x="7391400" y="3695700"/>
              <a:ext cx="3619500" cy="723900"/>
              <a:chOff x="7391400" y="3695700"/>
              <a:chExt cx="3619500" cy="7239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7391400" y="3695700"/>
                <a:ext cx="3619500" cy="723900"/>
              </a:xfrm>
              <a:prstGeom prst="roundRect">
                <a:avLst>
                  <a:gd name="adj" fmla="val 1052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13523" y="3790950"/>
                <a:ext cx="1979914" cy="250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初期接触 · 本校 1 个课堂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15047" y="4057650"/>
                <a:ext cx="303764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7CE7A2"/>
                    </a:solidFill>
                    <a:latin typeface="+mn-lt"/>
                    <a:ea typeface="+mn-ea"/>
                    <a:cs typeface="+mn-cs"/>
                  </a:rPr>
                  <a:t>20 计划席位 · 访谈 2 教师、10 学生、1 经费联系人</a:t>
                </a:r>
              </a:p>
            </p:txBody>
          </p:sp>
        </p:grpSp>
      </p:grpSp>
      <p:grpSp>
        <p:nvGrpSpPr>
          <p:cNvPr id="35" name="entry-band"/>
          <p:cNvGrpSpPr/>
          <p:nvPr/>
        </p:nvGrpSpPr>
        <p:grpSpPr>
          <a:xfrm>
            <a:off x="0" y="4724400"/>
            <a:ext cx="12192000" cy="1143000"/>
            <a:chOff x="0" y="4724400"/>
            <a:chExt cx="12192000" cy="1143000"/>
          </a:xfrm>
        </p:grpSpPr>
        <p:sp>
          <p:nvSpPr>
            <p:cNvPr id="29" name="Rectangle 29"/>
            <p:cNvSpPr/>
            <p:nvPr/>
          </p:nvSpPr>
          <p:spPr>
            <a:xfrm>
              <a:off x="0" y="4724400"/>
              <a:ext cx="12192000" cy="1143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2742" y="49593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需求验证计划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3885" y="5289550"/>
              <a:ext cx="6193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核对最近一次求助的检查路径、教师现有工具与查看负担、经费联系人认可的采购与验收条件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3885" y="5537200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同时记录不愿使用的原因；未形成这些记录前，不预设购买意愿比例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372600" y="5105400"/>
              <a:ext cx="2209800" cy="3238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631218" y="5184775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访谈先行 · 匿名编号记录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4266" y="6311900"/>
            <a:ext cx="10983468" cy="433959"/>
            <a:chOff x="604266" y="6311900"/>
            <a:chExt cx="10983468" cy="433959"/>
          </a:xfrm>
        </p:grpSpPr>
        <p:sp>
          <p:nvSpPr>
            <p:cNvPr id="36" name="TextBox 36"/>
            <p:cNvSpPr txBox="1"/>
            <p:nvPr/>
          </p:nvSpPr>
          <p:spPr>
            <a:xfrm>
              <a:off x="604266" y="6311900"/>
              <a:ext cx="6936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数据来源：教育部《2025 年全国教育事业发展统计公报》（2026-07-06）；背景规模不等同本项目客户或收入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32865" y="654050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04266" y="463550"/>
            <a:ext cx="10983468" cy="205359"/>
            <a:chOff x="604266" y="463550"/>
            <a:chExt cx="10983468" cy="205359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63550"/>
              <a:ext cx="3445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CODEPILOT EDU · 第十届中华职业教育创新创业大赛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50984" y="463550"/>
              <a:ext cx="493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01 项目背景 · </a:t>
              </a:r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02 技术创新</a:t>
              </a:r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 · 03 商业路径 · 04 团队规划 · 05 教育价值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594360" y="850900"/>
            <a:ext cx="10988040" cy="810133"/>
            <a:chOff x="594360" y="850900"/>
            <a:chExt cx="1098804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六步闭环：把「改对」变成「学会」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每一步都有产出、都可验证，不依赖学生自觉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515600" y="952500"/>
              <a:ext cx="1066800" cy="285750"/>
            </a:xfrm>
            <a:prstGeom prst="roundRect">
              <a:avLst>
                <a:gd name="adj" fmla="val 13333"/>
              </a:avLst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60964" y="10255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功能设计</a:t>
              </a:r>
            </a:p>
          </p:txBody>
        </p:sp>
      </p:grpSp>
      <p:grpSp>
        <p:nvGrpSpPr>
          <p:cNvPr id="20" name="flow-top"/>
          <p:cNvGrpSpPr/>
          <p:nvPr/>
        </p:nvGrpSpPr>
        <p:grpSpPr>
          <a:xfrm>
            <a:off x="609600" y="1866900"/>
            <a:ext cx="10820400" cy="1485900"/>
            <a:chOff x="609600" y="1866900"/>
            <a:chExt cx="10820400" cy="1485900"/>
          </a:xfrm>
        </p:grpSpPr>
        <p:sp>
          <p:nvSpPr>
            <p:cNvPr id="10" name="Freeform 10"/>
            <p:cNvSpPr/>
            <p:nvPr/>
          </p:nvSpPr>
          <p:spPr>
            <a:xfrm>
              <a:off x="609600" y="1866900"/>
              <a:ext cx="3505200" cy="8001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267200" y="1866900"/>
              <a:ext cx="3505200" cy="8001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924800" y="1866900"/>
              <a:ext cx="3505200" cy="8001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004004" y="2139950"/>
              <a:ext cx="10973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1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提交代码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28419" y="2139950"/>
              <a:ext cx="17637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2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执行与失败依据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63896" y="2139950"/>
              <a:ext cx="22080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3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错因解释与分层提示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666" y="28448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产出：原始提交记录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14266" y="2844800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产出：评测结论+输出差异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71866" y="2844800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产出：错因推断+提示记录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1049000" y="2781300"/>
              <a:ext cx="342900" cy="571500"/>
            </a:xfrm>
            <a:prstGeom prst="downArrow">
              <a:avLst/>
            </a:prstGeom>
            <a:solidFill>
              <a:srgbClr val="D9E5DD"/>
            </a:solidFill>
            <a:ln>
              <a:noFill/>
            </a:ln>
          </p:spPr>
        </p:sp>
      </p:grpSp>
      <p:grpSp>
        <p:nvGrpSpPr>
          <p:cNvPr id="22" name="loop-line"/>
          <p:cNvGrpSpPr/>
          <p:nvPr/>
        </p:nvGrpSpPr>
        <p:grpSpPr>
          <a:xfrm>
            <a:off x="419100" y="2286000"/>
            <a:ext cx="1" cy="1657350"/>
            <a:chOff x="419100" y="2286000"/>
            <a:chExt cx="1" cy="1657350"/>
          </a:xfrm>
        </p:grpSpPr>
        <p:sp>
          <p:nvSpPr>
            <p:cNvPr id="21" name="Line 21"/>
            <p:cNvSpPr/>
            <p:nvPr/>
          </p:nvSpPr>
          <p:spPr>
            <a:xfrm flipV="1">
              <a:off x="419100" y="2286000"/>
              <a:ext cx="1" cy="165735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lgDash"/>
              <a:tailEnd type="triangle" w="lg" len="lg"/>
            </a:ln>
          </p:spPr>
        </p:sp>
      </p:grpSp>
      <p:grpSp>
        <p:nvGrpSpPr>
          <p:cNvPr id="32" name="flow-bottom"/>
          <p:cNvGrpSpPr/>
          <p:nvPr/>
        </p:nvGrpSpPr>
        <p:grpSpPr>
          <a:xfrm>
            <a:off x="609600" y="3543300"/>
            <a:ext cx="10820400" cy="1183259"/>
            <a:chOff x="609600" y="3543300"/>
            <a:chExt cx="10820400" cy="1183259"/>
          </a:xfrm>
        </p:grpSpPr>
        <p:sp>
          <p:nvSpPr>
            <p:cNvPr id="23" name="Freeform 23"/>
            <p:cNvSpPr/>
            <p:nvPr/>
          </p:nvSpPr>
          <p:spPr>
            <a:xfrm rot="10800000">
              <a:off x="7924800" y="3543300"/>
              <a:ext cx="3505200" cy="80010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 rot="10800000">
              <a:off x="4267200" y="3543300"/>
              <a:ext cx="3505200" cy="80010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 rot="10800000">
              <a:off x="609600" y="3543300"/>
              <a:ext cx="3505200" cy="80010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5242" y="3816350"/>
              <a:ext cx="13195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4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修改与重提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85519" y="3816350"/>
              <a:ext cx="17637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5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教师查看与辅导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61104" y="3816350"/>
              <a:ext cx="10973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6</a:t>
              </a:r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全程留痕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71866" y="4521200"/>
              <a:ext cx="17846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产出：版本差异+新提交结果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14266" y="4521200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产出：班级概览+单人轨迹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666" y="45212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产出：可复核的过程记录</a:t>
              </a:r>
            </a:p>
          </p:txBody>
        </p:sp>
      </p:grpSp>
      <p:grpSp>
        <p:nvGrpSpPr>
          <p:cNvPr id="55" name="flow-results"/>
          <p:cNvGrpSpPr/>
          <p:nvPr/>
        </p:nvGrpSpPr>
        <p:grpSpPr>
          <a:xfrm>
            <a:off x="603504" y="4876800"/>
            <a:ext cx="9841992" cy="1219200"/>
            <a:chOff x="603504" y="4876800"/>
            <a:chExt cx="9841992" cy="1219200"/>
          </a:xfrm>
        </p:grpSpPr>
        <p:grpSp>
          <p:nvGrpSpPr>
            <p:cNvPr id="38" name="result-student"/>
            <p:cNvGrpSpPr/>
            <p:nvPr/>
          </p:nvGrpSpPr>
          <p:grpSpPr>
            <a:xfrm>
              <a:off x="603504" y="4921250"/>
              <a:ext cx="2450592" cy="837946"/>
              <a:chOff x="603504" y="4921250"/>
              <a:chExt cx="2450592" cy="837946"/>
            </a:xfrm>
          </p:grpSpPr>
          <p:grpSp>
            <p:nvGrpSpPr>
              <p:cNvPr id="35" name="Group 35"/>
              <p:cNvGrpSpPr/>
              <p:nvPr/>
            </p:nvGrpSpPr>
            <p:grpSpPr>
              <a:xfrm>
                <a:off x="676275" y="4948238"/>
                <a:ext cx="133350" cy="200025"/>
                <a:chOff x="676275" y="4948238"/>
                <a:chExt cx="133350" cy="200025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698500" y="4948238"/>
                  <a:ext cx="889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88900">
                      <a:moveTo>
                        <a:pt x="0" y="44450"/>
                      </a:moveTo>
                      <a:cubicBezTo>
                        <a:pt x="0" y="68999"/>
                        <a:pt x="19901" y="88900"/>
                        <a:pt x="44450" y="88900"/>
                      </a:cubicBezTo>
                      <a:cubicBezTo>
                        <a:pt x="68999" y="88900"/>
                        <a:pt x="88900" y="68999"/>
                        <a:pt x="88900" y="44450"/>
                      </a:cubicBezTo>
                      <a:cubicBezTo>
                        <a:pt x="88900" y="19901"/>
                        <a:pt x="68999" y="0"/>
                        <a:pt x="44450" y="0"/>
                      </a:cubicBezTo>
                      <a:cubicBezTo>
                        <a:pt x="19901" y="0"/>
                        <a:pt x="0" y="19901"/>
                        <a:pt x="0" y="44450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676275" y="5081588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66675"/>
                      </a:moveTo>
                      <a:lnTo>
                        <a:pt x="0" y="44450"/>
                      </a:lnTo>
                      <a:cubicBezTo>
                        <a:pt x="0" y="19901"/>
                        <a:pt x="19901" y="0"/>
                        <a:pt x="44450" y="0"/>
                      </a:cubicBezTo>
                      <a:lnTo>
                        <a:pt x="88900" y="0"/>
                      </a:lnTo>
                      <a:cubicBezTo>
                        <a:pt x="113449" y="0"/>
                        <a:pt x="133350" y="19901"/>
                        <a:pt x="133350" y="44450"/>
                      </a:cubicBezTo>
                      <a:lnTo>
                        <a:pt x="133350" y="66675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982218" y="4921250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学生得到台阶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03504" y="5276850"/>
                <a:ext cx="24505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拿到的是提示而不是答案，最后一步</a:t>
                </a:r>
                <a:b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必须自己走完，思考无法被跳过</a:t>
                </a: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4162425" y="4876800"/>
              <a:ext cx="9525" cy="1219200"/>
            </a:xfrm>
            <a:custGeom>
              <a:avLst/>
              <a:gdLst/>
              <a:ahLst/>
              <a:cxnLst/>
              <a:rect l="l" t="t" r="r" b="b"/>
              <a:pathLst>
                <a:path w="9525" h="1219200">
                  <a:moveTo>
                    <a:pt x="0" y="0"/>
                  </a:moveTo>
                  <a:lnTo>
                    <a:pt x="0" y="1219200"/>
                  </a:lnTo>
                </a:path>
              </a:pathLst>
            </a:custGeom>
            <a:noFill/>
            <a:ln w="9525">
              <a:solidFill>
                <a:srgbClr val="D9E5DD"/>
              </a:solidFill>
            </a:ln>
          </p:spPr>
        </p:sp>
        <p:grpSp>
          <p:nvGrpSpPr>
            <p:cNvPr id="45" name="result-teacher"/>
            <p:cNvGrpSpPr/>
            <p:nvPr/>
          </p:nvGrpSpPr>
          <p:grpSpPr>
            <a:xfrm>
              <a:off x="4442079" y="4921250"/>
              <a:ext cx="2450592" cy="837946"/>
              <a:chOff x="4442079" y="4921250"/>
              <a:chExt cx="2450592" cy="837946"/>
            </a:xfrm>
          </p:grpSpPr>
          <p:grpSp>
            <p:nvGrpSpPr>
              <p:cNvPr id="42" name="Group 42"/>
              <p:cNvGrpSpPr/>
              <p:nvPr/>
            </p:nvGrpSpPr>
            <p:grpSpPr>
              <a:xfrm>
                <a:off x="4481513" y="4981575"/>
                <a:ext cx="200026" cy="133350"/>
                <a:chOff x="4481513" y="4981575"/>
                <a:chExt cx="200026" cy="133350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4559300" y="5026025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4481513" y="4981575"/>
                  <a:ext cx="200026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6" h="133350">
                      <a:moveTo>
                        <a:pt x="200026" y="66675"/>
                      </a:moveTo>
                      <a:cubicBezTo>
                        <a:pt x="173355" y="111125"/>
                        <a:pt x="140018" y="133350"/>
                        <a:pt x="100013" y="133350"/>
                      </a:cubicBezTo>
                      <a:cubicBezTo>
                        <a:pt x="60008" y="133350"/>
                        <a:pt x="26670" y="111125"/>
                        <a:pt x="0" y="66675"/>
                      </a:cubicBezTo>
                      <a:cubicBezTo>
                        <a:pt x="26670" y="22225"/>
                        <a:pt x="60008" y="0"/>
                        <a:pt x="100013" y="0"/>
                      </a:cubicBezTo>
                      <a:cubicBezTo>
                        <a:pt x="140018" y="0"/>
                        <a:pt x="173355" y="22225"/>
                        <a:pt x="200026" y="66675"/>
                      </a:cubicBez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4820793" y="4921250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教师得到证据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442079" y="5276850"/>
                <a:ext cx="24505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错误类型、提示层级、修正次数全部</a:t>
                </a:r>
                <a:b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留痕可查，讲评时直接引用</a:t>
                </a:r>
              </a:p>
            </p:txBody>
          </p:sp>
        </p:grpSp>
        <p:sp>
          <p:nvSpPr>
            <p:cNvPr id="46" name="Line 46"/>
            <p:cNvSpPr/>
            <p:nvPr/>
          </p:nvSpPr>
          <p:spPr>
            <a:xfrm>
              <a:off x="7867650" y="4876800"/>
              <a:ext cx="9525" cy="1219200"/>
            </a:xfrm>
            <a:custGeom>
              <a:avLst/>
              <a:gdLst/>
              <a:ahLst/>
              <a:cxnLst/>
              <a:rect l="l" t="t" r="r" b="b"/>
              <a:pathLst>
                <a:path w="9525" h="1219200">
                  <a:moveTo>
                    <a:pt x="0" y="0"/>
                  </a:moveTo>
                  <a:lnTo>
                    <a:pt x="0" y="1219200"/>
                  </a:lnTo>
                </a:path>
              </a:pathLst>
            </a:custGeom>
            <a:noFill/>
            <a:ln w="9525">
              <a:solidFill>
                <a:srgbClr val="D9E5DD"/>
              </a:solidFill>
            </a:ln>
          </p:spPr>
        </p:sp>
        <p:grpSp>
          <p:nvGrpSpPr>
            <p:cNvPr id="54" name="result-course"/>
            <p:cNvGrpSpPr/>
            <p:nvPr/>
          </p:nvGrpSpPr>
          <p:grpSpPr>
            <a:xfrm>
              <a:off x="8147304" y="4921250"/>
              <a:ext cx="2298192" cy="837946"/>
              <a:chOff x="8147304" y="4921250"/>
              <a:chExt cx="2298192" cy="837946"/>
            </a:xfrm>
          </p:grpSpPr>
          <p:grpSp>
            <p:nvGrpSpPr>
              <p:cNvPr id="51" name="Group 51"/>
              <p:cNvGrpSpPr/>
              <p:nvPr/>
            </p:nvGrpSpPr>
            <p:grpSpPr>
              <a:xfrm>
                <a:off x="8186738" y="4959350"/>
                <a:ext cx="200025" cy="187326"/>
                <a:chOff x="8186738" y="4959350"/>
                <a:chExt cx="200025" cy="187326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8186738" y="5048250"/>
                  <a:ext cx="6667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8890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77788"/>
                      </a:lnTo>
                      <a:cubicBezTo>
                        <a:pt x="66675" y="83925"/>
                        <a:pt x="61700" y="88900"/>
                        <a:pt x="55563" y="88900"/>
                      </a:cubicBezTo>
                      <a:lnTo>
                        <a:pt x="11113" y="88900"/>
                      </a:lnTo>
                      <a:cubicBezTo>
                        <a:pt x="4975" y="88900"/>
                        <a:pt x="0" y="83925"/>
                        <a:pt x="0" y="7778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8320088" y="5003800"/>
                  <a:ext cx="6667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33350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122238"/>
                      </a:lnTo>
                      <a:cubicBezTo>
                        <a:pt x="66675" y="128375"/>
                        <a:pt x="61700" y="133350"/>
                        <a:pt x="55563" y="133350"/>
                      </a:cubicBezTo>
                      <a:lnTo>
                        <a:pt x="11113" y="133350"/>
                      </a:lnTo>
                      <a:cubicBezTo>
                        <a:pt x="4975" y="133350"/>
                        <a:pt x="0" y="128375"/>
                        <a:pt x="0" y="12223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253413" y="4959350"/>
                  <a:ext cx="66675" cy="177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77801">
                      <a:moveTo>
                        <a:pt x="0" y="11113"/>
                      </a:moveTo>
                      <a:cubicBezTo>
                        <a:pt x="0" y="4975"/>
                        <a:pt x="4975" y="0"/>
                        <a:pt x="11113" y="0"/>
                      </a:cubicBezTo>
                      <a:lnTo>
                        <a:pt x="55563" y="0"/>
                      </a:lnTo>
                      <a:cubicBezTo>
                        <a:pt x="61700" y="0"/>
                        <a:pt x="66675" y="4975"/>
                        <a:pt x="66675" y="11113"/>
                      </a:cubicBezTo>
                      <a:lnTo>
                        <a:pt x="66675" y="166688"/>
                      </a:lnTo>
                      <a:cubicBezTo>
                        <a:pt x="66675" y="172825"/>
                        <a:pt x="61700" y="177801"/>
                        <a:pt x="55563" y="177801"/>
                      </a:cubicBezTo>
                      <a:lnTo>
                        <a:pt x="11113" y="177801"/>
                      </a:lnTo>
                      <a:cubicBezTo>
                        <a:pt x="4975" y="177801"/>
                        <a:pt x="0" y="172825"/>
                        <a:pt x="0" y="166688"/>
                      </a:cubicBezTo>
                      <a:lnTo>
                        <a:pt x="0" y="11113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8197850" y="5137151"/>
                  <a:ext cx="155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9525">
                      <a:moveTo>
                        <a:pt x="0" y="0"/>
                      </a:moveTo>
                      <a:lnTo>
                        <a:pt x="155575" y="0"/>
                      </a:lnTo>
                    </a:path>
                  </a:pathLst>
                </a:custGeom>
                <a:noFill/>
                <a:ln w="22225">
                  <a:solidFill>
                    <a:schemeClr val="accent1"/>
                  </a:solidFill>
                </a:ln>
              </p:spPr>
            </p:sp>
          </p:grpSp>
          <p:sp>
            <p:nvSpPr>
              <p:cNvPr id="52" name="TextBox 52"/>
              <p:cNvSpPr txBox="1"/>
              <p:nvPr/>
            </p:nvSpPr>
            <p:spPr>
              <a:xfrm>
                <a:off x="8526018" y="4921250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课程得到数据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147304" y="5276850"/>
                <a:ext cx="2298192" cy="482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班级共性错误自动聚类，讲评不再</a:t>
                </a:r>
                <a:b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2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只凭经验，重点难点分布有据可依</a:t>
                </a:r>
              </a:p>
            </p:txBody>
          </p:sp>
        </p:grpSp>
      </p:grpSp>
      <p:grpSp>
        <p:nvGrpSpPr>
          <p:cNvPr id="58" name="footer"/>
          <p:cNvGrpSpPr/>
          <p:nvPr/>
        </p:nvGrpSpPr>
        <p:grpSpPr>
          <a:xfrm>
            <a:off x="604266" y="6369050"/>
            <a:ext cx="10983468" cy="205359"/>
            <a:chOff x="604266" y="6369050"/>
            <a:chExt cx="10983468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604266" y="6369050"/>
              <a:ext cx="5120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口径：六步闭环为功能设计（申报书表 2 环节），验收以演示案例与交付记录为准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32865" y="636905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04266" y="463550"/>
            <a:ext cx="10983468" cy="205359"/>
            <a:chOff x="604266" y="463550"/>
            <a:chExt cx="10983468" cy="205359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63550"/>
              <a:ext cx="3445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CODEPILOT EDU · 第十届中华职业教育创新创业大赛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50984" y="463550"/>
              <a:ext cx="493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01 项目背景 · </a:t>
              </a:r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02 技术创新</a:t>
              </a:r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 · 03 商业路径 · 04 团队规划 · 05 教育价值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594360" y="850900"/>
            <a:ext cx="10988040" cy="810133"/>
            <a:chOff x="594360" y="850900"/>
            <a:chExt cx="1098804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52806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三个特色，都落在一个原则上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42903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不给答案，只给证据和台阶，这是与通用 AI 的分界线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515600" y="952500"/>
              <a:ext cx="1066800" cy="285750"/>
            </a:xfrm>
            <a:prstGeom prst="roundRect">
              <a:avLst>
                <a:gd name="adj" fmla="val 13333"/>
              </a:avLst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60964" y="10255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功能设计</a:t>
              </a:r>
            </a:p>
          </p:txBody>
        </p:sp>
      </p:grpSp>
      <p:grpSp>
        <p:nvGrpSpPr>
          <p:cNvPr id="21" name="feature-evidence"/>
          <p:cNvGrpSpPr/>
          <p:nvPr/>
        </p:nvGrpSpPr>
        <p:grpSpPr>
          <a:xfrm>
            <a:off x="600456" y="2051050"/>
            <a:ext cx="3714369" cy="2959100"/>
            <a:chOff x="600456" y="2051050"/>
            <a:chExt cx="3714369" cy="2959100"/>
          </a:xfrm>
        </p:grpSpPr>
        <p:sp>
          <p:nvSpPr>
            <p:cNvPr id="10" name="TextBox 10"/>
            <p:cNvSpPr txBox="1"/>
            <p:nvPr/>
          </p:nvSpPr>
          <p:spPr>
            <a:xfrm>
              <a:off x="601980" y="20510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237490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评测证据驱动的结构化诊断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3504" y="2743200"/>
              <a:ext cx="27553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事实栏（可验证：编译状态、输出差异）</a:t>
              </a:r>
              <a:b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与推测栏（标注依据）严格分栏；模型</a:t>
              </a:r>
              <a:b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推断单独标记，不替代执行结果</a:t>
              </a:r>
            </a:p>
          </p:txBody>
        </p:sp>
        <p:grpSp>
          <p:nvGrpSpPr>
            <p:cNvPr id="20" name="feature-terminal"/>
            <p:cNvGrpSpPr/>
            <p:nvPr/>
          </p:nvGrpSpPr>
          <p:grpSpPr>
            <a:xfrm>
              <a:off x="609600" y="3867150"/>
              <a:ext cx="3705225" cy="1143000"/>
              <a:chOff x="609600" y="3867150"/>
              <a:chExt cx="3705225" cy="1143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3867150"/>
                <a:ext cx="3705225" cy="1143000"/>
              </a:xfrm>
              <a:prstGeom prst="roundRect">
                <a:avLst>
                  <a:gd name="adj" fmla="val 6667"/>
                </a:avLst>
              </a:prstGeom>
              <a:solidFill>
                <a:srgbClr val="14231B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781050" y="4000500"/>
                <a:ext cx="76200" cy="76200"/>
              </a:xfrm>
              <a:prstGeom prst="ellipse">
                <a:avLst/>
              </a:prstGeom>
              <a:solidFill>
                <a:schemeClr val="accent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914400" y="4000500"/>
                <a:ext cx="76200" cy="76200"/>
              </a:xfrm>
              <a:prstGeom prst="ellipse">
                <a:avLst/>
              </a:prstGeom>
              <a:solidFill>
                <a:schemeClr val="accent2">
                  <a:alpha val="45000"/>
                </a:schemeClr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1047750" y="4000500"/>
                <a:ext cx="76200" cy="76200"/>
              </a:xfrm>
              <a:prstGeom prst="ellipse">
                <a:avLst/>
              </a:prstGeom>
              <a:solidFill>
                <a:schemeClr val="accent2">
                  <a:alpha val="25000"/>
                </a:scheme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13816" y="4216400"/>
                <a:ext cx="243483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7CE7A2"/>
                    </a:solidFill>
                    <a:latin typeface="Consolas"/>
                    <a:ea typeface="Microsoft YaHei"/>
                    <a:cs typeface="Consolas"/>
                  </a:rPr>
                  <a:t>事实 编译通过 · 输出 30 · 期望 55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13816" y="4483100"/>
                <a:ext cx="17846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7E8DD">
                        <a:alphaMod val="85000"/>
                      </a:srgbClr>
                    </a:solidFill>
                    <a:latin typeface="Consolas"/>
                    <a:ea typeface="Microsoft YaHei"/>
                    <a:cs typeface="Consolas"/>
                  </a:rPr>
                  <a:t>推测 上界写死且仅累加偶数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14197" y="4724400"/>
                <a:ext cx="159303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6F64"/>
                    </a:solidFill>
                    <a:latin typeface="Consolas"/>
                    <a:ea typeface="Microsoft YaHei"/>
                    <a:cs typeface="Consolas"/>
                  </a:rPr>
                  <a:t>依据：求和目标与条件不符</a:t>
                </a:r>
              </a:p>
            </p:txBody>
          </p:sp>
        </p:grpSp>
      </p:grpSp>
      <p:grpSp>
        <p:nvGrpSpPr>
          <p:cNvPr id="33" name="feature-hints"/>
          <p:cNvGrpSpPr/>
          <p:nvPr/>
        </p:nvGrpSpPr>
        <p:grpSpPr>
          <a:xfrm>
            <a:off x="4305681" y="2051050"/>
            <a:ext cx="3361944" cy="3245993"/>
            <a:chOff x="4305681" y="2051050"/>
            <a:chExt cx="3361944" cy="3245993"/>
          </a:xfrm>
        </p:grpSpPr>
        <p:sp>
          <p:nvSpPr>
            <p:cNvPr id="22" name="TextBox 22"/>
            <p:cNvSpPr txBox="1"/>
            <p:nvPr/>
          </p:nvSpPr>
          <p:spPr>
            <a:xfrm>
              <a:off x="4307205" y="20510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05681" y="237490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面向自主纠错的分层提示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08729" y="2743200"/>
              <a:ext cx="232867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L1 知识点引导 → L2 逻辑定位 → L3</a:t>
              </a:r>
              <a:b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修正思路，逐级请求解锁，默认</a:t>
              </a:r>
              <a:b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不直接给整题答案</a:t>
              </a:r>
            </a:p>
          </p:txBody>
        </p:sp>
        <p:grpSp>
          <p:nvGrpSpPr>
            <p:cNvPr id="32" name="feature-stairs"/>
            <p:cNvGrpSpPr/>
            <p:nvPr/>
          </p:nvGrpSpPr>
          <p:grpSpPr>
            <a:xfrm>
              <a:off x="4500372" y="4267200"/>
              <a:ext cx="3167253" cy="1029843"/>
              <a:chOff x="4500372" y="4267200"/>
              <a:chExt cx="3167253" cy="1029843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505325" y="4724400"/>
                <a:ext cx="990600" cy="285750"/>
              </a:xfrm>
              <a:prstGeom prst="roundRect">
                <a:avLst>
                  <a:gd name="adj" fmla="val 13333"/>
                </a:avLst>
              </a:prstGeom>
              <a:solidFill>
                <a:schemeClr val="accent2">
                  <a:alpha val="35000"/>
                </a:scheme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913147" y="4787900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L1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5591175" y="4495800"/>
                <a:ext cx="990600" cy="514350"/>
              </a:xfrm>
              <a:prstGeom prst="roundRect">
                <a:avLst>
                  <a:gd name="adj" fmla="val 7407"/>
                </a:avLst>
              </a:prstGeom>
              <a:solidFill>
                <a:schemeClr val="accent2"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5998997" y="4673600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L2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6677025" y="4267200"/>
                <a:ext cx="990600" cy="742950"/>
              </a:xfrm>
              <a:prstGeom prst="roundRect">
                <a:avLst>
                  <a:gd name="adj" fmla="val 5128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084847" y="4559300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L3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500372" y="5105400"/>
                <a:ext cx="238460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台阶逐级升高，答案始终在学生自己手里</a:t>
                </a:r>
              </a:p>
            </p:txBody>
          </p:sp>
        </p:grpSp>
      </p:grpSp>
      <p:grpSp>
        <p:nvGrpSpPr>
          <p:cNvPr id="48" name="feature-feedback"/>
          <p:cNvGrpSpPr/>
          <p:nvPr/>
        </p:nvGrpSpPr>
        <p:grpSpPr>
          <a:xfrm>
            <a:off x="8010906" y="2051050"/>
            <a:ext cx="3514344" cy="3169793"/>
            <a:chOff x="8010906" y="2051050"/>
            <a:chExt cx="3514344" cy="3169793"/>
          </a:xfrm>
        </p:grpSpPr>
        <p:sp>
          <p:nvSpPr>
            <p:cNvPr id="34" name="TextBox 34"/>
            <p:cNvSpPr txBox="1"/>
            <p:nvPr/>
          </p:nvSpPr>
          <p:spPr>
            <a:xfrm>
              <a:off x="8012430" y="20510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0906" y="23749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依据过程选择辅导的教学反馈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13954" y="2743200"/>
              <a:ext cx="21457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教师查看学生尝试、求助和修改</a:t>
              </a:r>
              <a:b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过程，依据过程选择辅导对象</a:t>
              </a:r>
              <a:b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和主题，教学判断由教师负责</a:t>
              </a:r>
            </a:p>
          </p:txBody>
        </p:sp>
        <p:grpSp>
          <p:nvGrpSpPr>
            <p:cNvPr id="47" name="feature-trace"/>
            <p:cNvGrpSpPr/>
            <p:nvPr/>
          </p:nvGrpSpPr>
          <p:grpSpPr>
            <a:xfrm>
              <a:off x="8205597" y="4400550"/>
              <a:ext cx="3319653" cy="820293"/>
              <a:chOff x="8205597" y="4400550"/>
              <a:chExt cx="3319653" cy="820293"/>
            </a:xfrm>
          </p:grpSpPr>
          <p:sp>
            <p:nvSpPr>
              <p:cNvPr id="37" name="Line 37"/>
              <p:cNvSpPr/>
              <p:nvPr/>
            </p:nvSpPr>
            <p:spPr>
              <a:xfrm>
                <a:off x="8210550" y="4476750"/>
                <a:ext cx="3314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14700" h="9525">
                    <a:moveTo>
                      <a:pt x="0" y="0"/>
                    </a:moveTo>
                    <a:lnTo>
                      <a:pt x="33147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8296275" y="44100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9363075" y="44100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10429875" y="44100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11296650" y="4400550"/>
                <a:ext cx="152400" cy="152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226069" y="4648200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提交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292869" y="4648200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提示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359669" y="4648200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修改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1235969" y="4648200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通过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205597" y="5029200"/>
                <a:ext cx="212074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单人轨迹按时间连接每次尝试的依据</a:t>
                </a:r>
              </a:p>
            </p:txBody>
          </p:sp>
        </p:grpSp>
      </p:grpSp>
      <p:grpSp>
        <p:nvGrpSpPr>
          <p:cNvPr id="51" name="evidence-band"/>
          <p:cNvGrpSpPr/>
          <p:nvPr/>
        </p:nvGrpSpPr>
        <p:grpSpPr>
          <a:xfrm>
            <a:off x="0" y="5543550"/>
            <a:ext cx="12192000" cy="533400"/>
            <a:chOff x="0" y="5543550"/>
            <a:chExt cx="12192000" cy="533400"/>
          </a:xfrm>
        </p:grpSpPr>
        <p:sp>
          <p:nvSpPr>
            <p:cNvPr id="49" name="Rectangle 49"/>
            <p:cNvSpPr/>
            <p:nvPr/>
          </p:nvSpPr>
          <p:spPr>
            <a:xfrm>
              <a:off x="0" y="5543550"/>
              <a:ext cx="12192000" cy="533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03504" y="5715000"/>
              <a:ext cx="7443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创新边界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产品创新落在学习流程与课程服务组织上，不主张自研基础模型、原创编译器或独创判题内核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604266" y="6311900"/>
            <a:ext cx="10983468" cy="433959"/>
            <a:chOff x="604266" y="6311900"/>
            <a:chExt cx="10983468" cy="433959"/>
          </a:xfrm>
        </p:grpSpPr>
        <p:sp>
          <p:nvSpPr>
            <p:cNvPr id="52" name="TextBox 52"/>
            <p:cNvSpPr txBox="1"/>
            <p:nvPr/>
          </p:nvSpPr>
          <p:spPr>
            <a:xfrm>
              <a:off x="604266" y="6311900"/>
              <a:ext cx="67955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边界：提示围绕本次失败给局部检查方向；原题通过不能单独证明理解，还需无提示同类新题与修改理由评价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32865" y="654050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04266" y="463550"/>
            <a:ext cx="10983468" cy="205359"/>
            <a:chOff x="604266" y="463550"/>
            <a:chExt cx="10983468" cy="205359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63550"/>
              <a:ext cx="3445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CODEPILOT EDU · 第十届中华职业教育创新创业大赛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50984" y="463550"/>
              <a:ext cx="493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01 项目背景 · </a:t>
              </a:r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02 技术创新</a:t>
              </a:r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 · 03 商业路径 · 04 团队规划 · 05 教育价值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594360" y="850900"/>
            <a:ext cx="10988040" cy="810133"/>
            <a:chOff x="594360" y="850900"/>
            <a:chExt cx="1098804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96408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实例演示：「1 到 N 求和」怎么被教会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先引导检查循环范围，再定位条件与累加语句，最后给小输入推演方向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372600" y="952500"/>
              <a:ext cx="2209800" cy="285750"/>
            </a:xfrm>
            <a:prstGeom prst="roundRect">
              <a:avLst>
                <a:gd name="adj" fmla="val 13333"/>
              </a:avLst>
            </a:prstGeom>
            <a:solidFill>
              <a:srgbClr val="14231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29265" y="1038225"/>
              <a:ext cx="18964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CE7A2"/>
                  </a:solidFill>
                  <a:latin typeface="Consolas"/>
                  <a:ea typeface="Microsoft YaHei"/>
                  <a:cs typeface="Consolas"/>
                </a:rPr>
                <a:t>图 2 分层提示界面 · 演示说明</a:t>
              </a:r>
            </a:p>
          </p:txBody>
        </p:sp>
      </p:grpSp>
      <p:grpSp>
        <p:nvGrpSpPr>
          <p:cNvPr id="27" name="code-panel"/>
          <p:cNvGrpSpPr/>
          <p:nvPr/>
        </p:nvGrpSpPr>
        <p:grpSpPr>
          <a:xfrm>
            <a:off x="609600" y="1790700"/>
            <a:ext cx="5715000" cy="2667000"/>
            <a:chOff x="609600" y="1790700"/>
            <a:chExt cx="5715000" cy="2667000"/>
          </a:xfrm>
        </p:grpSpPr>
        <p:sp>
          <p:nvSpPr>
            <p:cNvPr id="10" name="Rectangle 10"/>
            <p:cNvSpPr/>
            <p:nvPr/>
          </p:nvSpPr>
          <p:spPr>
            <a:xfrm>
              <a:off x="609600" y="1790700"/>
              <a:ext cx="5715000" cy="2667000"/>
            </a:xfrm>
            <a:prstGeom prst="roundRect">
              <a:avLst>
                <a:gd name="adj" fmla="val 3571"/>
              </a:avLst>
            </a:prstGeom>
            <a:solidFill>
              <a:srgbClr val="14231B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09625" y="1971675"/>
              <a:ext cx="95250" cy="95250"/>
            </a:xfrm>
            <a:prstGeom prst="ellipse">
              <a:avLst/>
            </a:prstGeom>
            <a:solidFill>
              <a:schemeClr val="accent2">
                <a:alpha val="85000"/>
              </a:scheme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62025" y="1971675"/>
              <a:ext cx="95250" cy="95250"/>
            </a:xfrm>
            <a:prstGeom prst="ellipse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114425" y="1971675"/>
              <a:ext cx="95250" cy="95250"/>
            </a:xfrm>
            <a:prstGeom prst="ellipse">
              <a:avLst/>
            </a:prstGeom>
            <a:solidFill>
              <a:schemeClr val="accent2">
                <a:alpha val="28000"/>
              </a:scheme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28547" y="1952625"/>
              <a:ext cx="12497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demo_sum_1_to_N.c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2171700"/>
              <a:ext cx="5715000" cy="9525"/>
            </a:xfrm>
            <a:prstGeom prst="rect">
              <a:avLst/>
            </a:prstGeom>
            <a:solidFill>
              <a:schemeClr val="lt1">
                <a:alpha val="8000"/>
              </a:schemeClr>
            </a:solidFill>
            <a:ln>
              <a:noFill/>
            </a:ln>
          </p:spPr>
        </p:sp>
        <p:grpSp>
          <p:nvGrpSpPr>
            <p:cNvPr id="26" name="code-lines"/>
            <p:cNvGrpSpPr/>
            <p:nvPr/>
          </p:nvGrpSpPr>
          <p:grpSpPr>
            <a:xfrm>
              <a:off x="762000" y="2298700"/>
              <a:ext cx="5334000" cy="2044446"/>
              <a:chOff x="762000" y="2298700"/>
              <a:chExt cx="5334000" cy="2044446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32104" y="2298700"/>
                <a:ext cx="161147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#include &lt;stdio.h&gt;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2104" y="2546350"/>
                <a:ext cx="10783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>int main() {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2104" y="2794000"/>
                <a:ext cx="162958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>int N = 10, s = 0;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762000" y="3048000"/>
                <a:ext cx="5334000" cy="247650"/>
              </a:xfrm>
              <a:prstGeom prst="rect">
                <a:avLst/>
              </a:prstGeom>
              <a:solidFill>
                <a:srgbClr val="B4232A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32104" y="3089275"/>
                <a:ext cx="276651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 xml:space="preserve">for (int i = 1; </a:t>
                </a:r>
                <a:r>
                  <a:rPr lang="en-US" sz="1200" b="1" dirty="0">
                    <a:solidFill>
                      <a:srgbClr val="FF9B9B"/>
                    </a:solidFill>
                    <a:latin typeface="Consolas"/>
                    <a:ea typeface="Consolas"/>
                    <a:cs typeface="Consolas"/>
                  </a:rPr>
                  <a:t>i &lt;= 10</a:t>
                </a:r>
                <a:r>
                  <a:rPr lang="en-US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>; i++) {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762000" y="3295650"/>
                <a:ext cx="5334000" cy="247650"/>
              </a:xfrm>
              <a:prstGeom prst="rect">
                <a:avLst/>
              </a:prstGeom>
              <a:solidFill>
                <a:srgbClr val="B4232A">
                  <a:alpha val="16000"/>
                </a:srgb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32104" y="3336925"/>
                <a:ext cx="20557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rgbClr val="FF9B9B"/>
                    </a:solidFill>
                    <a:latin typeface="Consolas"/>
                    <a:ea typeface="Consolas"/>
                    <a:cs typeface="Consolas"/>
                  </a:rPr>
                  <a:t>if (i % 2 == 0)</a:t>
                </a:r>
                <a:r>
                  <a:rPr lang="en-US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 xml:space="preserve"> s += i;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32104" y="3584575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>}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32104" y="3832225"/>
                <a:ext cx="143377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>printf(</a:t>
                </a:r>
                <a:r>
                  <a:rPr lang="en-US" sz="120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"%d"</a:t>
                </a:r>
                <a:r>
                  <a:rPr lang="en-US" sz="1200" dirty="0">
                    <a:solidFill>
                      <a:srgbClr val="D7E8DD"/>
                    </a:solidFill>
                    <a:latin typeface="Consolas"/>
                    <a:ea typeface="Consolas"/>
                    <a:cs typeface="Consolas"/>
                  </a:rPr>
                  <a:t>, s);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32104" y="4108450"/>
                <a:ext cx="31865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F64"/>
                    </a:solidFill>
                    <a:latin typeface="Consolas"/>
                    <a:ea typeface="Microsoft YaHei"/>
                    <a:cs typeface="Consolas"/>
                  </a:rPr>
                  <a:t>/* 期望 1+2+…+10 = 55，实际输出 30 */</a:t>
                </a:r>
              </a:p>
            </p:txBody>
          </p:sp>
        </p:grpSp>
      </p:grpSp>
      <p:grpSp>
        <p:nvGrpSpPr>
          <p:cNvPr id="30" name="evidence-row"/>
          <p:cNvGrpSpPr/>
          <p:nvPr/>
        </p:nvGrpSpPr>
        <p:grpSpPr>
          <a:xfrm>
            <a:off x="609600" y="4552950"/>
            <a:ext cx="5715000" cy="381000"/>
            <a:chOff x="609600" y="4552950"/>
            <a:chExt cx="5715000" cy="381000"/>
          </a:xfrm>
        </p:grpSpPr>
        <p:sp>
          <p:nvSpPr>
            <p:cNvPr id="28" name="Rectangle 28"/>
            <p:cNvSpPr/>
            <p:nvPr/>
          </p:nvSpPr>
          <p:spPr>
            <a:xfrm>
              <a:off x="609600" y="4552950"/>
              <a:ext cx="5715000" cy="381000"/>
            </a:xfrm>
            <a:prstGeom prst="roundRect">
              <a:avLst>
                <a:gd name="adj" fmla="val 15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2485" y="4660900"/>
              <a:ext cx="3818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评测证据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期望 55 · 实际 30 · 编译通过 · 仅偶数被累加</a:t>
              </a:r>
            </a:p>
          </p:txBody>
        </p:sp>
      </p:grpSp>
      <p:grpSp>
        <p:nvGrpSpPr>
          <p:cNvPr id="40" name="screenshot-placeholder"/>
          <p:cNvGrpSpPr/>
          <p:nvPr/>
        </p:nvGrpSpPr>
        <p:grpSpPr>
          <a:xfrm>
            <a:off x="6629400" y="1790700"/>
            <a:ext cx="4953000" cy="3124200"/>
            <a:chOff x="6629400" y="1790700"/>
            <a:chExt cx="4953000" cy="3124200"/>
          </a:xfrm>
        </p:grpSpPr>
        <p:sp>
          <p:nvSpPr>
            <p:cNvPr id="31" name="Rectangle 31"/>
            <p:cNvSpPr/>
            <p:nvPr/>
          </p:nvSpPr>
          <p:spPr>
            <a:xfrm>
              <a:off x="6629400" y="1790700"/>
              <a:ext cx="4953000" cy="3124200"/>
            </a:xfrm>
            <a:prstGeom prst="roundRect">
              <a:avLst>
                <a:gd name="adj" fmla="val 3659"/>
              </a:avLst>
            </a:prstGeom>
            <a:solidFill>
              <a:schemeClr val="accent6">
                <a:alpha val="50000"/>
              </a:schemeClr>
            </a:solidFill>
            <a:ln w="19050">
              <a:solidFill>
                <a:schemeClr val="accent2"/>
              </a:solidFill>
              <a:custDash>
                <a:ds d="300000" sp="300000"/>
              </a:custDash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905875" y="2828925"/>
              <a:ext cx="400050" cy="400049"/>
              <a:chOff x="8905875" y="2828925"/>
              <a:chExt cx="400050" cy="40004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172575" y="2940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22" y="0"/>
                    </a:lnTo>
                  </a:path>
                </a:pathLst>
              </a:custGeom>
              <a:noFill/>
              <a:ln w="33337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905875" y="2828925"/>
                <a:ext cx="400049" cy="400049"/>
              </a:xfrm>
              <a:custGeom>
                <a:avLst/>
                <a:gdLst/>
                <a:ahLst/>
                <a:cxnLst/>
                <a:rect l="l" t="t" r="r" b="b"/>
                <a:pathLst>
                  <a:path w="400049" h="400049">
                    <a:moveTo>
                      <a:pt x="0" y="66675"/>
                    </a:moveTo>
                    <a:cubicBezTo>
                      <a:pt x="0" y="29851"/>
                      <a:pt x="29851" y="0"/>
                      <a:pt x="66675" y="0"/>
                    </a:cubicBezTo>
                    <a:lnTo>
                      <a:pt x="333375" y="0"/>
                    </a:lnTo>
                    <a:cubicBezTo>
                      <a:pt x="370198" y="0"/>
                      <a:pt x="400049" y="29851"/>
                      <a:pt x="400049" y="66675"/>
                    </a:cubicBezTo>
                    <a:lnTo>
                      <a:pt x="400049" y="333375"/>
                    </a:lnTo>
                    <a:cubicBezTo>
                      <a:pt x="400049" y="370198"/>
                      <a:pt x="370198" y="400049"/>
                      <a:pt x="333375" y="400049"/>
                    </a:cubicBezTo>
                    <a:lnTo>
                      <a:pt x="66675" y="400049"/>
                    </a:lnTo>
                    <a:cubicBezTo>
                      <a:pt x="29851" y="400049"/>
                      <a:pt x="0" y="370198"/>
                      <a:pt x="0" y="333375"/>
                    </a:cubicBezTo>
                    <a:lnTo>
                      <a:pt x="0" y="66675"/>
                    </a:lnTo>
                  </a:path>
                </a:pathLst>
              </a:custGeom>
              <a:noFill/>
              <a:ln w="33337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905875" y="2986878"/>
                <a:ext cx="288925" cy="130972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130972">
                    <a:moveTo>
                      <a:pt x="0" y="130972"/>
                    </a:moveTo>
                    <a:lnTo>
                      <a:pt x="111125" y="19847"/>
                    </a:lnTo>
                    <a:cubicBezTo>
                      <a:pt x="131750" y="0"/>
                      <a:pt x="157175" y="0"/>
                      <a:pt x="177800" y="19847"/>
                    </a:cubicBezTo>
                    <a:lnTo>
                      <a:pt x="288925" y="130972"/>
                    </a:lnTo>
                  </a:path>
                </a:pathLst>
              </a:custGeom>
              <a:noFill/>
              <a:ln w="33337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150350" y="3031328"/>
                <a:ext cx="155575" cy="86522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6522">
                    <a:moveTo>
                      <a:pt x="0" y="42072"/>
                    </a:moveTo>
                    <a:lnTo>
                      <a:pt x="22225" y="19847"/>
                    </a:lnTo>
                    <a:cubicBezTo>
                      <a:pt x="42850" y="0"/>
                      <a:pt x="68275" y="0"/>
                      <a:pt x="88900" y="19847"/>
                    </a:cubicBezTo>
                    <a:lnTo>
                      <a:pt x="155575" y="86522"/>
                    </a:lnTo>
                  </a:path>
                </a:pathLst>
              </a:custGeom>
              <a:noFill/>
              <a:ln w="33337">
                <a:solidFill>
                  <a:schemeClr val="accent2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917752" y="349250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此处插入：分层提示界面截图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32983" y="3797300"/>
              <a:ext cx="29458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对应方案书图 2 ·「1 到 N 求和」提示展示界面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3136" y="402590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答辩前替换真实界面截图</a:t>
              </a:r>
            </a:p>
          </p:txBody>
        </p:sp>
      </p:grpSp>
      <p:grpSp>
        <p:nvGrpSpPr>
          <p:cNvPr id="59" name="hint-cards"/>
          <p:cNvGrpSpPr/>
          <p:nvPr/>
        </p:nvGrpSpPr>
        <p:grpSpPr>
          <a:xfrm>
            <a:off x="609600" y="4991100"/>
            <a:ext cx="11115675" cy="1181100"/>
            <a:chOff x="609600" y="4991100"/>
            <a:chExt cx="11115675" cy="1181100"/>
          </a:xfrm>
        </p:grpSpPr>
        <p:grpSp>
          <p:nvGrpSpPr>
            <p:cNvPr id="46" name="hint-l1"/>
            <p:cNvGrpSpPr/>
            <p:nvPr/>
          </p:nvGrpSpPr>
          <p:grpSpPr>
            <a:xfrm>
              <a:off x="609600" y="4991100"/>
              <a:ext cx="3705225" cy="1181100"/>
              <a:chOff x="609600" y="4991100"/>
              <a:chExt cx="3705225" cy="11811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09600" y="4991100"/>
                <a:ext cx="3705225" cy="1181100"/>
              </a:xfrm>
              <a:prstGeom prst="roundRect">
                <a:avLst>
                  <a:gd name="adj" fmla="val 8065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838200" y="5181600"/>
                <a:ext cx="419100" cy="247650"/>
              </a:xfrm>
              <a:prstGeom prst="roundRect">
                <a:avLst>
                  <a:gd name="adj" fmla="val 15385"/>
                </a:avLst>
              </a:prstGeom>
              <a:solidFill>
                <a:schemeClr val="accent2">
                  <a:alpha val="35000"/>
                </a:schemeClr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60272" y="5235575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L1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383792" y="520700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知识点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32485" y="5499100"/>
                <a:ext cx="2287270" cy="448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检查循环范围与求和目标是否一致，</a:t>
                </a:r>
                <a:b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覆盖应求和的每一个数</a:t>
                </a:r>
              </a:p>
            </p:txBody>
          </p:sp>
        </p:grpSp>
        <p:grpSp>
          <p:nvGrpSpPr>
            <p:cNvPr id="52" name="hint-l2"/>
            <p:cNvGrpSpPr/>
            <p:nvPr/>
          </p:nvGrpSpPr>
          <p:grpSpPr>
            <a:xfrm>
              <a:off x="4314825" y="4991100"/>
              <a:ext cx="3705225" cy="1181100"/>
              <a:chOff x="4314825" y="4991100"/>
              <a:chExt cx="3705225" cy="11811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4314825" y="4991100"/>
                <a:ext cx="3705225" cy="1181100"/>
              </a:xfrm>
              <a:prstGeom prst="roundRect">
                <a:avLst>
                  <a:gd name="adj" fmla="val 8065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4543425" y="5181600"/>
                <a:ext cx="419100" cy="247650"/>
              </a:xfrm>
              <a:prstGeom prst="roundRect">
                <a:avLst>
                  <a:gd name="adj" fmla="val 15385"/>
                </a:avLst>
              </a:prstGeom>
              <a:solidFill>
                <a:schemeClr val="accent2">
                  <a:alpha val="60000"/>
                </a:schemeClr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4665497" y="5235575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L2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089017" y="520700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逻辑定位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537710" y="5499100"/>
                <a:ext cx="2145030" cy="448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上界写死为 10 未与 N 关联；且 if</a:t>
                </a:r>
                <a:b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条件只累加偶数</a:t>
                </a:r>
              </a:p>
            </p:txBody>
          </p:sp>
        </p:grpSp>
        <p:grpSp>
          <p:nvGrpSpPr>
            <p:cNvPr id="58" name="hint-l3"/>
            <p:cNvGrpSpPr/>
            <p:nvPr/>
          </p:nvGrpSpPr>
          <p:grpSpPr>
            <a:xfrm>
              <a:off x="8020050" y="4991100"/>
              <a:ext cx="3705225" cy="1181100"/>
              <a:chOff x="8020050" y="4991100"/>
              <a:chExt cx="3705225" cy="11811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8020050" y="4991100"/>
                <a:ext cx="3705225" cy="1181100"/>
              </a:xfrm>
              <a:prstGeom prst="roundRect">
                <a:avLst>
                  <a:gd name="adj" fmla="val 8065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8248650" y="5181600"/>
                <a:ext cx="419100" cy="247650"/>
              </a:xfrm>
              <a:prstGeom prst="roundRect">
                <a:avLst>
                  <a:gd name="adj" fmla="val 15385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370722" y="5235575"/>
                <a:ext cx="17495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L3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794242" y="520700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修正思路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242935" y="5499100"/>
                <a:ext cx="2322830" cy="448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800"/>
                  </a:lnSpc>
                </a:pPr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让循环覆盖 1…N 全部数字；用小输入</a:t>
                </a:r>
                <a:b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112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（如 N=3：期望 6）推演并说明原因</a:t>
                </a:r>
              </a:p>
            </p:txBody>
          </p:sp>
        </p:grpSp>
      </p:grpSp>
      <p:grpSp>
        <p:nvGrpSpPr>
          <p:cNvPr id="62" name="footer"/>
          <p:cNvGrpSpPr/>
          <p:nvPr/>
        </p:nvGrpSpPr>
        <p:grpSpPr>
          <a:xfrm>
            <a:off x="604266" y="6369050"/>
            <a:ext cx="10983468" cy="205359"/>
            <a:chOff x="604266" y="6369050"/>
            <a:chExt cx="109834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604266" y="6369050"/>
              <a:ext cx="6936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边界：界面中的通过用例、耗时及提交标记用于展示，不据此认定真实课堂成效；学生仍需自行修改并解释原因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032865" y="636905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04266" y="463550"/>
            <a:ext cx="10983468" cy="205359"/>
            <a:chOff x="604266" y="463550"/>
            <a:chExt cx="10983468" cy="205359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63550"/>
              <a:ext cx="3445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CODEPILOT EDU · 第十届中华职业教育创新创业大赛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50984" y="463550"/>
              <a:ext cx="493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01 项目背景 · 02 技术创新 · </a:t>
              </a:r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03 商业路径</a:t>
              </a:r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 · 04 团队规划 · 05 教育价值</a:t>
              </a:r>
            </a:p>
          </p:txBody>
        </p:sp>
      </p:grpSp>
      <p:grpSp>
        <p:nvGrpSpPr>
          <p:cNvPr id="6" name="page-title"/>
          <p:cNvGrpSpPr/>
          <p:nvPr/>
        </p:nvGrpSpPr>
        <p:grpSpPr>
          <a:xfrm>
            <a:off x="594360" y="850900"/>
            <a:ext cx="7703820" cy="586740"/>
            <a:chOff x="594360" y="850900"/>
            <a:chExt cx="7703820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77038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同类能力都有，我们验证课程里的衔接体验</a:t>
              </a:r>
            </a:p>
          </p:txBody>
        </p:sp>
      </p:grpSp>
      <p:grpSp>
        <p:nvGrpSpPr>
          <p:cNvPr id="47" name="p08-competitor-table"/>
          <p:cNvGrpSpPr/>
          <p:nvPr/>
        </p:nvGrpSpPr>
        <p:grpSpPr>
          <a:xfrm>
            <a:off x="609600" y="1428750"/>
            <a:ext cx="10972800" cy="3590925"/>
            <a:chOff x="609600" y="1428750"/>
            <a:chExt cx="10972800" cy="3590925"/>
          </a:xfrm>
        </p:grpSpPr>
        <p:sp>
          <p:nvSpPr>
            <p:cNvPr id="7" name="Rectangle 7"/>
            <p:cNvSpPr/>
            <p:nvPr/>
          </p:nvSpPr>
          <p:spPr>
            <a:xfrm>
              <a:off x="609600" y="1428750"/>
              <a:ext cx="109728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4766" y="15684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平台与人群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71266" y="15684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官方公开服务与教学支持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19416" y="15684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本项目拟验证的切入点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4400550"/>
              <a:ext cx="10972800" cy="609600"/>
            </a:xfrm>
            <a:prstGeom prst="rect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94766" y="2044700"/>
              <a:ext cx="9420987" cy="2894012"/>
              <a:chOff x="794766" y="2044700"/>
              <a:chExt cx="9420987" cy="2894012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94766" y="2044700"/>
                <a:ext cx="6854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PTA 拼题A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95338" y="2266950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高校课程与练习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271266" y="2044700"/>
                <a:ext cx="26963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程序自动评测、题库及人工与智能混合答疑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19416" y="2044700"/>
                <a:ext cx="26963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同题失败依据、提示与教师辅导衔接的体验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4766" y="2692400"/>
                <a:ext cx="100080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头歌 EduCoder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95338" y="2914650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高校实践教学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271266" y="2692400"/>
                <a:ext cx="2130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智能评测、代码回溯、课堂统计及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271838" y="2914650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大模型问答、诊断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519416" y="2692400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小范围课程适配与持续支持的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19988" y="2914650"/>
                <a:ext cx="61531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投入和价值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94766" y="3340100"/>
                <a:ext cx="75458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CodeGrade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95338" y="3562350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程序设计课程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271266" y="3340100"/>
                <a:ext cx="206479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可配置 AI 助手；教师查看对话，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271838" y="3562350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利用作业上下文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519416" y="3340100"/>
                <a:ext cx="1706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本地课程题目、提示策略与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519988" y="3562350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交付工时的匹配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94766" y="3987800"/>
                <a:ext cx="12119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ChatGPT 学习模式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95338" y="421005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个人学习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271266" y="3987800"/>
                <a:ext cx="19895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提问引导、分层解释与理解检查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519416" y="3987800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把评测、修改过程与教师辅导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519988" y="4210050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接入课程流程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94766" y="4540250"/>
                <a:ext cx="144319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本项目 CodePilot Edu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95338" y="4762500"/>
                <a:ext cx="136043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单门课程 · 课程服务闭环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271266" y="4540250"/>
                <a:ext cx="17929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评测依据与 AI 推断分开呈现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271838" y="4762500"/>
                <a:ext cx="10999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提示按层级逐次请求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519416" y="4540250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三级提示逐层请求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519988" y="4762500"/>
                <a:ext cx="182689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教师依据过程选择辅导对象与主题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09600" y="1847850"/>
              <a:ext cx="10972800" cy="3171825"/>
              <a:chOff x="609600" y="1847850"/>
              <a:chExt cx="10972800" cy="3171825"/>
            </a:xfrm>
          </p:grpSpPr>
          <p:sp>
            <p:nvSpPr>
              <p:cNvPr id="40" name="Line 40"/>
              <p:cNvSpPr/>
              <p:nvPr/>
            </p:nvSpPr>
            <p:spPr>
              <a:xfrm>
                <a:off x="609600" y="18478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9E5DD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609600" y="25146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9E5DD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609600" y="31623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9E5DD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609600" y="38100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9E5DD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609600" y="44005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9E5DD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609600" y="50101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9E5DD"/>
                </a:solidFill>
              </a:ln>
            </p:spPr>
          </p:sp>
        </p:grpSp>
      </p:grpSp>
      <p:grpSp>
        <p:nvGrpSpPr>
          <p:cNvPr id="51" name="caliber-notes"/>
          <p:cNvGrpSpPr/>
          <p:nvPr/>
        </p:nvGrpSpPr>
        <p:grpSpPr>
          <a:xfrm>
            <a:off x="604266" y="5283200"/>
            <a:ext cx="7615352" cy="738759"/>
            <a:chOff x="604266" y="5283200"/>
            <a:chExt cx="7615352" cy="738759"/>
          </a:xfrm>
        </p:grpSpPr>
        <p:sp>
          <p:nvSpPr>
            <p:cNvPr id="48" name="TextBox 48"/>
            <p:cNvSpPr txBox="1"/>
            <p:nvPr/>
          </p:nvSpPr>
          <p:spPr>
            <a:xfrm>
              <a:off x="604266" y="5283200"/>
              <a:ext cx="76153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比较口径</a:t>
              </a:r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 xml:space="preserve">　公开资料核查日 2026-10-25；未登录试用或询价；所查资料未确认完整班级判题与辅导链的，不推定为不支持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4266" y="5549900"/>
              <a:ext cx="6543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诚实边界</a:t>
              </a:r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 xml:space="preserve">　自动评测、AI 辅助与过程可见均有同类能力，不作为行业独有主张；差异点为拟验证的切入点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4266" y="5816600"/>
              <a:ext cx="6781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来源：PTA 产品介绍 · 头歌实践教育平台 · CodeGrade AI Assistant · OpenAI study mode（官方公开页）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032865" y="631190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C6F64"/>
                </a:solidFill>
                <a:latin typeface="Consolas"/>
                <a:ea typeface="Consolas"/>
                <a:cs typeface="Consolas"/>
              </a:rPr>
              <a:t>08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04266" y="463550"/>
            <a:ext cx="10983468" cy="205359"/>
            <a:chOff x="604266" y="463550"/>
            <a:chExt cx="10983468" cy="205359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63550"/>
              <a:ext cx="3445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CODEPILOT EDU · 第十届中华职业教育创新创业大赛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50984" y="463550"/>
              <a:ext cx="493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01 项目背景 · 02 技术创新 · </a:t>
              </a:r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03 商业路径</a:t>
              </a:r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 · 04 团队规划 · 05 教育价值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4360" y="850900"/>
            <a:ext cx="7291578" cy="810133"/>
            <a:chOff x="594360" y="850900"/>
            <a:chExt cx="7291578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免费练，按范围付费：两档主要收入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免费基础使用降低尝试门槛，付费购买的是可界定的课程适配、培训、支持或人工教学服务</a:t>
              </a:r>
            </a:p>
          </p:txBody>
        </p:sp>
      </p:grpSp>
      <p:grpSp>
        <p:nvGrpSpPr>
          <p:cNvPr id="12" name="tier-free"/>
          <p:cNvGrpSpPr/>
          <p:nvPr/>
        </p:nvGrpSpPr>
        <p:grpSpPr>
          <a:xfrm>
            <a:off x="609600" y="1809750"/>
            <a:ext cx="2857500" cy="1352550"/>
            <a:chOff x="609600" y="1809750"/>
            <a:chExt cx="2857500" cy="1352550"/>
          </a:xfrm>
        </p:grpSpPr>
        <p:sp>
          <p:nvSpPr>
            <p:cNvPr id="8" name="Rectangle 8"/>
            <p:cNvSpPr/>
            <p:nvPr/>
          </p:nvSpPr>
          <p:spPr>
            <a:xfrm>
              <a:off x="609600" y="1809750"/>
              <a:ext cx="2857500" cy="1352550"/>
            </a:xfrm>
            <a:prstGeom prst="roundRect">
              <a:avLst>
                <a:gd name="adj" fmla="val 7042"/>
              </a:avLst>
            </a:prstGeom>
            <a:solidFill>
              <a:schemeClr val="accent6"/>
            </a:solidFill>
            <a:ln w="14288">
              <a:solidFill>
                <a:srgbClr val="D9E5DD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961" y="1936750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免费基础功能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3247" y="2216150"/>
              <a:ext cx="2125726" cy="610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学生练习、评测结果及课程基础查看；</a:t>
              </a:r>
              <a:b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AI 提示受积分、个人次数与</a:t>
              </a:r>
              <a:b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平台预算限制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3247" y="2952750"/>
              <a:ext cx="97297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¥ 0 · 全员可用</a:t>
              </a:r>
            </a:p>
          </p:txBody>
        </p:sp>
      </p:grpSp>
      <p:grpSp>
        <p:nvGrpSpPr>
          <p:cNvPr id="17" name="tier-course"/>
          <p:cNvGrpSpPr/>
          <p:nvPr/>
        </p:nvGrpSpPr>
        <p:grpSpPr>
          <a:xfrm>
            <a:off x="3695700" y="1809750"/>
            <a:ext cx="4191000" cy="1352550"/>
            <a:chOff x="3695700" y="1809750"/>
            <a:chExt cx="4191000" cy="1352550"/>
          </a:xfrm>
        </p:grpSpPr>
        <p:sp>
          <p:nvSpPr>
            <p:cNvPr id="13" name="Rectangle 13"/>
            <p:cNvSpPr/>
            <p:nvPr/>
          </p:nvSpPr>
          <p:spPr>
            <a:xfrm>
              <a:off x="3695700" y="1809750"/>
              <a:ext cx="4191000" cy="1352550"/>
            </a:xfrm>
            <a:prstGeom prst="roundRect">
              <a:avLst>
                <a:gd name="adj" fmla="val 704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917061" y="1936750"/>
              <a:ext cx="25186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学期课程服务包 · 主要收入 ①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19347" y="2216150"/>
              <a:ext cx="2648458" cy="610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D7E8DD"/>
                  </a:solidFill>
                  <a:latin typeface="+mn-lt"/>
                  <a:ea typeface="+mn-ea"/>
                  <a:cs typeface="+mn-cs"/>
                </a:rPr>
                <a:t>1 班 · 1 课程 · 1 语言 · 16 周；40 席、32 题、</a:t>
              </a:r>
              <a:br>
                <a:rPr lang="zh-CN" sz="980" dirty="0">
                  <a:solidFill>
                    <a:srgbClr val="D7E8DD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D7E8DD"/>
                  </a:solidFill>
                  <a:latin typeface="+mn-lt"/>
                  <a:ea typeface="+mn-ea"/>
                  <a:cs typeface="+mn-cs"/>
                </a:rPr>
                <a:t>160 组用例、4 份阶段报告；教师决定采用，</a:t>
              </a:r>
              <a:br>
                <a:rPr lang="zh-CN" sz="980" dirty="0">
                  <a:solidFill>
                    <a:srgbClr val="D7E8DD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D7E8DD"/>
                  </a:solidFill>
                  <a:latin typeface="+mn-lt"/>
                  <a:ea typeface="+mn-ea"/>
                  <a:cs typeface="+mn-cs"/>
                </a:rPr>
                <a:t>院系或课程经费付费为假设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18585" y="2927350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7CE7A2"/>
                  </a:solidFill>
                  <a:latin typeface="Consolas"/>
                  <a:ea typeface="Microsoft YaHei"/>
                  <a:cs typeface="Consolas"/>
                </a:rPr>
                <a:t>¥ 4,800 / 包 · 学期</a:t>
              </a:r>
            </a:p>
          </p:txBody>
        </p:sp>
      </p:grpSp>
      <p:grpSp>
        <p:nvGrpSpPr>
          <p:cNvPr id="22" name="tier-training"/>
          <p:cNvGrpSpPr/>
          <p:nvPr/>
        </p:nvGrpSpPr>
        <p:grpSpPr>
          <a:xfrm>
            <a:off x="8115300" y="1809750"/>
            <a:ext cx="3467100" cy="1352550"/>
            <a:chOff x="8115300" y="1809750"/>
            <a:chExt cx="3467100" cy="1352550"/>
          </a:xfrm>
        </p:grpSpPr>
        <p:sp>
          <p:nvSpPr>
            <p:cNvPr id="18" name="Rectangle 18"/>
            <p:cNvSpPr/>
            <p:nvPr/>
          </p:nvSpPr>
          <p:spPr>
            <a:xfrm>
              <a:off x="8115300" y="1809750"/>
              <a:ext cx="3467100" cy="1352550"/>
            </a:xfrm>
            <a:prstGeom prst="roundRect">
              <a:avLst>
                <a:gd name="adj" fmla="val 7042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36661" y="1936750"/>
              <a:ext cx="23275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小班专题训练 · 主要收入 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8947" y="2216150"/>
              <a:ext cx="2299970" cy="610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4 周 24 课时，含讲授与点评；自愿参加</a:t>
              </a:r>
              <a:b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学生付费，12 人开班，师资落实后排期；</a:t>
              </a:r>
              <a:b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组织者集中购买需另行确认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38185" y="2927350"/>
              <a:ext cx="1775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¥ 499 / 人 · 12 人成班</a:t>
              </a:r>
            </a:p>
          </p:txBody>
        </p:sp>
      </p:grpSp>
      <p:grpSp>
        <p:nvGrpSpPr>
          <p:cNvPr id="29" name="credits-panel"/>
          <p:cNvGrpSpPr/>
          <p:nvPr/>
        </p:nvGrpSpPr>
        <p:grpSpPr>
          <a:xfrm>
            <a:off x="603885" y="3498850"/>
            <a:ext cx="4171302" cy="1664843"/>
            <a:chOff x="603885" y="3498850"/>
            <a:chExt cx="4171302" cy="1664843"/>
          </a:xfrm>
        </p:grpSpPr>
        <p:sp>
          <p:nvSpPr>
            <p:cNvPr id="23" name="TextBox 23"/>
            <p:cNvSpPr txBox="1"/>
            <p:nvPr/>
          </p:nvSpPr>
          <p:spPr>
            <a:xfrm>
              <a:off x="603885" y="34988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积分激励与免费边界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4266" y="3835400"/>
              <a:ext cx="3996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注册赠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10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积分 · 每日合格练习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+2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· 审核题解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+5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（月上限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30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4266" y="4121150"/>
              <a:ext cx="3574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AI 提示每次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积分 · 每人每日 ≤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次 · 每月 ≤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10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次免费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4266" y="4406900"/>
              <a:ext cx="4170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免费 AI 年度预算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600 / 900 / 1,200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元逐年封顶（2027–2029）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4647" y="4705350"/>
              <a:ext cx="409966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接近上限时暂停新增免费额度或排队，保留基础练习；积分不兑换现金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4647" y="4972050"/>
              <a:ext cx="38358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一对一辅导、书籍销售、广告留作后续方向，不列入本次早期收入</a:t>
              </a:r>
            </a:p>
          </p:txBody>
        </p:sp>
      </p:grpSp>
      <p:grpSp>
        <p:nvGrpSpPr>
          <p:cNvPr id="37" name="stage-path"/>
          <p:cNvGrpSpPr/>
          <p:nvPr/>
        </p:nvGrpSpPr>
        <p:grpSpPr>
          <a:xfrm>
            <a:off x="6242685" y="3498850"/>
            <a:ext cx="5339715" cy="1760093"/>
            <a:chOff x="6242685" y="3498850"/>
            <a:chExt cx="5339715" cy="1760093"/>
          </a:xfrm>
        </p:grpSpPr>
        <p:sp>
          <p:nvSpPr>
            <p:cNvPr id="30" name="TextBox 30"/>
            <p:cNvSpPr txBox="1"/>
            <p:nvPr/>
          </p:nvSpPr>
          <p:spPr>
            <a:xfrm>
              <a:off x="6242685" y="349885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推广方式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43066" y="3835400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与「未来科技开放创造实验空间」探索主题练习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43066" y="4102100"/>
              <a:ext cx="32829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每日一题形成稳定练习入口 · 教师免费使用基础功能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43066" y="436880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围绕校赛与校内程序设计训练提供小范围支持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43447" y="4667250"/>
              <a:ext cx="357195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活动先服务学习与验证；课程适配和训练辅导按明确范围收费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248400" y="49339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D9E5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43447" y="5067300"/>
              <a:ext cx="19888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未默认取得场地、流量或合作承诺</a:t>
              </a:r>
            </a:p>
          </p:txBody>
        </p:sp>
      </p:grpSp>
      <p:grpSp>
        <p:nvGrpSpPr>
          <p:cNvPr id="46" name="assumption-band"/>
          <p:cNvGrpSpPr/>
          <p:nvPr/>
        </p:nvGrpSpPr>
        <p:grpSpPr>
          <a:xfrm>
            <a:off x="0" y="5410200"/>
            <a:ext cx="12192000" cy="571500"/>
            <a:chOff x="0" y="5410200"/>
            <a:chExt cx="12192000" cy="571500"/>
          </a:xfrm>
        </p:grpSpPr>
        <p:sp>
          <p:nvSpPr>
            <p:cNvPr id="38" name="Rectangle 38"/>
            <p:cNvSpPr/>
            <p:nvPr/>
          </p:nvSpPr>
          <p:spPr>
            <a:xfrm>
              <a:off x="0" y="5410200"/>
              <a:ext cx="12192000" cy="571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42938" y="5575399"/>
              <a:ext cx="200025" cy="201514"/>
              <a:chOff x="642938" y="5575399"/>
              <a:chExt cx="200025" cy="201514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09613" y="56657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33338"/>
                    </a:moveTo>
                    <a:cubicBezTo>
                      <a:pt x="0" y="51751"/>
                      <a:pt x="29848" y="66675"/>
                      <a:pt x="66675" y="66675"/>
                    </a:cubicBezTo>
                    <a:cubicBezTo>
                      <a:pt x="103502" y="66675"/>
                      <a:pt x="133350" y="51751"/>
                      <a:pt x="133350" y="33338"/>
                    </a:cubicBezTo>
                    <a:cubicBezTo>
                      <a:pt x="133350" y="14924"/>
                      <a:pt x="103502" y="0"/>
                      <a:pt x="66675" y="0"/>
                    </a:cubicBezTo>
                    <a:cubicBezTo>
                      <a:pt x="29848" y="0"/>
                      <a:pt x="0" y="14924"/>
                      <a:pt x="0" y="33338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09613" y="5699125"/>
                <a:ext cx="133350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7788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62852"/>
                      <a:pt x="29848" y="77788"/>
                      <a:pt x="66675" y="77788"/>
                    </a:cubicBezTo>
                    <a:cubicBezTo>
                      <a:pt x="103502" y="77788"/>
                      <a:pt x="133350" y="62852"/>
                      <a:pt x="133350" y="44450"/>
                    </a:cubicBezTo>
                    <a:lnTo>
                      <a:pt x="13335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2938" y="5575399"/>
                <a:ext cx="133350" cy="69653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9653">
                    <a:moveTo>
                      <a:pt x="0" y="34827"/>
                    </a:moveTo>
                    <a:cubicBezTo>
                      <a:pt x="0" y="46739"/>
                      <a:pt x="12713" y="57741"/>
                      <a:pt x="33338" y="63697"/>
                    </a:cubicBezTo>
                    <a:cubicBezTo>
                      <a:pt x="53962" y="69653"/>
                      <a:pt x="79388" y="69653"/>
                      <a:pt x="100013" y="63697"/>
                    </a:cubicBezTo>
                    <a:cubicBezTo>
                      <a:pt x="120638" y="57741"/>
                      <a:pt x="133350" y="46739"/>
                      <a:pt x="133350" y="34827"/>
                    </a:cubicBezTo>
                    <a:cubicBezTo>
                      <a:pt x="133350" y="22914"/>
                      <a:pt x="120638" y="11913"/>
                      <a:pt x="100013" y="5956"/>
                    </a:cubicBezTo>
                    <a:cubicBezTo>
                      <a:pt x="79388" y="0"/>
                      <a:pt x="53962" y="0"/>
                      <a:pt x="33338" y="5956"/>
                    </a:cubicBezTo>
                    <a:cubicBezTo>
                      <a:pt x="12713" y="11913"/>
                      <a:pt x="0" y="22914"/>
                      <a:pt x="0" y="34827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42938" y="5610225"/>
                <a:ext cx="222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133350">
                    <a:moveTo>
                      <a:pt x="0" y="0"/>
                    </a:moveTo>
                    <a:lnTo>
                      <a:pt x="0" y="111125"/>
                    </a:lnTo>
                    <a:cubicBezTo>
                      <a:pt x="0" y="120993"/>
                      <a:pt x="8579" y="127238"/>
                      <a:pt x="22225" y="133350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42938" y="56657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0"/>
                    </a:moveTo>
                    <a:cubicBezTo>
                      <a:pt x="0" y="9868"/>
                      <a:pt x="8579" y="16113"/>
                      <a:pt x="22225" y="22225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22604" y="5600700"/>
              <a:ext cx="64012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情景假设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以下价格、数量与金额均为 2027—2029 年经营情景假设，尚无实际订单或收入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604266" y="6311900"/>
            <a:ext cx="10983468" cy="433959"/>
            <a:chOff x="604266" y="6311900"/>
            <a:chExt cx="10983468" cy="433959"/>
          </a:xfrm>
        </p:grpSpPr>
        <p:sp>
          <p:nvSpPr>
            <p:cNvPr id="47" name="TextBox 47"/>
            <p:cNvSpPr txBox="1"/>
            <p:nvPr/>
          </p:nvSpPr>
          <p:spPr>
            <a:xfrm>
              <a:off x="604266" y="6311900"/>
              <a:ext cx="6088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口径：使用者是学生；教学决策者是任课教师或课程负责人；付费主体假设为院系或课程建设经费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32865" y="654050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04266" y="463550"/>
            <a:ext cx="10983468" cy="205359"/>
            <a:chOff x="604266" y="463550"/>
            <a:chExt cx="10983468" cy="205359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63550"/>
              <a:ext cx="3445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CODEPILOT EDU · 第十届中华职业教育创新创业大赛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50984" y="463550"/>
              <a:ext cx="493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01 项目背景 · 02 技术创新 · </a:t>
              </a:r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03 商业路径</a:t>
              </a:r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 · 04 团队规划 · 05 教育价值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4360" y="850900"/>
            <a:ext cx="8315668" cy="810133"/>
            <a:chOff x="594360" y="850900"/>
            <a:chExt cx="8315668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831566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单位账算得清：课程包毛利 56%，训练班 37%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三年增长来自分批增加课程包与训练班，未预设涨价或自动付费（预测口径）</a:t>
              </a:r>
            </a:p>
          </p:txBody>
        </p:sp>
      </p:grpSp>
      <p:grpSp>
        <p:nvGrpSpPr>
          <p:cNvPr id="16" name="card-course"/>
          <p:cNvGrpSpPr/>
          <p:nvPr/>
        </p:nvGrpSpPr>
        <p:grpSpPr>
          <a:xfrm>
            <a:off x="609600" y="1809750"/>
            <a:ext cx="5334000" cy="1942846"/>
            <a:chOff x="609600" y="1809750"/>
            <a:chExt cx="5334000" cy="1942846"/>
          </a:xfrm>
        </p:grpSpPr>
        <p:sp>
          <p:nvSpPr>
            <p:cNvPr id="8" name="Rectangle 8"/>
            <p:cNvSpPr/>
            <p:nvPr/>
          </p:nvSpPr>
          <p:spPr>
            <a:xfrm>
              <a:off x="609600" y="1809750"/>
              <a:ext cx="5334000" cy="1924050"/>
            </a:xfrm>
            <a:prstGeom prst="roundRect">
              <a:avLst>
                <a:gd name="adj" fmla="val 495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961" y="193675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学期课程服务包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90366" y="1987550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40h×40元 轻量适配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866" y="2387600"/>
              <a:ext cx="1007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单位收入 </a:t>
              </a:r>
              <a:r>
                <a:rPr lang="zh-CN" sz="1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4,800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38200" y="2647950"/>
              <a:ext cx="4876800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2866" y="2940050"/>
              <a:ext cx="3304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直接成本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2,100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（人工 1,600 · 模型 100 · 云 400）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3200400"/>
              <a:ext cx="2133600" cy="13335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55000"/>
              </a:scheme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2104" y="3403600"/>
              <a:ext cx="2067839" cy="348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单位毛利 </a:t>
              </a:r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2,700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</a:t>
              </a:r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56.25%</a:t>
              </a:r>
            </a:p>
          </p:txBody>
        </p:sp>
      </p:grpSp>
      <p:grpSp>
        <p:nvGrpSpPr>
          <p:cNvPr id="25" name="card-training"/>
          <p:cNvGrpSpPr/>
          <p:nvPr/>
        </p:nvGrpSpPr>
        <p:grpSpPr>
          <a:xfrm>
            <a:off x="6248400" y="1809750"/>
            <a:ext cx="5334000" cy="1942846"/>
            <a:chOff x="6248400" y="1809750"/>
            <a:chExt cx="5334000" cy="1942846"/>
          </a:xfrm>
        </p:grpSpPr>
        <p:sp>
          <p:nvSpPr>
            <p:cNvPr id="17" name="Rectangle 17"/>
            <p:cNvSpPr/>
            <p:nvPr/>
          </p:nvSpPr>
          <p:spPr>
            <a:xfrm>
              <a:off x="6248400" y="1809750"/>
              <a:ext cx="5334000" cy="1924050"/>
            </a:xfrm>
            <a:prstGeom prst="roundRect">
              <a:avLst>
                <a:gd name="adj" fmla="val 495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69761" y="1936750"/>
              <a:ext cx="16336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人小班专题训练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29166" y="1987550"/>
              <a:ext cx="13817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12×499=5,988 元/班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71666" y="2387600"/>
              <a:ext cx="1007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单位收入 </a:t>
              </a:r>
              <a:r>
                <a:rPr lang="zh-CN" sz="1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5,988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77000" y="2647950"/>
              <a:ext cx="4876800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71666" y="2940050"/>
              <a:ext cx="3445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直接成本 </a:t>
              </a:r>
              <a:r>
                <a:rPr lang="zh-CN" sz="10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3,800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（师资 2,880 · 支持 720 · 其他 200）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77000" y="3200400"/>
              <a:ext cx="3095625" cy="13335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55000"/>
              </a:scheme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70904" y="3403600"/>
              <a:ext cx="2067839" cy="348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单位毛利 </a:t>
              </a:r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2,188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</a:t>
              </a:r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36.54%</a:t>
              </a:r>
            </a:p>
          </p:txBody>
        </p:sp>
      </p:grpSp>
      <p:grpSp>
        <p:nvGrpSpPr>
          <p:cNvPr id="46" name="three-year"/>
          <p:cNvGrpSpPr/>
          <p:nvPr/>
        </p:nvGrpSpPr>
        <p:grpSpPr>
          <a:xfrm>
            <a:off x="603885" y="4070350"/>
            <a:ext cx="5339715" cy="1855343"/>
            <a:chOff x="603885" y="4070350"/>
            <a:chExt cx="5339715" cy="1855343"/>
          </a:xfrm>
        </p:grpSpPr>
        <p:sp>
          <p:nvSpPr>
            <p:cNvPr id="26" name="TextBox 26"/>
            <p:cNvSpPr txBox="1"/>
            <p:nvPr/>
          </p:nvSpPr>
          <p:spPr>
            <a:xfrm>
              <a:off x="603885" y="407035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三年经营预测（基准情景）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604266" y="4406900"/>
              <a:ext cx="5300472" cy="1100709"/>
              <a:chOff x="604266" y="4406900"/>
              <a:chExt cx="5300472" cy="1100709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604266" y="4406900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年份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090166" y="4406900"/>
                <a:ext cx="9365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课程包/训练班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185666" y="4406900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年收入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28666" y="440690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经营利润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04266" y="4730750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2027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090166" y="4730750"/>
                <a:ext cx="83757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8 包 / 4 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185666" y="4730750"/>
                <a:ext cx="4771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62,352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328666" y="4730750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1,634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04266" y="5016500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2028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090166" y="5016500"/>
                <a:ext cx="915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12 包 / 6 班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185666" y="5016500"/>
                <a:ext cx="4771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93,528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328666" y="5016500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9,852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04266" y="5302250"/>
                <a:ext cx="3216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2029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090166" y="5302250"/>
                <a:ext cx="9153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Consolas"/>
                    <a:ea typeface="Microsoft YaHei"/>
                    <a:cs typeface="Consolas"/>
                  </a:rPr>
                  <a:t>18 包 / 8 班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185666" y="5302250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134,304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328666" y="5302250"/>
                <a:ext cx="4771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22,189</a:t>
                </a:r>
              </a:p>
            </p:txBody>
          </p:sp>
        </p:grpSp>
        <p:sp>
          <p:nvSpPr>
            <p:cNvPr id="44" name="Line 44"/>
            <p:cNvSpPr/>
            <p:nvPr/>
          </p:nvSpPr>
          <p:spPr>
            <a:xfrm>
              <a:off x="609600" y="56007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D9E5DD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4647" y="5734050"/>
              <a:ext cx="38226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税费及支付费用按收入 5% 预留（预算假设）；毛利未扣公共费用</a:t>
              </a:r>
            </a:p>
          </p:txBody>
        </p:sp>
      </p:grpSp>
      <p:grpSp>
        <p:nvGrpSpPr>
          <p:cNvPr id="57" name="startup-funds"/>
          <p:cNvGrpSpPr/>
          <p:nvPr/>
        </p:nvGrpSpPr>
        <p:grpSpPr>
          <a:xfrm>
            <a:off x="6242685" y="4070350"/>
            <a:ext cx="4397261" cy="1912493"/>
            <a:chOff x="6242685" y="4070350"/>
            <a:chExt cx="4397261" cy="1912493"/>
          </a:xfrm>
        </p:grpSpPr>
        <p:sp>
          <p:nvSpPr>
            <p:cNvPr id="47" name="TextBox 47"/>
            <p:cNvSpPr txBox="1"/>
            <p:nvPr/>
          </p:nvSpPr>
          <p:spPr>
            <a:xfrm>
              <a:off x="6242685" y="4070350"/>
              <a:ext cx="3094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启动资源 30,000 元 · 现金需求 13,200 元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6243066" y="4406900"/>
              <a:ext cx="3194895" cy="776859"/>
              <a:chOff x="6243066" y="4406900"/>
              <a:chExt cx="3194895" cy="776859"/>
            </a:xfrm>
          </p:grpSpPr>
          <p:sp>
            <p:nvSpPr>
              <p:cNvPr id="48" name="TextBox 48"/>
              <p:cNvSpPr txBox="1"/>
              <p:nvPr/>
            </p:nvSpPr>
            <p:spPr>
              <a:xfrm>
                <a:off x="6243066" y="4406900"/>
                <a:ext cx="136763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初始产品研发 </a:t>
                </a:r>
                <a:r>
                  <a:rPr lang="zh-CN" sz="10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12,000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48066" y="4406900"/>
                <a:ext cx="12898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共享资源建设 </a:t>
                </a:r>
                <a:r>
                  <a:rPr lang="zh-CN" sz="10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4,800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243066" y="4692650"/>
                <a:ext cx="10071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平台基础 </a:t>
                </a:r>
                <a:r>
                  <a:rPr lang="zh-CN" sz="10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2,400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148066" y="4692650"/>
                <a:ext cx="128989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首批推广管理 </a:t>
                </a:r>
                <a:r>
                  <a:rPr lang="zh-CN" sz="10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1,600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243066" y="4978400"/>
                <a:ext cx="181289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周转储备（现金缓冲）</a:t>
                </a:r>
                <a:r>
                  <a:rPr lang="zh-CN" sz="105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9,200</a:t>
                </a:r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6243447" y="5295900"/>
              <a:ext cx="43964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研发与资源折算投入合计 420 小时；来源拟探索自筹与校内支持，尚未取得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43447" y="5543550"/>
              <a:ext cx="39017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保守情景：仅 4 包 2 班、课程工时增至 80h，预计亏损 18,582.80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43447" y="5791200"/>
              <a:ext cx="396773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应对：先缩减或推迟付费扩张，保留基础服务，按实测范围重新报价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604266" y="6311900"/>
            <a:ext cx="10983468" cy="433959"/>
            <a:chOff x="604266" y="6311900"/>
            <a:chExt cx="10983468" cy="433959"/>
          </a:xfrm>
        </p:grpSpPr>
        <p:sp>
          <p:nvSpPr>
            <p:cNvPr id="58" name="TextBox 58"/>
            <p:cNvSpPr txBox="1"/>
            <p:nvPr/>
          </p:nvSpPr>
          <p:spPr>
            <a:xfrm>
              <a:off x="604266" y="6311900"/>
              <a:ext cx="70216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口径：团队工时按 40 元/小时计入经济成本；历史 1,428.21 元与 1,500 元情景不作为新预测依据；金额单位元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032865" y="654050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04266" y="463550"/>
            <a:ext cx="10983468" cy="205359"/>
            <a:chOff x="604266" y="463550"/>
            <a:chExt cx="10983468" cy="205359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63550"/>
              <a:ext cx="3445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CODEPILOT EDU · 第十届中华职业教育创新创业大赛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50984" y="463550"/>
              <a:ext cx="493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01 项目背景 · 02 技术创新 · 03 商业路径 · </a:t>
              </a:r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04 团队规划</a:t>
              </a:r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 · 05 教育价值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594360" y="850900"/>
            <a:ext cx="10988040" cy="810133"/>
            <a:chOff x="594360" y="850900"/>
            <a:chExt cx="1098804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0883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五层架构清晰，安全边界先定义好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受限评测沙箱是技术底座，安全边界保证学生代码可控、可隔离、可追溯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515600" y="952500"/>
              <a:ext cx="1066800" cy="285750"/>
            </a:xfrm>
            <a:prstGeom prst="roundRect">
              <a:avLst>
                <a:gd name="adj" fmla="val 13333"/>
              </a:avLst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60964" y="10255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功能设计</a:t>
              </a:r>
            </a:p>
          </p:txBody>
        </p:sp>
      </p:grpSp>
      <p:grpSp>
        <p:nvGrpSpPr>
          <p:cNvPr id="66" name="layer-stack"/>
          <p:cNvGrpSpPr/>
          <p:nvPr/>
        </p:nvGrpSpPr>
        <p:grpSpPr>
          <a:xfrm>
            <a:off x="604266" y="1790700"/>
            <a:ext cx="5910834" cy="4326509"/>
            <a:chOff x="604266" y="1790700"/>
            <a:chExt cx="5910834" cy="4326509"/>
          </a:xfrm>
        </p:grpSpPr>
        <p:grpSp>
          <p:nvGrpSpPr>
            <p:cNvPr id="20" name="layer-frontend"/>
            <p:cNvGrpSpPr/>
            <p:nvPr/>
          </p:nvGrpSpPr>
          <p:grpSpPr>
            <a:xfrm>
              <a:off x="609600" y="1790700"/>
              <a:ext cx="5905500" cy="723900"/>
              <a:chOff x="609600" y="1790700"/>
              <a:chExt cx="5905500" cy="7239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09600" y="1790700"/>
                <a:ext cx="5905500" cy="723900"/>
              </a:xfrm>
              <a:prstGeom prst="roundRect">
                <a:avLst>
                  <a:gd name="adj" fmla="val 13158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889794" y="2050256"/>
                <a:ext cx="144462" cy="185737"/>
                <a:chOff x="889794" y="2050256"/>
                <a:chExt cx="144462" cy="185737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982662" y="2050256"/>
                  <a:ext cx="51594" cy="51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94" h="51594">
                      <a:moveTo>
                        <a:pt x="0" y="0"/>
                      </a:moveTo>
                      <a:lnTo>
                        <a:pt x="0" y="41275"/>
                      </a:lnTo>
                      <a:cubicBezTo>
                        <a:pt x="0" y="46974"/>
                        <a:pt x="4620" y="51594"/>
                        <a:pt x="10319" y="51594"/>
                      </a:cubicBezTo>
                      <a:lnTo>
                        <a:pt x="51594" y="51594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89794" y="2050256"/>
                  <a:ext cx="144462" cy="185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2" h="185737">
                      <a:moveTo>
                        <a:pt x="123825" y="185737"/>
                      </a:moveTo>
                      <a:lnTo>
                        <a:pt x="20637" y="185737"/>
                      </a:lnTo>
                      <a:cubicBezTo>
                        <a:pt x="9240" y="185737"/>
                        <a:pt x="0" y="176497"/>
                        <a:pt x="0" y="165099"/>
                      </a:cubicBezTo>
                      <a:lnTo>
                        <a:pt x="0" y="20637"/>
                      </a:lnTo>
                      <a:cubicBezTo>
                        <a:pt x="0" y="9240"/>
                        <a:pt x="9240" y="0"/>
                        <a:pt x="20637" y="0"/>
                      </a:cubicBezTo>
                      <a:lnTo>
                        <a:pt x="92868" y="0"/>
                      </a:lnTo>
                      <a:lnTo>
                        <a:pt x="144462" y="51594"/>
                      </a:lnTo>
                      <a:lnTo>
                        <a:pt x="144462" y="165099"/>
                      </a:lnTo>
                      <a:cubicBezTo>
                        <a:pt x="144462" y="176497"/>
                        <a:pt x="135222" y="185737"/>
                        <a:pt x="123825" y="185737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31068" y="2153443"/>
                  <a:ext cx="10319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9" h="41275">
                      <a:moveTo>
                        <a:pt x="10319" y="0"/>
                      </a:moveTo>
                      <a:lnTo>
                        <a:pt x="0" y="20637"/>
                      </a:lnTo>
                      <a:lnTo>
                        <a:pt x="10319" y="41275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982662" y="2153443"/>
                  <a:ext cx="10319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9" h="41275">
                      <a:moveTo>
                        <a:pt x="0" y="0"/>
                      </a:moveTo>
                      <a:lnTo>
                        <a:pt x="10319" y="20637"/>
                      </a:lnTo>
                      <a:lnTo>
                        <a:pt x="0" y="41275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230630" y="19367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前端交互层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2476500" y="1943100"/>
                <a:ext cx="609600" cy="228600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591524" y="1990725"/>
                <a:ext cx="37955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Vue 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2916" y="2254250"/>
                <a:ext cx="255498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代码提交、分层提示展示、纠错过程回放</a:t>
                </a:r>
              </a:p>
            </p:txBody>
          </p:sp>
        </p:grpSp>
        <p:grpSp>
          <p:nvGrpSpPr>
            <p:cNvPr id="30" name="layer-api"/>
            <p:cNvGrpSpPr/>
            <p:nvPr/>
          </p:nvGrpSpPr>
          <p:grpSpPr>
            <a:xfrm>
              <a:off x="609600" y="2590800"/>
              <a:ext cx="5905500" cy="723900"/>
              <a:chOff x="609600" y="2590800"/>
              <a:chExt cx="5905500" cy="7239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609600" y="2590800"/>
                <a:ext cx="5905500" cy="723900"/>
              </a:xfrm>
              <a:prstGeom prst="roundRect">
                <a:avLst>
                  <a:gd name="adj" fmla="val 13158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869156" y="2850356"/>
                <a:ext cx="185737" cy="185737"/>
                <a:chOff x="869156" y="2850356"/>
                <a:chExt cx="185737" cy="185737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869156" y="2994818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0" y="20637"/>
                      </a:moveTo>
                      <a:cubicBezTo>
                        <a:pt x="0" y="32035"/>
                        <a:pt x="9240" y="41275"/>
                        <a:pt x="20637" y="41275"/>
                      </a:cubicBez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013618" y="2850356"/>
                  <a:ext cx="41275" cy="4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41275">
                      <a:moveTo>
                        <a:pt x="20637" y="41275"/>
                      </a:moveTo>
                      <a:cubicBezTo>
                        <a:pt x="32035" y="41275"/>
                        <a:pt x="41275" y="32035"/>
                        <a:pt x="41275" y="20637"/>
                      </a:cubicBezTo>
                      <a:cubicBezTo>
                        <a:pt x="41275" y="9240"/>
                        <a:pt x="32035" y="0"/>
                        <a:pt x="20637" y="0"/>
                      </a:cubicBezTo>
                      <a:cubicBezTo>
                        <a:pt x="9240" y="0"/>
                        <a:pt x="0" y="9240"/>
                        <a:pt x="0" y="20637"/>
                      </a:cubicBezTo>
                      <a:cubicBezTo>
                        <a:pt x="0" y="32035"/>
                        <a:pt x="9240" y="41275"/>
                        <a:pt x="20637" y="41275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89794" y="2870994"/>
                  <a:ext cx="154781" cy="144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144462">
                      <a:moveTo>
                        <a:pt x="61912" y="144462"/>
                      </a:moveTo>
                      <a:lnTo>
                        <a:pt x="118665" y="144462"/>
                      </a:lnTo>
                      <a:cubicBezTo>
                        <a:pt x="138611" y="144462"/>
                        <a:pt x="154781" y="128293"/>
                        <a:pt x="154781" y="108347"/>
                      </a:cubicBezTo>
                      <a:cubicBezTo>
                        <a:pt x="154781" y="88400"/>
                        <a:pt x="138611" y="72231"/>
                        <a:pt x="118665" y="72231"/>
                      </a:cubicBezTo>
                      <a:lnTo>
                        <a:pt x="36116" y="72231"/>
                      </a:lnTo>
                      <a:cubicBezTo>
                        <a:pt x="16169" y="72231"/>
                        <a:pt x="0" y="56062"/>
                        <a:pt x="0" y="36116"/>
                      </a:cubicBezTo>
                      <a:cubicBezTo>
                        <a:pt x="0" y="16169"/>
                        <a:pt x="16169" y="0"/>
                        <a:pt x="36116" y="0"/>
                      </a:cubicBezTo>
                      <a:lnTo>
                        <a:pt x="82550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1230630" y="27368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接口服务层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2476500" y="2743200"/>
                <a:ext cx="1428750" cy="228600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592803" y="2790825"/>
                <a:ext cx="119614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Python · FastAPI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32916" y="3054350"/>
                <a:ext cx="22722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评测调度、证据抽取、提示层级编排</a:t>
                </a:r>
              </a:p>
            </p:txBody>
          </p:sp>
        </p:grpSp>
        <p:grpSp>
          <p:nvGrpSpPr>
            <p:cNvPr id="40" name="layer-data"/>
            <p:cNvGrpSpPr/>
            <p:nvPr/>
          </p:nvGrpSpPr>
          <p:grpSpPr>
            <a:xfrm>
              <a:off x="609600" y="3390900"/>
              <a:ext cx="5905500" cy="723900"/>
              <a:chOff x="609600" y="3390900"/>
              <a:chExt cx="5905500" cy="7239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09600" y="3390900"/>
                <a:ext cx="5905500" cy="723900"/>
              </a:xfrm>
              <a:prstGeom prst="roundRect">
                <a:avLst>
                  <a:gd name="adj" fmla="val 13158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879475" y="3650456"/>
                <a:ext cx="165099" cy="185737"/>
                <a:chOff x="879475" y="3650456"/>
                <a:chExt cx="165099" cy="185737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879475" y="3650456"/>
                  <a:ext cx="165099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61912">
                      <a:moveTo>
                        <a:pt x="0" y="30956"/>
                      </a:moveTo>
                      <a:cubicBezTo>
                        <a:pt x="0" y="48053"/>
                        <a:pt x="36959" y="61912"/>
                        <a:pt x="82550" y="61912"/>
                      </a:cubicBezTo>
                      <a:cubicBezTo>
                        <a:pt x="128141" y="61912"/>
                        <a:pt x="165099" y="48053"/>
                        <a:pt x="165099" y="30956"/>
                      </a:cubicBezTo>
                      <a:cubicBezTo>
                        <a:pt x="165099" y="13860"/>
                        <a:pt x="128141" y="0"/>
                        <a:pt x="82550" y="0"/>
                      </a:cubicBezTo>
                      <a:cubicBezTo>
                        <a:pt x="36959" y="0"/>
                        <a:pt x="0" y="13860"/>
                        <a:pt x="0" y="30956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79475" y="3681412"/>
                  <a:ext cx="165099" cy="92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92868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8"/>
                        <a:pt x="82550" y="92868"/>
                      </a:cubicBezTo>
                      <a:cubicBezTo>
                        <a:pt x="128141" y="92868"/>
                        <a:pt x="165099" y="79009"/>
                        <a:pt x="165099" y="61912"/>
                      </a:cubicBezTo>
                      <a:lnTo>
                        <a:pt x="165099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79475" y="3743325"/>
                  <a:ext cx="165099" cy="928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099" h="92868">
                      <a:moveTo>
                        <a:pt x="0" y="0"/>
                      </a:moveTo>
                      <a:lnTo>
                        <a:pt x="0" y="61912"/>
                      </a:lnTo>
                      <a:cubicBezTo>
                        <a:pt x="0" y="79009"/>
                        <a:pt x="36959" y="92868"/>
                        <a:pt x="82550" y="92868"/>
                      </a:cubicBezTo>
                      <a:cubicBezTo>
                        <a:pt x="128141" y="92868"/>
                        <a:pt x="165099" y="79009"/>
                        <a:pt x="165099" y="61912"/>
                      </a:cubicBezTo>
                      <a:lnTo>
                        <a:pt x="165099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230630" y="35369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数据存储层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2476500" y="3543300"/>
                <a:ext cx="723900" cy="228600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2643882" y="3590925"/>
                <a:ext cx="38913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MySQL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232916" y="3854450"/>
                <a:ext cx="312039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课程、题目、代码版本、评测与提示记录统一关联</a:t>
                </a:r>
              </a:p>
            </p:txBody>
          </p:sp>
        </p:grpSp>
        <p:grpSp>
          <p:nvGrpSpPr>
            <p:cNvPr id="51" name="layer-judge"/>
            <p:cNvGrpSpPr/>
            <p:nvPr/>
          </p:nvGrpSpPr>
          <p:grpSpPr>
            <a:xfrm>
              <a:off x="609600" y="4191000"/>
              <a:ext cx="5905500" cy="723900"/>
              <a:chOff x="609600" y="4191000"/>
              <a:chExt cx="5905500" cy="7239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09600" y="4191000"/>
                <a:ext cx="5905500" cy="723900"/>
              </a:xfrm>
              <a:prstGeom prst="roundRect">
                <a:avLst>
                  <a:gd name="adj" fmla="val 13158"/>
                </a:avLst>
              </a:prstGeom>
              <a:solidFill>
                <a:schemeClr val="accent6"/>
              </a:solidFill>
              <a:ln w="14288">
                <a:solidFill>
                  <a:schemeClr val="accent2"/>
                </a:solidFill>
              </a:ln>
            </p:spPr>
          </p:sp>
          <p:grpSp>
            <p:nvGrpSpPr>
              <p:cNvPr id="45" name="Group 45"/>
              <p:cNvGrpSpPr/>
              <p:nvPr/>
            </p:nvGrpSpPr>
            <p:grpSpPr>
              <a:xfrm>
                <a:off x="869156" y="4460875"/>
                <a:ext cx="185737" cy="165099"/>
                <a:chOff x="869156" y="4460875"/>
                <a:chExt cx="185737" cy="165099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920750" y="4512468"/>
                  <a:ext cx="30956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61912">
                      <a:moveTo>
                        <a:pt x="0" y="0"/>
                      </a:moveTo>
                      <a:lnTo>
                        <a:pt x="30956" y="30956"/>
                      </a:lnTo>
                      <a:lnTo>
                        <a:pt x="0" y="61912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972343" y="4574381"/>
                  <a:ext cx="3095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56" h="9525">
                      <a:moveTo>
                        <a:pt x="0" y="0"/>
                      </a:moveTo>
                      <a:lnTo>
                        <a:pt x="30956" y="0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869156" y="4460875"/>
                  <a:ext cx="185737" cy="165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7" h="165099">
                      <a:moveTo>
                        <a:pt x="0" y="20637"/>
                      </a:moveTo>
                      <a:cubicBezTo>
                        <a:pt x="0" y="9240"/>
                        <a:pt x="9240" y="0"/>
                        <a:pt x="20637" y="0"/>
                      </a:cubicBezTo>
                      <a:lnTo>
                        <a:pt x="165099" y="0"/>
                      </a:lnTo>
                      <a:cubicBezTo>
                        <a:pt x="176497" y="0"/>
                        <a:pt x="185737" y="9240"/>
                        <a:pt x="185737" y="20637"/>
                      </a:cubicBezTo>
                      <a:lnTo>
                        <a:pt x="185737" y="144462"/>
                      </a:lnTo>
                      <a:cubicBezTo>
                        <a:pt x="185737" y="155860"/>
                        <a:pt x="176497" y="165099"/>
                        <a:pt x="165099" y="165099"/>
                      </a:cubicBezTo>
                      <a:lnTo>
                        <a:pt x="20637" y="165099"/>
                      </a:lnTo>
                      <a:cubicBezTo>
                        <a:pt x="9240" y="165099"/>
                        <a:pt x="0" y="155860"/>
                        <a:pt x="0" y="144462"/>
                      </a:cubicBezTo>
                      <a:lnTo>
                        <a:pt x="0" y="20637"/>
                      </a:lnTo>
                    </a:path>
                  </a:pathLst>
                </a:custGeom>
                <a:noFill/>
                <a:ln w="20637">
                  <a:solidFill>
                    <a:schemeClr val="accent2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1230630" y="43370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独立评测层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2476500" y="4343400"/>
                <a:ext cx="1905000" cy="2286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2643683" y="4391025"/>
                <a:ext cx="157063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C/GCC · Java · Python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329047" y="4400550"/>
                <a:ext cx="53761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rgbClr val="B4232A"/>
                    </a:solidFill>
                    <a:latin typeface="Consolas"/>
                    <a:ea typeface="Microsoft YaHei"/>
                    <a:cs typeface="Consolas"/>
                  </a:rPr>
                  <a:t>技术底座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232916" y="4654550"/>
                <a:ext cx="340309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编译运行、用例比对、输出差异采集，与业务接口分离</a:t>
                </a:r>
              </a:p>
            </p:txBody>
          </p:sp>
        </p:grpSp>
        <p:grpSp>
          <p:nvGrpSpPr>
            <p:cNvPr id="64" name="layer-model"/>
            <p:cNvGrpSpPr/>
            <p:nvPr/>
          </p:nvGrpSpPr>
          <p:grpSpPr>
            <a:xfrm>
              <a:off x="609600" y="4991100"/>
              <a:ext cx="5905500" cy="723900"/>
              <a:chOff x="609600" y="4991100"/>
              <a:chExt cx="5905500" cy="7239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09600" y="4991100"/>
                <a:ext cx="5905500" cy="723900"/>
              </a:xfrm>
              <a:prstGeom prst="roundRect">
                <a:avLst>
                  <a:gd name="adj" fmla="val 13158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grpSp>
            <p:nvGrpSpPr>
              <p:cNvPr id="59" name="Group 59"/>
              <p:cNvGrpSpPr/>
              <p:nvPr/>
            </p:nvGrpSpPr>
            <p:grpSpPr>
              <a:xfrm>
                <a:off x="869156" y="5250656"/>
                <a:ext cx="185737" cy="185737"/>
                <a:chOff x="869156" y="5250656"/>
                <a:chExt cx="185737" cy="185737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962025" y="5353843"/>
                  <a:ext cx="72231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82550">
                      <a:moveTo>
                        <a:pt x="36116" y="0"/>
                      </a:moveTo>
                      <a:cubicBezTo>
                        <a:pt x="16169" y="0"/>
                        <a:pt x="0" y="16169"/>
                        <a:pt x="0" y="36116"/>
                      </a:cubicBezTo>
                      <a:lnTo>
                        <a:pt x="0" y="46434"/>
                      </a:lnTo>
                      <a:cubicBezTo>
                        <a:pt x="0" y="66380"/>
                        <a:pt x="16169" y="82550"/>
                        <a:pt x="36116" y="82550"/>
                      </a:cubicBezTo>
                      <a:cubicBezTo>
                        <a:pt x="56062" y="82550"/>
                        <a:pt x="72231" y="66380"/>
                        <a:pt x="72231" y="46434"/>
                      </a:cubicBezTo>
                      <a:lnTo>
                        <a:pt x="72231" y="27861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889794" y="5353843"/>
                  <a:ext cx="72231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82550">
                      <a:moveTo>
                        <a:pt x="36116" y="0"/>
                      </a:moveTo>
                      <a:cubicBezTo>
                        <a:pt x="56062" y="0"/>
                        <a:pt x="72231" y="16169"/>
                        <a:pt x="72231" y="36116"/>
                      </a:cubicBezTo>
                      <a:lnTo>
                        <a:pt x="72231" y="46434"/>
                      </a:lnTo>
                      <a:cubicBezTo>
                        <a:pt x="72231" y="66380"/>
                        <a:pt x="56062" y="82550"/>
                        <a:pt x="36116" y="82550"/>
                      </a:cubicBezTo>
                      <a:cubicBezTo>
                        <a:pt x="16169" y="82550"/>
                        <a:pt x="0" y="66380"/>
                        <a:pt x="0" y="46434"/>
                      </a:cubicBezTo>
                      <a:lnTo>
                        <a:pt x="0" y="27861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1013618" y="5312568"/>
                  <a:ext cx="41275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72231">
                      <a:moveTo>
                        <a:pt x="5159" y="72231"/>
                      </a:moveTo>
                      <a:cubicBezTo>
                        <a:pt x="25105" y="72231"/>
                        <a:pt x="41275" y="56062"/>
                        <a:pt x="41275" y="36116"/>
                      </a:cubicBezTo>
                      <a:cubicBezTo>
                        <a:pt x="41275" y="16169"/>
                        <a:pt x="25105" y="0"/>
                        <a:pt x="5159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962025" y="5250656"/>
                  <a:ext cx="72231" cy="65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65008">
                      <a:moveTo>
                        <a:pt x="72231" y="65008"/>
                      </a:moveTo>
                      <a:lnTo>
                        <a:pt x="72231" y="36116"/>
                      </a:lnTo>
                      <a:cubicBezTo>
                        <a:pt x="72231" y="16169"/>
                        <a:pt x="56062" y="0"/>
                        <a:pt x="36116" y="0"/>
                      </a:cubicBezTo>
                      <a:cubicBezTo>
                        <a:pt x="16169" y="0"/>
                        <a:pt x="0" y="16169"/>
                        <a:pt x="0" y="36116"/>
                      </a:cubicBez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869156" y="5312568"/>
                  <a:ext cx="41275" cy="722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75" h="72231">
                      <a:moveTo>
                        <a:pt x="36116" y="72231"/>
                      </a:moveTo>
                      <a:cubicBezTo>
                        <a:pt x="16169" y="72231"/>
                        <a:pt x="0" y="56062"/>
                        <a:pt x="0" y="36116"/>
                      </a:cubicBezTo>
                      <a:cubicBezTo>
                        <a:pt x="0" y="16169"/>
                        <a:pt x="16169" y="0"/>
                        <a:pt x="36116" y="0"/>
                      </a:cubicBezTo>
                      <a:lnTo>
                        <a:pt x="41275" y="0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889794" y="5250656"/>
                  <a:ext cx="72231" cy="1393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1" h="139303">
                      <a:moveTo>
                        <a:pt x="0" y="65008"/>
                      </a:moveTo>
                      <a:lnTo>
                        <a:pt x="0" y="36116"/>
                      </a:lnTo>
                      <a:cubicBezTo>
                        <a:pt x="0" y="16169"/>
                        <a:pt x="16169" y="0"/>
                        <a:pt x="36116" y="0"/>
                      </a:cubicBezTo>
                      <a:cubicBezTo>
                        <a:pt x="56062" y="0"/>
                        <a:pt x="72231" y="16169"/>
                        <a:pt x="72231" y="36116"/>
                      </a:cubicBezTo>
                      <a:lnTo>
                        <a:pt x="72231" y="139303"/>
                      </a:lnTo>
                    </a:path>
                  </a:pathLst>
                </a:custGeom>
                <a:noFill/>
                <a:ln w="20637">
                  <a:solidFill>
                    <a:schemeClr val="accent1"/>
                  </a:solidFill>
                </a:ln>
              </p:spPr>
            </p:sp>
          </p:grpSp>
          <p:sp>
            <p:nvSpPr>
              <p:cNvPr id="60" name="TextBox 60"/>
              <p:cNvSpPr txBox="1"/>
              <p:nvPr/>
            </p:nvSpPr>
            <p:spPr>
              <a:xfrm>
                <a:off x="1230630" y="5137150"/>
                <a:ext cx="10248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模型服务层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2476500" y="5143500"/>
                <a:ext cx="1333500" cy="228600"/>
              </a:xfrm>
              <a:prstGeom prst="roundRect">
                <a:avLst>
                  <a:gd name="adj" fmla="val 16667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2682773" y="5191125"/>
                <a:ext cx="920953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兼容 API 模型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232916" y="5454650"/>
                <a:ext cx="24136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基于最小必要证据生成诊断与分层提示</a:t>
                </a:r>
              </a:p>
            </p:txBody>
          </p:sp>
        </p:grpSp>
        <p:sp>
          <p:nvSpPr>
            <p:cNvPr id="65" name="TextBox 65"/>
            <p:cNvSpPr txBox="1"/>
            <p:nvPr/>
          </p:nvSpPr>
          <p:spPr>
            <a:xfrm>
              <a:off x="604266" y="5911850"/>
              <a:ext cx="5565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技术方案承担三项服务：可靠呈现评测依据 · 按需提供解释与提示 · 修改过程交教师查看</a:t>
              </a:r>
            </a:p>
          </p:txBody>
        </p:sp>
      </p:grpSp>
      <p:grpSp>
        <p:nvGrpSpPr>
          <p:cNvPr id="82" name="security-panel"/>
          <p:cNvGrpSpPr/>
          <p:nvPr/>
        </p:nvGrpSpPr>
        <p:grpSpPr>
          <a:xfrm>
            <a:off x="6814566" y="1790700"/>
            <a:ext cx="4767834" cy="4212209"/>
            <a:chOff x="6814566" y="1790700"/>
            <a:chExt cx="4767834" cy="4212209"/>
          </a:xfrm>
        </p:grpSpPr>
        <p:sp>
          <p:nvSpPr>
            <p:cNvPr id="67" name="Rectangle 67"/>
            <p:cNvSpPr/>
            <p:nvPr/>
          </p:nvSpPr>
          <p:spPr>
            <a:xfrm>
              <a:off x="6819900" y="1790700"/>
              <a:ext cx="4762500" cy="3810000"/>
            </a:xfrm>
            <a:prstGeom prst="roundRect">
              <a:avLst>
                <a:gd name="adj" fmla="val 3000"/>
              </a:avLst>
            </a:prstGeom>
            <a:solidFill>
              <a:schemeClr val="accent5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065531" y="2050256"/>
              <a:ext cx="201506" cy="185737"/>
              <a:chOff x="7065531" y="2050256"/>
              <a:chExt cx="201506" cy="185737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065531" y="205025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20637">
                <a:solidFill>
                  <a:srgbClr val="7CE7A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7203281" y="219471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7CE7A2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7423023" y="2057400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7CE7A2"/>
                  </a:solidFill>
                  <a:latin typeface="Consolas"/>
                  <a:ea typeface="Microsoft YaHei"/>
                  <a:cs typeface="Consolas"/>
                </a:rPr>
                <a:t>六项安全边界</a:t>
              </a:r>
            </a:p>
          </p:txBody>
        </p:sp>
        <p:grpSp>
          <p:nvGrpSpPr>
            <p:cNvPr id="78" name="sec-rows"/>
            <p:cNvGrpSpPr/>
            <p:nvPr/>
          </p:nvGrpSpPr>
          <p:grpSpPr>
            <a:xfrm>
              <a:off x="7042785" y="2508250"/>
              <a:ext cx="2001652" cy="2315528"/>
              <a:chOff x="7042785" y="2508250"/>
              <a:chExt cx="2001652" cy="2315528"/>
            </a:xfrm>
          </p:grpSpPr>
          <p:sp>
            <p:nvSpPr>
              <p:cNvPr id="72" name="TextBox 72"/>
              <p:cNvSpPr txBox="1"/>
              <p:nvPr/>
            </p:nvSpPr>
            <p:spPr>
              <a:xfrm>
                <a:off x="7042785" y="2508250"/>
                <a:ext cx="194888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[1]</a:t>
                </a:r>
                <a:r>
                  <a:rPr lang="zh-CN" sz="112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 xml:space="preserve"> 非特权运行 · 最小权限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042785" y="2927350"/>
                <a:ext cx="13985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[2]</a:t>
                </a:r>
                <a:r>
                  <a:rPr lang="zh-CN" sz="112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 xml:space="preserve"> 运行期完全断网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042785" y="3346450"/>
                <a:ext cx="177819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[3]</a:t>
                </a:r>
                <a:r>
                  <a:rPr lang="zh-CN" sz="112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 xml:space="preserve"> CPU / 内存资源限额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7042785" y="3765550"/>
                <a:ext cx="13985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[4]</a:t>
                </a:r>
                <a:r>
                  <a:rPr lang="zh-CN" sz="112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 xml:space="preserve"> 进程与输出限额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7042785" y="4184650"/>
                <a:ext cx="124778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[5]</a:t>
                </a:r>
                <a:r>
                  <a:rPr lang="zh-CN" sz="112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 xml:space="preserve"> 临时目录清理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042785" y="4603750"/>
                <a:ext cx="200165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7CE7A2"/>
                    </a:solidFill>
                    <a:latin typeface="Consolas"/>
                    <a:ea typeface="Consolas"/>
                    <a:cs typeface="Consolas"/>
                  </a:rPr>
                  <a:t>[6]</a:t>
                </a:r>
                <a:r>
                  <a:rPr lang="zh-CN" sz="1120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 xml:space="preserve"> 个人信息及密钥不进提示</a:t>
                </a:r>
              </a:p>
            </p:txBody>
          </p:sp>
        </p:grpSp>
        <p:sp>
          <p:nvSpPr>
            <p:cNvPr id="79" name="Rectangle 79"/>
            <p:cNvSpPr/>
            <p:nvPr/>
          </p:nvSpPr>
          <p:spPr>
            <a:xfrm>
              <a:off x="7048500" y="4991100"/>
              <a:ext cx="4305300" cy="9525"/>
            </a:xfrm>
            <a:prstGeom prst="rect">
              <a:avLst/>
            </a:prstGeom>
            <a:solidFill>
              <a:schemeClr val="lt1">
                <a:alpha val="12000"/>
              </a:schemeClr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043547" y="5181600"/>
              <a:ext cx="30442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FFFF">
                      <a:alphaMod val="60000"/>
                    </a:srgbClr>
                  </a:solidFill>
                  <a:latin typeface="+mn-lt"/>
                  <a:ea typeface="+mn-ea"/>
                  <a:cs typeface="+mn-cs"/>
                </a:rPr>
                <a:t>学生代码在隔离环境中运行，不接触主机资源与网络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814566" y="5797550"/>
              <a:ext cx="3316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模型仅接收必要题意、代码片段与失败依据 [S5-02]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604266" y="6369050"/>
            <a:ext cx="10983468" cy="205359"/>
            <a:chOff x="604266" y="6369050"/>
            <a:chExt cx="10983468" cy="205359"/>
          </a:xfrm>
        </p:grpSpPr>
        <p:sp>
          <p:nvSpPr>
            <p:cNvPr id="83" name="TextBox 83"/>
            <p:cNvSpPr txBox="1"/>
            <p:nvPr/>
          </p:nvSpPr>
          <p:spPr>
            <a:xfrm>
              <a:off x="604266" y="6369050"/>
              <a:ext cx="66117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口径：实际运行能力以核验结果为准；三语言 30 份固定错误样例另属技术验证计划，不计作课堂试点成绩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032865" y="636905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04266" y="463550"/>
            <a:ext cx="10983468" cy="205359"/>
            <a:chOff x="604266" y="463550"/>
            <a:chExt cx="10983468" cy="205359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63550"/>
              <a:ext cx="3445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CODEPILOT EDU · 第十届中华职业教育创新创业大赛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50984" y="463550"/>
              <a:ext cx="493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01 项目背景 · 02 技术创新 · 03 商业路径 · </a:t>
              </a:r>
              <a:r>
                <a:rPr lang="zh-CN" sz="10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04 团队规划</a:t>
              </a:r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 xml:space="preserve"> · 05 教育价值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94360" y="850900"/>
            <a:ext cx="6896100" cy="810133"/>
            <a:chOff x="594360" y="850900"/>
            <a:chExt cx="689610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8961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教授带队，四人分工，五阶段路线可查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以实际交付件检验执行能力；各阶段通过后再扩大范围（均为计划）</a:t>
              </a:r>
            </a:p>
          </p:txBody>
        </p:sp>
      </p:grpSp>
      <p:grpSp>
        <p:nvGrpSpPr>
          <p:cNvPr id="18" name="advisor-card"/>
          <p:cNvGrpSpPr/>
          <p:nvPr/>
        </p:nvGrpSpPr>
        <p:grpSpPr>
          <a:xfrm>
            <a:off x="609600" y="1790700"/>
            <a:ext cx="4381500" cy="1828800"/>
            <a:chOff x="609600" y="1790700"/>
            <a:chExt cx="4381500" cy="1828800"/>
          </a:xfrm>
        </p:grpSpPr>
        <p:sp>
          <p:nvSpPr>
            <p:cNvPr id="8" name="Rectangle 8"/>
            <p:cNvSpPr/>
            <p:nvPr/>
          </p:nvSpPr>
          <p:spPr>
            <a:xfrm>
              <a:off x="609600" y="1790700"/>
              <a:ext cx="4381500" cy="1828800"/>
            </a:xfrm>
            <a:prstGeom prst="roundRect">
              <a:avLst>
                <a:gd name="adj" fmla="val 6250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00112" y="2078831"/>
              <a:ext cx="238125" cy="166687"/>
              <a:chOff x="900112" y="2078831"/>
              <a:chExt cx="238125" cy="16668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00112" y="2078831"/>
                <a:ext cx="23812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19062">
                    <a:moveTo>
                      <a:pt x="238125" y="47625"/>
                    </a:moveTo>
                    <a:lnTo>
                      <a:pt x="119062" y="0"/>
                    </a:lnTo>
                    <a:lnTo>
                      <a:pt x="0" y="47625"/>
                    </a:lnTo>
                    <a:lnTo>
                      <a:pt x="119062" y="95250"/>
                    </a:lnTo>
                    <a:lnTo>
                      <a:pt x="238125" y="47625"/>
                    </a:lnTo>
                    <a:lnTo>
                      <a:pt x="238125" y="11906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47738" y="2145506"/>
                <a:ext cx="14287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00012">
                    <a:moveTo>
                      <a:pt x="0" y="0"/>
                    </a:moveTo>
                    <a:lnTo>
                      <a:pt x="0" y="64294"/>
                    </a:lnTo>
                    <a:cubicBezTo>
                      <a:pt x="0" y="84021"/>
                      <a:pt x="31984" y="100012"/>
                      <a:pt x="71438" y="100012"/>
                    </a:cubicBezTo>
                    <a:cubicBezTo>
                      <a:pt x="110891" y="100012"/>
                      <a:pt x="142875" y="84021"/>
                      <a:pt x="142875" y="64294"/>
                    </a:cubicBezTo>
                    <a:lnTo>
                      <a:pt x="142875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287018" y="1930400"/>
              <a:ext cx="183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李志军 · 指导教师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90066" y="2254250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硕士 · 教授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1347" y="2609850"/>
              <a:ext cx="370387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广西科技项目评审、高新技术企业认定评审、高校创业指导经验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1347" y="2857500"/>
              <a:ext cx="242418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 xml:space="preserve">指导大创项目国家级 </a:t>
              </a:r>
              <a:r>
                <a:rPr lang="zh-CN" sz="980" b="1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4</a:t>
              </a: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 xml:space="preserve"> 项、自治区级 </a:t>
              </a:r>
              <a:r>
                <a:rPr lang="zh-CN" sz="980" b="1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8</a:t>
              </a:r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 xml:space="preserve"> 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1347" y="3105150"/>
              <a:ext cx="36794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ICPC · CCPC · 蓝桥杯竞赛指导；曾指导获本大赛广西赛区</a:t>
              </a:r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银奖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1347" y="3352800"/>
              <a:ext cx="37434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拟支持：课程任务与提示策略 · 训练质量 · 阶段评审与方案打磨</a:t>
              </a:r>
            </a:p>
          </p:txBody>
        </p:sp>
      </p:grpSp>
      <p:grpSp>
        <p:nvGrpSpPr>
          <p:cNvPr id="55" name="members-grid"/>
          <p:cNvGrpSpPr/>
          <p:nvPr/>
        </p:nvGrpSpPr>
        <p:grpSpPr>
          <a:xfrm>
            <a:off x="5219700" y="1790700"/>
            <a:ext cx="6362700" cy="1828800"/>
            <a:chOff x="5219700" y="1790700"/>
            <a:chExt cx="6362700" cy="1828800"/>
          </a:xfrm>
        </p:grpSpPr>
        <p:grpSp>
          <p:nvGrpSpPr>
            <p:cNvPr id="27" name="member-ye"/>
            <p:cNvGrpSpPr/>
            <p:nvPr/>
          </p:nvGrpSpPr>
          <p:grpSpPr>
            <a:xfrm>
              <a:off x="5219700" y="1790700"/>
              <a:ext cx="3067050" cy="857250"/>
              <a:chOff x="5219700" y="1790700"/>
              <a:chExt cx="3067050" cy="8572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219700" y="1790700"/>
                <a:ext cx="3067050" cy="85725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5334000" y="1924050"/>
                <a:ext cx="381000" cy="381000"/>
              </a:xfrm>
              <a:prstGeom prst="ellipse">
                <a:avLst/>
              </a:prstGeom>
              <a:solidFill>
                <a:schemeClr val="accent6"/>
              </a:solidFill>
              <a:ln w="14288">
                <a:solidFill>
                  <a:schemeClr val="accent2"/>
                </a:solidFill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5476875" y="2043112"/>
                <a:ext cx="95250" cy="142875"/>
                <a:chOff x="5476875" y="2043112"/>
                <a:chExt cx="95250" cy="14287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5492750" y="2043112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5476875" y="2138362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  <a:cubicBezTo>
                        <a:pt x="81035" y="0"/>
                        <a:pt x="95250" y="14215"/>
                        <a:pt x="95250" y="31750"/>
                      </a:cubicBezTo>
                      <a:lnTo>
                        <a:pt x="95250" y="47625"/>
                      </a:ln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5860542" y="1949450"/>
                <a:ext cx="13235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叶兴楠 · 负责人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862638" y="2247900"/>
                <a:ext cx="158457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统筹需求与产品范围 · 排期 ·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862638" y="2419350"/>
                <a:ext cx="109994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经费沟通与交付确认</a:t>
                </a:r>
              </a:p>
            </p:txBody>
          </p:sp>
        </p:grpSp>
        <p:grpSp>
          <p:nvGrpSpPr>
            <p:cNvPr id="36" name="member-lin"/>
            <p:cNvGrpSpPr/>
            <p:nvPr/>
          </p:nvGrpSpPr>
          <p:grpSpPr>
            <a:xfrm>
              <a:off x="8515350" y="1790700"/>
              <a:ext cx="3067050" cy="857250"/>
              <a:chOff x="8515350" y="1790700"/>
              <a:chExt cx="3067050" cy="8572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8515350" y="1790700"/>
                <a:ext cx="3067050" cy="85725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8629650" y="1924050"/>
                <a:ext cx="381000" cy="381000"/>
              </a:xfrm>
              <a:prstGeom prst="ellipse">
                <a:avLst/>
              </a:prstGeom>
              <a:solidFill>
                <a:schemeClr val="accent6"/>
              </a:solidFill>
              <a:ln w="14288">
                <a:solidFill>
                  <a:schemeClr val="accent2"/>
                </a:solidFill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8772525" y="2043112"/>
                <a:ext cx="95250" cy="142875"/>
                <a:chOff x="8772525" y="2043112"/>
                <a:chExt cx="95250" cy="142875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8788400" y="2043112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772525" y="2138362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  <a:cubicBezTo>
                        <a:pt x="81035" y="0"/>
                        <a:pt x="95250" y="14215"/>
                        <a:pt x="95250" y="31750"/>
                      </a:cubicBezTo>
                      <a:lnTo>
                        <a:pt x="95250" y="47625"/>
                      </a:ln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9156192" y="194945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林李想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158288" y="2247900"/>
                <a:ext cx="14634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前后端 · 接口与评测服务 ·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158288" y="2419350"/>
                <a:ext cx="172391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运行核对 · 问题响应与技术交接</a:t>
                </a:r>
              </a:p>
            </p:txBody>
          </p:sp>
        </p:grpSp>
        <p:grpSp>
          <p:nvGrpSpPr>
            <p:cNvPr id="45" name="member-huang"/>
            <p:cNvGrpSpPr/>
            <p:nvPr/>
          </p:nvGrpSpPr>
          <p:grpSpPr>
            <a:xfrm>
              <a:off x="5219700" y="2762250"/>
              <a:ext cx="3067050" cy="857250"/>
              <a:chOff x="5219700" y="2762250"/>
              <a:chExt cx="3067050" cy="8572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219700" y="2762250"/>
                <a:ext cx="3067050" cy="85725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sp>
            <p:nvSpPr>
              <p:cNvPr id="38" name="Ellipse 38"/>
              <p:cNvSpPr/>
              <p:nvPr/>
            </p:nvSpPr>
            <p:spPr>
              <a:xfrm>
                <a:off x="5334000" y="2895600"/>
                <a:ext cx="381000" cy="381000"/>
              </a:xfrm>
              <a:prstGeom prst="ellipse">
                <a:avLst/>
              </a:prstGeom>
              <a:solidFill>
                <a:schemeClr val="accent6"/>
              </a:solidFill>
              <a:ln w="14288">
                <a:solidFill>
                  <a:schemeClr val="accent2"/>
                </a:solidFill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5476875" y="3014662"/>
                <a:ext cx="95250" cy="142875"/>
                <a:chOff x="5476875" y="3014662"/>
                <a:chExt cx="95250" cy="142875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5492750" y="3014662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5476875" y="3109912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  <a:cubicBezTo>
                        <a:pt x="81035" y="0"/>
                        <a:pt x="95250" y="14215"/>
                        <a:pt x="95250" y="31750"/>
                      </a:cubicBezTo>
                      <a:lnTo>
                        <a:pt x="95250" y="47625"/>
                      </a:ln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5860542" y="292100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黄显涛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862638" y="3219450"/>
                <a:ext cx="182689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题目样例 · 测试记录与演示材料 ·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862638" y="3390900"/>
                <a:ext cx="13422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资源检查与训练练习复核</a:t>
                </a:r>
              </a:p>
            </p:txBody>
          </p:sp>
        </p:grpSp>
        <p:grpSp>
          <p:nvGrpSpPr>
            <p:cNvPr id="54" name="member-wang"/>
            <p:cNvGrpSpPr/>
            <p:nvPr/>
          </p:nvGrpSpPr>
          <p:grpSpPr>
            <a:xfrm>
              <a:off x="8515350" y="2762250"/>
              <a:ext cx="3067050" cy="857250"/>
              <a:chOff x="8515350" y="2762250"/>
              <a:chExt cx="3067050" cy="8572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8515350" y="2762250"/>
                <a:ext cx="3067050" cy="857250"/>
              </a:xfrm>
              <a:prstGeom prst="roundRect">
                <a:avLst>
                  <a:gd name="adj" fmla="val 11111"/>
                </a:avLst>
              </a:prstGeom>
              <a:solidFill>
                <a:schemeClr val="lt1"/>
              </a:solidFill>
              <a:ln w="14288">
                <a:solidFill>
                  <a:srgbClr val="D9E5DD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8629650" y="2895600"/>
                <a:ext cx="381000" cy="381000"/>
              </a:xfrm>
              <a:prstGeom prst="ellipse">
                <a:avLst/>
              </a:prstGeom>
              <a:solidFill>
                <a:schemeClr val="accent6"/>
              </a:solidFill>
              <a:ln w="14288">
                <a:solidFill>
                  <a:schemeClr val="accent2"/>
                </a:solidFill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8772525" y="3014662"/>
                <a:ext cx="95250" cy="142875"/>
                <a:chOff x="8772525" y="3014662"/>
                <a:chExt cx="95250" cy="142875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8788400" y="3014662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8772525" y="3109912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  <a:cubicBezTo>
                        <a:pt x="81035" y="0"/>
                        <a:pt x="95250" y="14215"/>
                        <a:pt x="95250" y="31750"/>
                      </a:cubicBezTo>
                      <a:lnTo>
                        <a:pt x="95250" y="47625"/>
                      </a:lnTo>
                    </a:path>
                  </a:pathLst>
                </a:custGeom>
                <a:noFill/>
                <a:ln w="15875">
                  <a:solidFill>
                    <a:schemeClr val="accent1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9156192" y="2921000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汪盛淇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158288" y="3219450"/>
                <a:ext cx="158457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材料 · 课程支持与质量记录 ·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158288" y="3390900"/>
                <a:ext cx="186324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培训 · 报告 · 反馈整理与交付复核</a:t>
                </a:r>
              </a:p>
            </p:txBody>
          </p:sp>
        </p:grpSp>
      </p:grpSp>
      <p:grpSp>
        <p:nvGrpSpPr>
          <p:cNvPr id="82" name="roadmap"/>
          <p:cNvGrpSpPr/>
          <p:nvPr/>
        </p:nvGrpSpPr>
        <p:grpSpPr>
          <a:xfrm>
            <a:off x="794385" y="3886200"/>
            <a:ext cx="10830878" cy="1312862"/>
            <a:chOff x="794385" y="3886200"/>
            <a:chExt cx="10830878" cy="1312862"/>
          </a:xfrm>
        </p:grpSpPr>
        <p:sp>
          <p:nvSpPr>
            <p:cNvPr id="56" name="Line 56"/>
            <p:cNvSpPr/>
            <p:nvPr/>
          </p:nvSpPr>
          <p:spPr>
            <a:xfrm>
              <a:off x="800100" y="4248150"/>
              <a:ext cx="10591800" cy="9525"/>
            </a:xfrm>
            <a:custGeom>
              <a:avLst/>
              <a:gdLst/>
              <a:ahLst/>
              <a:cxnLst/>
              <a:rect l="l" t="t" r="r" b="b"/>
              <a:pathLst>
                <a:path w="10591800" h="9525">
                  <a:moveTo>
                    <a:pt x="0" y="0"/>
                  </a:moveTo>
                  <a:lnTo>
                    <a:pt x="10591800" y="0"/>
                  </a:lnTo>
                </a:path>
              </a:pathLst>
            </a:custGeom>
            <a:noFill/>
            <a:ln w="19050">
              <a:solidFill>
                <a:srgbClr val="D9E5DD"/>
              </a:solidFill>
            </a:ln>
          </p:spPr>
        </p:sp>
        <p:grpSp>
          <p:nvGrpSpPr>
            <p:cNvPr id="61" name="stage-basis"/>
            <p:cNvGrpSpPr/>
            <p:nvPr/>
          </p:nvGrpSpPr>
          <p:grpSpPr>
            <a:xfrm>
              <a:off x="794385" y="3905250"/>
              <a:ext cx="1399223" cy="1293812"/>
              <a:chOff x="794385" y="3905250"/>
              <a:chExt cx="1399223" cy="1293812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1247775" y="41624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2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1064692" y="3905250"/>
                <a:ext cx="53761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现有基础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94385" y="4451350"/>
                <a:ext cx="10668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方案与界面展示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95338" y="4679950"/>
                <a:ext cx="1398270" cy="519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350"/>
                  </a:lnSpc>
                </a:pP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截至 2026-10：整理界面与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功能说明，补齐运行与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权限核验依据</a:t>
                </a:r>
              </a:p>
            </p:txBody>
          </p:sp>
        </p:grpSp>
        <p:grpSp>
          <p:nvGrpSpPr>
            <p:cNvPr id="66" name="stage-prep"/>
            <p:cNvGrpSpPr/>
            <p:nvPr/>
          </p:nvGrpSpPr>
          <p:grpSpPr>
            <a:xfrm>
              <a:off x="3156585" y="3905250"/>
              <a:ext cx="1250633" cy="1293812"/>
              <a:chOff x="3156585" y="3905250"/>
              <a:chExt cx="1250633" cy="1293812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3609975" y="41624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2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3158556" y="3905250"/>
                <a:ext cx="107428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一期准备 2026Q4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3156585" y="4451350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访谈与配置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3157538" y="4679950"/>
                <a:ext cx="1249680" cy="519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350"/>
                  </a:lnSpc>
                </a:pP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接触 2 教师 · 10 学生 ·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1 经费联系人；确认课程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授权与窗口，配置 8 题</a:t>
                </a:r>
              </a:p>
            </p:txBody>
          </p:sp>
        </p:grpSp>
        <p:grpSp>
          <p:nvGrpSpPr>
            <p:cNvPr id="71" name="stage-pilot"/>
            <p:cNvGrpSpPr/>
            <p:nvPr/>
          </p:nvGrpSpPr>
          <p:grpSpPr>
            <a:xfrm>
              <a:off x="5373520" y="3886200"/>
              <a:ext cx="1614683" cy="1312862"/>
              <a:chOff x="5373520" y="3886200"/>
              <a:chExt cx="1614683" cy="1312862"/>
            </a:xfrm>
          </p:grpSpPr>
          <p:sp>
            <p:nvSpPr>
              <p:cNvPr id="67" name="Ellipse 67"/>
              <p:cNvSpPr/>
              <p:nvPr/>
            </p:nvSpPr>
            <p:spPr>
              <a:xfrm>
                <a:off x="5953125" y="4143375"/>
                <a:ext cx="209550" cy="2095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5373520" y="3886200"/>
                <a:ext cx="1368760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课堂验证 · 连续 4 周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5518785" y="4451350"/>
                <a:ext cx="146941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20 席 · 8 题 · 4 周报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5519738" y="4679950"/>
                <a:ext cx="1312545" cy="519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350"/>
                  </a:lnSpc>
                </a:pP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40 组用例；形成使用与辅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导反馈，保留至少 2 次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据报告辅导记录</a:t>
                </a:r>
              </a:p>
            </p:txBody>
          </p:sp>
        </p:grpSp>
        <p:grpSp>
          <p:nvGrpSpPr>
            <p:cNvPr id="76" name="stage-semester"/>
            <p:cNvGrpSpPr/>
            <p:nvPr/>
          </p:nvGrpSpPr>
          <p:grpSpPr>
            <a:xfrm>
              <a:off x="7867647" y="3905250"/>
              <a:ext cx="1506126" cy="1293812"/>
              <a:chOff x="7867647" y="3905250"/>
              <a:chExt cx="1506126" cy="1293812"/>
            </a:xfrm>
          </p:grpSpPr>
          <p:sp>
            <p:nvSpPr>
              <p:cNvPr id="72" name="Ellipse 72"/>
              <p:cNvSpPr/>
              <p:nvPr/>
            </p:nvSpPr>
            <p:spPr>
              <a:xfrm>
                <a:off x="8334375" y="41624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2"/>
                </a:solidFill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7867647" y="3905250"/>
                <a:ext cx="1104905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学期交付 2027 起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880985" y="4451350"/>
                <a:ext cx="149278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40 席 · 16 周 · 32 题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7881938" y="4679950"/>
                <a:ext cx="1472565" cy="519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350"/>
                  </a:lnSpc>
                </a:pP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160 组用例、4 份阶段报告；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教师确认价值、工时可控、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经费归口明确后再安排</a:t>
                </a:r>
              </a:p>
            </p:txBody>
          </p:sp>
        </p:grpSp>
        <p:grpSp>
          <p:nvGrpSpPr>
            <p:cNvPr id="81" name="stage-upgrade"/>
            <p:cNvGrpSpPr/>
            <p:nvPr/>
          </p:nvGrpSpPr>
          <p:grpSpPr>
            <a:xfrm>
              <a:off x="10243185" y="3905250"/>
              <a:ext cx="1382078" cy="1293812"/>
              <a:chOff x="10243185" y="3905250"/>
              <a:chExt cx="1382078" cy="1293812"/>
            </a:xfrm>
          </p:grpSpPr>
          <p:sp>
            <p:nvSpPr>
              <p:cNvPr id="77" name="Ellipse 77"/>
              <p:cNvSpPr/>
              <p:nvPr/>
            </p:nvSpPr>
            <p:spPr>
              <a:xfrm>
                <a:off x="10696575" y="4162425"/>
                <a:ext cx="171450" cy="1714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2"/>
                </a:solidFill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10295811" y="3905250"/>
                <a:ext cx="97297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二期升级 28–29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10243185" y="4451350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复盘与扩大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0244138" y="4679950"/>
                <a:ext cx="1381125" cy="519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350"/>
                  </a:lnSpc>
                </a:pP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复盘提示规则与资源复用；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满足工时和师资条件后</a:t>
                </a:r>
                <a:b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90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扩大课程与训练服务</a:t>
                </a:r>
              </a:p>
            </p:txBody>
          </p:sp>
        </p:grpSp>
      </p:grpSp>
      <p:grpSp>
        <p:nvGrpSpPr>
          <p:cNvPr id="85" name="footer"/>
          <p:cNvGrpSpPr/>
          <p:nvPr/>
        </p:nvGrpSpPr>
        <p:grpSpPr>
          <a:xfrm>
            <a:off x="604266" y="6311900"/>
            <a:ext cx="10983468" cy="433959"/>
            <a:chOff x="604266" y="6311900"/>
            <a:chExt cx="10983468" cy="433959"/>
          </a:xfrm>
        </p:grpSpPr>
        <p:sp>
          <p:nvSpPr>
            <p:cNvPr id="83" name="TextBox 83"/>
            <p:cNvSpPr txBox="1"/>
            <p:nvPr/>
          </p:nvSpPr>
          <p:spPr>
            <a:xfrm>
              <a:off x="604266" y="6311900"/>
              <a:ext cx="7297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口径：分工对应方案书 5.2；头像为占位，答辩前替换真实照片；课程交付工时按 40h×40 元折算（含 8h 复核返工）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032865" y="654050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899160" y="850900"/>
            <a:ext cx="5684520" cy="810133"/>
            <a:chOff x="899160" y="850900"/>
            <a:chExt cx="5684520" cy="810133"/>
          </a:xfrm>
        </p:grpSpPr>
        <p:sp>
          <p:nvSpPr>
            <p:cNvPr id="2" name="TextBox 2"/>
            <p:cNvSpPr txBox="1"/>
            <p:nvPr/>
          </p:nvSpPr>
          <p:spPr>
            <a:xfrm>
              <a:off x="899160" y="850900"/>
              <a:ext cx="56845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职教育工匠：把育人放回第一位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07542" y="139700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教育价值用三问检验，证据按四类归档，成效不预设</a:t>
              </a:r>
            </a:p>
          </p:txBody>
        </p:sp>
      </p:grpSp>
      <p:grpSp>
        <p:nvGrpSpPr>
          <p:cNvPr id="16" name="three-questions"/>
          <p:cNvGrpSpPr/>
          <p:nvPr/>
        </p:nvGrpSpPr>
        <p:grpSpPr>
          <a:xfrm>
            <a:off x="906780" y="1917700"/>
            <a:ext cx="3438906" cy="2620328"/>
            <a:chOff x="906780" y="1917700"/>
            <a:chExt cx="3438906" cy="2620328"/>
          </a:xfrm>
        </p:grpSpPr>
        <p:sp>
          <p:nvSpPr>
            <p:cNvPr id="5" name="TextBox 5"/>
            <p:cNvSpPr txBox="1"/>
            <p:nvPr/>
          </p:nvSpPr>
          <p:spPr>
            <a:xfrm>
              <a:off x="908685" y="19177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教育价值三问</a:t>
              </a:r>
            </a:p>
          </p:txBody>
        </p:sp>
        <p:grpSp>
          <p:nvGrpSpPr>
            <p:cNvPr id="8" name="q-1"/>
            <p:cNvGrpSpPr/>
            <p:nvPr/>
          </p:nvGrpSpPr>
          <p:grpSpPr>
            <a:xfrm>
              <a:off x="906780" y="2336800"/>
              <a:ext cx="2954274" cy="352044"/>
              <a:chOff x="906780" y="2336800"/>
              <a:chExt cx="2954274" cy="352044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906780" y="235585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19606" y="233680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学生是否能解释修改？</a:t>
                </a:r>
              </a:p>
            </p:txBody>
          </p:sp>
        </p:grpSp>
        <p:grpSp>
          <p:nvGrpSpPr>
            <p:cNvPr id="11" name="q-2"/>
            <p:cNvGrpSpPr/>
            <p:nvPr/>
          </p:nvGrpSpPr>
          <p:grpSpPr>
            <a:xfrm>
              <a:off x="906780" y="2946400"/>
              <a:ext cx="3438906" cy="352044"/>
              <a:chOff x="906780" y="2946400"/>
              <a:chExt cx="3438906" cy="352044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906780" y="296545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419606" y="2946400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教师是否据报告采取行动？</a:t>
                </a:r>
              </a:p>
            </p:txBody>
          </p:sp>
        </p:grpSp>
        <p:grpSp>
          <p:nvGrpSpPr>
            <p:cNvPr id="14" name="q-3"/>
            <p:cNvGrpSpPr/>
            <p:nvPr/>
          </p:nvGrpSpPr>
          <p:grpSpPr>
            <a:xfrm>
              <a:off x="906780" y="3556000"/>
              <a:ext cx="3438906" cy="352044"/>
              <a:chOff x="906780" y="3556000"/>
              <a:chExt cx="3438906" cy="352044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906780" y="3575050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19606" y="3556000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课程资源是否被实际复用？</a:t>
                </a:r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908685" y="4089400"/>
              <a:ext cx="285623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原题重提通过只说明该次执行满足测试条件；</a:t>
              </a:r>
              <a:b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不预设准确率、纠错提效或教师减负幅度</a:t>
              </a:r>
            </a:p>
          </p:txBody>
        </p:sp>
      </p:grpSp>
      <p:grpSp>
        <p:nvGrpSpPr>
          <p:cNvPr id="30" name="evidence-archive"/>
          <p:cNvGrpSpPr/>
          <p:nvPr/>
        </p:nvGrpSpPr>
        <p:grpSpPr>
          <a:xfrm>
            <a:off x="6851904" y="1917700"/>
            <a:ext cx="4425696" cy="3189859"/>
            <a:chOff x="6851904" y="1917700"/>
            <a:chExt cx="4425696" cy="3189859"/>
          </a:xfrm>
        </p:grpSpPr>
        <p:sp>
          <p:nvSpPr>
            <p:cNvPr id="17" name="TextBox 17"/>
            <p:cNvSpPr txBox="1"/>
            <p:nvPr/>
          </p:nvSpPr>
          <p:spPr>
            <a:xfrm>
              <a:off x="6852285" y="19177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评价办法四项</a:t>
              </a:r>
            </a:p>
          </p:txBody>
        </p:sp>
        <p:grpSp>
          <p:nvGrpSpPr>
            <p:cNvPr id="26" name="archive-grid"/>
            <p:cNvGrpSpPr/>
            <p:nvPr/>
          </p:nvGrpSpPr>
          <p:grpSpPr>
            <a:xfrm>
              <a:off x="6858000" y="2266950"/>
              <a:ext cx="4419600" cy="1303464"/>
              <a:chOff x="6858000" y="2266950"/>
              <a:chExt cx="4419600" cy="1303464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858000" y="2266950"/>
                <a:ext cx="2133600" cy="571500"/>
              </a:xfrm>
              <a:prstGeom prst="roundRect">
                <a:avLst>
                  <a:gd name="adj" fmla="val 13333"/>
                </a:avLst>
              </a:prstGeom>
              <a:solidFill>
                <a:schemeClr val="accent6"/>
              </a:solidFill>
              <a:ln w="9525">
                <a:solidFill>
                  <a:schemeClr val="accent2">
                    <a:alpha val="50000"/>
                  </a:schemeClr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080123" y="2387600"/>
                <a:ext cx="1506474" cy="458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学生理解</a:t>
                </a:r>
              </a:p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修改理由＋无提示同类新题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9144000" y="2266950"/>
                <a:ext cx="2133600" cy="571500"/>
              </a:xfrm>
              <a:prstGeom prst="roundRect">
                <a:avLst>
                  <a:gd name="adj" fmla="val 13333"/>
                </a:avLst>
              </a:prstGeom>
              <a:solidFill>
                <a:schemeClr val="accent6"/>
              </a:solidFill>
              <a:ln w="9525">
                <a:solidFill>
                  <a:schemeClr val="accent2">
                    <a:alpha val="50000"/>
                  </a:schemeClr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366123" y="2387600"/>
                <a:ext cx="1133094" cy="458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教师采用</a:t>
                </a:r>
              </a:p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区分生成与实际辅导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6858000" y="2990850"/>
                <a:ext cx="2133600" cy="571500"/>
              </a:xfrm>
              <a:prstGeom prst="roundRect">
                <a:avLst>
                  <a:gd name="adj" fmla="val 13333"/>
                </a:avLst>
              </a:prstGeom>
              <a:solidFill>
                <a:schemeClr val="accent6"/>
              </a:solidFill>
              <a:ln w="9525">
                <a:solidFill>
                  <a:schemeClr val="accent2">
                    <a:alpha val="50000"/>
                  </a:schemeClr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080123" y="3111500"/>
                <a:ext cx="1008634" cy="458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项目实践</a:t>
                </a:r>
              </a:p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以实际交付件评价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9144000" y="2990850"/>
                <a:ext cx="2133600" cy="571500"/>
              </a:xfrm>
              <a:prstGeom prst="roundRect">
                <a:avLst>
                  <a:gd name="adj" fmla="val 13333"/>
                </a:avLst>
              </a:prstGeom>
              <a:solidFill>
                <a:schemeClr val="accent6"/>
              </a:solidFill>
              <a:ln w="9525">
                <a:solidFill>
                  <a:schemeClr val="accent2">
                    <a:alpha val="50000"/>
                  </a:schemeClr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366123" y="3111500"/>
                <a:ext cx="1257554" cy="4589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650"/>
                  </a:lnSpc>
                </a:pPr>
                <a:r>
                  <a:rPr lang="zh-CN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资源复制</a:t>
                </a:r>
              </a:p>
              <a:p>
                <a:pPr algn="l">
                  <a:lnSpc>
                    <a:spcPts val="1650"/>
                  </a:lnSpc>
                </a:pPr>
                <a:r>
                  <a:rPr lang="zh-CN" sz="98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第二轮真实使用后认定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6852285" y="3803650"/>
              <a:ext cx="2713990" cy="677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学生理解看能否解释边界与迁移；教师采用</a:t>
              </a:r>
              <a:b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区分报告生成与实际用于辅导；资源复制须</a:t>
              </a:r>
              <a:b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完成第二轮真实使用后再认定，不预填结论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1904" y="4610100"/>
              <a:ext cx="26304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可复制推广：按课程交付 · 轻量部署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666" y="490220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第二轮实际复用记录是「可复用」的证据前提</a:t>
              </a:r>
            </a:p>
          </p:txBody>
        </p:sp>
      </p:grpSp>
      <p:grpSp>
        <p:nvGrpSpPr>
          <p:cNvPr id="35" name="closing-claim"/>
          <p:cNvGrpSpPr/>
          <p:nvPr/>
        </p:nvGrpSpPr>
        <p:grpSpPr>
          <a:xfrm>
            <a:off x="902208" y="5391150"/>
            <a:ext cx="10380726" cy="952246"/>
            <a:chOff x="902208" y="5391150"/>
            <a:chExt cx="10380726" cy="952246"/>
          </a:xfrm>
        </p:grpSpPr>
        <p:sp>
          <p:nvSpPr>
            <p:cNvPr id="31" name="Rectangle 31"/>
            <p:cNvSpPr/>
            <p:nvPr/>
          </p:nvSpPr>
          <p:spPr>
            <a:xfrm>
              <a:off x="914400" y="5391150"/>
              <a:ext cx="1036320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2208" y="563245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让每一次编程错误，都成为一次</a:t>
              </a: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真正有效的学习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8304" y="6108700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&gt; 职教育工匠，双创筑梦想</a:t>
              </a:r>
              <a:r>
                <a:rPr lang="zh-CN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728065" y="612140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04266" y="463550"/>
            <a:ext cx="10983468" cy="205359"/>
            <a:chOff x="604266" y="463550"/>
            <a:chExt cx="10983468" cy="205359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63550"/>
              <a:ext cx="3445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CODEPILOT EDU · 第十届中华职业教育创新创业大赛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50984" y="463550"/>
              <a:ext cx="493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01 项目背景 · 02 技术创新 · 03 商业路径 · 04 团队规划 · 05 教育价值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594360" y="850900"/>
            <a:ext cx="10988040" cy="810133"/>
            <a:chOff x="594360" y="850900"/>
            <a:chExt cx="1098804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6492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备用：六类风险已识别，应对已配好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42209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答辩追问时使用 · 每条风险都有触发条件与应对动作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515600" y="952500"/>
              <a:ext cx="1066800" cy="285750"/>
            </a:xfrm>
            <a:prstGeom prst="roundRect">
              <a:avLst>
                <a:gd name="adj" fmla="val 1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15025" y="1025525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备用页 01</a:t>
              </a:r>
            </a:p>
          </p:txBody>
        </p:sp>
      </p:grpSp>
      <p:grpSp>
        <p:nvGrpSpPr>
          <p:cNvPr id="47" name="risk-list"/>
          <p:cNvGrpSpPr/>
          <p:nvPr/>
        </p:nvGrpSpPr>
        <p:grpSpPr>
          <a:xfrm>
            <a:off x="602742" y="1866900"/>
            <a:ext cx="10979658" cy="4116959"/>
            <a:chOff x="602742" y="1866900"/>
            <a:chExt cx="10979658" cy="4116959"/>
          </a:xfrm>
        </p:grpSpPr>
        <p:grpSp>
          <p:nvGrpSpPr>
            <p:cNvPr id="14" name="risk-1"/>
            <p:cNvGrpSpPr/>
            <p:nvPr/>
          </p:nvGrpSpPr>
          <p:grpSpPr>
            <a:xfrm>
              <a:off x="602742" y="1866900"/>
              <a:ext cx="10979658" cy="289433"/>
              <a:chOff x="602742" y="1866900"/>
              <a:chExt cx="10979658" cy="289433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02742" y="1892300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获客与订单不达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2852166" y="1930400"/>
                <a:ext cx="56152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漏斗为待验证假设；2027 年 8 包以春季开课前完成试点与采购沟通为前提，未满足则顺延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0039350" y="1866900"/>
                <a:ext cx="154305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673994" y="1924050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获客</a:t>
                </a:r>
              </a:p>
            </p:txBody>
          </p:sp>
        </p:grpSp>
        <p:sp>
          <p:nvSpPr>
            <p:cNvPr id="15" name="Rectangle 15"/>
            <p:cNvSpPr/>
            <p:nvPr/>
          </p:nvSpPr>
          <p:spPr>
            <a:xfrm>
              <a:off x="609600" y="2228850"/>
              <a:ext cx="1097280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  <p:grpSp>
          <p:nvGrpSpPr>
            <p:cNvPr id="20" name="risk-2"/>
            <p:cNvGrpSpPr/>
            <p:nvPr/>
          </p:nvGrpSpPr>
          <p:grpSpPr>
            <a:xfrm>
              <a:off x="602742" y="2533650"/>
              <a:ext cx="10979658" cy="289433"/>
              <a:chOff x="602742" y="2533650"/>
              <a:chExt cx="10979658" cy="289433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602742" y="2559050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保守情景亏损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852166" y="2597150"/>
                <a:ext cx="646334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仅 4 包 2 班、课程工时增至 80h，预计亏损 18,582.80 → 先缩减或推迟付费扩张、按实测范围重新报价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10039350" y="2533650"/>
                <a:ext cx="154305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673994" y="2590800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财务</a:t>
                </a:r>
              </a:p>
            </p:txBody>
          </p:sp>
        </p:grpSp>
        <p:sp>
          <p:nvSpPr>
            <p:cNvPr id="21" name="Rectangle 21"/>
            <p:cNvSpPr/>
            <p:nvPr/>
          </p:nvSpPr>
          <p:spPr>
            <a:xfrm>
              <a:off x="609600" y="2895600"/>
              <a:ext cx="1097280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  <p:grpSp>
          <p:nvGrpSpPr>
            <p:cNvPr id="26" name="risk-3"/>
            <p:cNvGrpSpPr/>
            <p:nvPr/>
          </p:nvGrpSpPr>
          <p:grpSpPr>
            <a:xfrm>
              <a:off x="602742" y="3200400"/>
              <a:ext cx="10979658" cy="289433"/>
              <a:chOff x="602742" y="3200400"/>
              <a:chExt cx="10979658" cy="289433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02742" y="3225800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学生直接获取答案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852166" y="3263900"/>
                <a:ext cx="59776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通用 AI 可给完整代码 → 以修改理由与无提示同类新题检查理解，免费 AI 提示受积分与预算限制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0039350" y="3200400"/>
                <a:ext cx="154305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0673994" y="3257550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教学</a:t>
                </a:r>
              </a:p>
            </p:txBody>
          </p:sp>
        </p:grpSp>
        <p:sp>
          <p:nvSpPr>
            <p:cNvPr id="27" name="Rectangle 27"/>
            <p:cNvSpPr/>
            <p:nvPr/>
          </p:nvSpPr>
          <p:spPr>
            <a:xfrm>
              <a:off x="609600" y="3562350"/>
              <a:ext cx="1097280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  <p:grpSp>
          <p:nvGrpSpPr>
            <p:cNvPr id="32" name="risk-4"/>
            <p:cNvGrpSpPr/>
            <p:nvPr/>
          </p:nvGrpSpPr>
          <p:grpSpPr>
            <a:xfrm>
              <a:off x="602742" y="3867150"/>
              <a:ext cx="10979658" cy="289433"/>
              <a:chOff x="602742" y="3867150"/>
              <a:chExt cx="10979658" cy="289433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602742" y="3892550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服务容量不足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852166" y="3930650"/>
                <a:ext cx="582726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四人工时有限、考试周冲突 → 新交付先检查开发与复核岗位余量；不能按时安排时减单或延期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10039350" y="3867150"/>
                <a:ext cx="154305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673994" y="3924300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容量</a:t>
                </a:r>
              </a:p>
            </p:txBody>
          </p:sp>
        </p:grpSp>
        <p:sp>
          <p:nvSpPr>
            <p:cNvPr id="33" name="Rectangle 33"/>
            <p:cNvSpPr/>
            <p:nvPr/>
          </p:nvSpPr>
          <p:spPr>
            <a:xfrm>
              <a:off x="609600" y="4229100"/>
              <a:ext cx="1097280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  <p:grpSp>
          <p:nvGrpSpPr>
            <p:cNvPr id="38" name="risk-5"/>
            <p:cNvGrpSpPr/>
            <p:nvPr/>
          </p:nvGrpSpPr>
          <p:grpSpPr>
            <a:xfrm>
              <a:off x="602742" y="4533900"/>
              <a:ext cx="10979658" cy="289433"/>
              <a:chOff x="602742" y="4533900"/>
              <a:chExt cx="10979658" cy="289433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02742" y="4559300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模型费用与经费波动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852166" y="4597400"/>
                <a:ext cx="60084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免费 AI 年度预算 600/900/1,200 元封顶 → 接近上限暂停或排队；设置额度与现金缓冲滚动调整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10039350" y="4533900"/>
                <a:ext cx="154305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673994" y="4591050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成本</a:t>
                </a:r>
              </a:p>
            </p:txBody>
          </p:sp>
        </p:grpSp>
        <p:sp>
          <p:nvSpPr>
            <p:cNvPr id="39" name="Rectangle 39"/>
            <p:cNvSpPr/>
            <p:nvPr/>
          </p:nvSpPr>
          <p:spPr>
            <a:xfrm>
              <a:off x="609600" y="4895850"/>
              <a:ext cx="1097280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  <p:grpSp>
          <p:nvGrpSpPr>
            <p:cNvPr id="44" name="risk-6"/>
            <p:cNvGrpSpPr/>
            <p:nvPr/>
          </p:nvGrpSpPr>
          <p:grpSpPr>
            <a:xfrm>
              <a:off x="602742" y="5200650"/>
              <a:ext cx="10979658" cy="289433"/>
              <a:chOff x="602742" y="5200650"/>
              <a:chExt cx="10979658" cy="289433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602742" y="5226050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学业影响服务窗口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852166" y="5264150"/>
                <a:ext cx="526185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开发与响应集中在少数学生 → 限制并行任务并保留交接材料，不以无限免费人工补缺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10039350" y="5200650"/>
                <a:ext cx="154305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0673994" y="5257800"/>
                <a:ext cx="2737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团队</a:t>
                </a:r>
              </a:p>
            </p:txBody>
          </p:sp>
        </p:grpSp>
        <p:sp>
          <p:nvSpPr>
            <p:cNvPr id="45" name="Rectangle 45"/>
            <p:cNvSpPr/>
            <p:nvPr/>
          </p:nvSpPr>
          <p:spPr>
            <a:xfrm>
              <a:off x="609600" y="5562600"/>
              <a:ext cx="1097280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4266" y="5778500"/>
              <a:ext cx="62654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触发与应对对应方案书 4.3 增长与风险分析；现金回款按交付阶段确认，采购未获批不提前承诺开支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032865" y="6369050"/>
            <a:ext cx="5548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C6F64"/>
                </a:solidFill>
                <a:latin typeface="Consolas"/>
                <a:ea typeface="Consolas"/>
                <a:cs typeface="Consolas"/>
              </a:rPr>
              <a:t>14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04266" y="463550"/>
            <a:ext cx="10983468" cy="205359"/>
            <a:chOff x="604266" y="463550"/>
            <a:chExt cx="10983468" cy="205359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63550"/>
              <a:ext cx="3445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CODEPILOT EDU · 第十届中华职业教育创新创业大赛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50984" y="463550"/>
              <a:ext cx="4936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01 项目背景 · 02 技术创新 · 03 商业路径 · 04 团队规划 · 05 教育价值</a:t>
              </a:r>
            </a:p>
          </p:txBody>
        </p:sp>
      </p:grpSp>
      <p:grpSp>
        <p:nvGrpSpPr>
          <p:cNvPr id="9" name="page-title"/>
          <p:cNvGrpSpPr/>
          <p:nvPr/>
        </p:nvGrpSpPr>
        <p:grpSpPr>
          <a:xfrm>
            <a:off x="594360" y="850900"/>
            <a:ext cx="10988040" cy="810133"/>
            <a:chOff x="594360" y="850900"/>
            <a:chExt cx="10988040" cy="810133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850900"/>
              <a:ext cx="48768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备用：评委高频问题与应答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2742" y="1397000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回答均基于已具备事实与官方公开资料，不做超出阶段的承诺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515600" y="952500"/>
              <a:ext cx="1066800" cy="285750"/>
            </a:xfrm>
            <a:prstGeom prst="roundRect">
              <a:avLst>
                <a:gd name="adj" fmla="val 1333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15025" y="1025525"/>
              <a:ext cx="6679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C6F64"/>
                  </a:solidFill>
                  <a:latin typeface="Consolas"/>
                  <a:ea typeface="Microsoft YaHei"/>
                  <a:cs typeface="Consolas"/>
                </a:rPr>
                <a:t>备用页 02</a:t>
              </a:r>
            </a:p>
          </p:txBody>
        </p:sp>
      </p:grpSp>
      <p:grpSp>
        <p:nvGrpSpPr>
          <p:cNvPr id="34" name="qa-list"/>
          <p:cNvGrpSpPr/>
          <p:nvPr/>
        </p:nvGrpSpPr>
        <p:grpSpPr>
          <a:xfrm>
            <a:off x="601980" y="1936750"/>
            <a:ext cx="10980420" cy="4237609"/>
            <a:chOff x="601980" y="1936750"/>
            <a:chExt cx="10980420" cy="4237609"/>
          </a:xfrm>
        </p:grpSpPr>
        <p:grpSp>
          <p:nvGrpSpPr>
            <p:cNvPr id="13" name="qa-1"/>
            <p:cNvGrpSpPr/>
            <p:nvPr/>
          </p:nvGrpSpPr>
          <p:grpSpPr>
            <a:xfrm>
              <a:off x="601980" y="1936750"/>
              <a:ext cx="9778708" cy="522859"/>
              <a:chOff x="601980" y="1936750"/>
              <a:chExt cx="9778708" cy="52285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01980" y="1936750"/>
                <a:ext cx="2499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Q1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5380" y="1936750"/>
                <a:ext cx="307718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与 PTA、头歌等成熟平台的区别？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37666" y="2254250"/>
                <a:ext cx="924302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自动评测、AI 辅助与过程可见均有同类能力，我们不作物独有主张；差异在按单门课程验证「失败依据—提示—教师辅导」的衔接体验与适配支持投入</a:t>
                </a:r>
              </a:p>
            </p:txBody>
          </p:sp>
        </p:grpSp>
        <p:sp>
          <p:nvSpPr>
            <p:cNvPr id="14" name="Rectangle 14"/>
            <p:cNvSpPr/>
            <p:nvPr/>
          </p:nvSpPr>
          <p:spPr>
            <a:xfrm>
              <a:off x="609600" y="2571750"/>
              <a:ext cx="1097280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  <p:grpSp>
          <p:nvGrpSpPr>
            <p:cNvPr id="18" name="qa-2"/>
            <p:cNvGrpSpPr/>
            <p:nvPr/>
          </p:nvGrpSpPr>
          <p:grpSpPr>
            <a:xfrm>
              <a:off x="601980" y="2889250"/>
              <a:ext cx="9601886" cy="522859"/>
              <a:chOff x="601980" y="2889250"/>
              <a:chExt cx="9601886" cy="522859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01980" y="2889250"/>
                <a:ext cx="2499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Q2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35380" y="2889250"/>
                <a:ext cx="253905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为什么不直接用 ChatGPT？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137666" y="3206750"/>
                <a:ext cx="906620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通用 AI 直接给完整代码，思考被跳过；我们把评测依据与 AI 推断分开呈现，三级提示逐层请求默认不给整题答案，免费调用还受积分与预算限制</a:t>
                </a:r>
              </a:p>
            </p:txBody>
          </p:sp>
        </p:grpSp>
        <p:sp>
          <p:nvSpPr>
            <p:cNvPr id="19" name="Rectangle 19"/>
            <p:cNvSpPr/>
            <p:nvPr/>
          </p:nvSpPr>
          <p:spPr>
            <a:xfrm>
              <a:off x="609600" y="3524250"/>
              <a:ext cx="1097280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  <p:grpSp>
          <p:nvGrpSpPr>
            <p:cNvPr id="23" name="qa-3"/>
            <p:cNvGrpSpPr/>
            <p:nvPr/>
          </p:nvGrpSpPr>
          <p:grpSpPr>
            <a:xfrm>
              <a:off x="601980" y="3841750"/>
              <a:ext cx="9267711" cy="522859"/>
              <a:chOff x="601980" y="3841750"/>
              <a:chExt cx="9267711" cy="522859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601980" y="3841750"/>
                <a:ext cx="2499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Q3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35380" y="3841750"/>
                <a:ext cx="2236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学校凭什么为这个付费？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37666" y="4159250"/>
                <a:ext cx="87320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付费主体假设为院系或课程建设经费（须访谈核实）；课程包 4,800 元/学期、训练班 499 元/人，均为经营情景假设，尚无实际订单或收入</a:t>
                </a:r>
              </a:p>
            </p:txBody>
          </p:sp>
        </p:grpSp>
        <p:sp>
          <p:nvSpPr>
            <p:cNvPr id="24" name="Rectangle 24"/>
            <p:cNvSpPr/>
            <p:nvPr/>
          </p:nvSpPr>
          <p:spPr>
            <a:xfrm>
              <a:off x="609600" y="4476750"/>
              <a:ext cx="1097280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  <p:grpSp>
          <p:nvGrpSpPr>
            <p:cNvPr id="28" name="qa-4"/>
            <p:cNvGrpSpPr/>
            <p:nvPr/>
          </p:nvGrpSpPr>
          <p:grpSpPr>
            <a:xfrm>
              <a:off x="601980" y="4794250"/>
              <a:ext cx="8136903" cy="522859"/>
              <a:chOff x="601980" y="4794250"/>
              <a:chExt cx="8136903" cy="522859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601980" y="4794250"/>
                <a:ext cx="2499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Q4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135380" y="4794250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如何保证诊断可靠？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37666" y="5111750"/>
                <a:ext cx="760121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模型推断与执行依据分开显示，提示不可用时保留基础结果和人工求助入口；三语言 30 份固定错误样例另属技术验证计划</a:t>
                </a:r>
              </a:p>
            </p:txBody>
          </p:sp>
        </p:grpSp>
        <p:sp>
          <p:nvSpPr>
            <p:cNvPr id="29" name="Rectangle 29"/>
            <p:cNvSpPr/>
            <p:nvPr/>
          </p:nvSpPr>
          <p:spPr>
            <a:xfrm>
              <a:off x="609600" y="5429250"/>
              <a:ext cx="10972800" cy="9525"/>
            </a:xfrm>
            <a:prstGeom prst="rect">
              <a:avLst/>
            </a:prstGeom>
            <a:solidFill>
              <a:srgbClr val="D9E5DD"/>
            </a:solidFill>
            <a:ln>
              <a:noFill/>
            </a:ln>
          </p:spPr>
        </p:sp>
        <p:grpSp>
          <p:nvGrpSpPr>
            <p:cNvPr id="33" name="qa-5"/>
            <p:cNvGrpSpPr/>
            <p:nvPr/>
          </p:nvGrpSpPr>
          <p:grpSpPr>
            <a:xfrm>
              <a:off x="601980" y="5651500"/>
              <a:ext cx="9361722" cy="522859"/>
              <a:chOff x="601980" y="5651500"/>
              <a:chExt cx="9361722" cy="522859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01980" y="5651500"/>
                <a:ext cx="2499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Q5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35380" y="5651500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目前到底完成了什么？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37666" y="5969000"/>
                <a:ext cx="882603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F64"/>
                    </a:solidFill>
                    <a:latin typeface="+mn-lt"/>
                    <a:ea typeface="+mn-ea"/>
                    <a:cs typeface="+mn-cs"/>
                  </a:rPr>
                  <a:t>已具备方案与界面展示基础（含 1 到 N 求和提示界面）；独立运行与安全、教学成效、实际复用及成交仍需验证，一期课堂验证为下一步计划</a:t>
                </a:r>
              </a:p>
            </p:txBody>
          </p:sp>
        </p:grpSp>
      </p:grpSp>
      <p:grpSp>
        <p:nvGrpSpPr>
          <p:cNvPr id="37" name="footer"/>
          <p:cNvGrpSpPr/>
          <p:nvPr/>
        </p:nvGrpSpPr>
        <p:grpSpPr>
          <a:xfrm>
            <a:off x="604266" y="6369050"/>
            <a:ext cx="10983468" cy="205359"/>
            <a:chOff x="604266" y="6369050"/>
            <a:chExt cx="10983468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604266" y="6369050"/>
              <a:ext cx="3827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F64"/>
                  </a:solidFill>
                  <a:latin typeface="+mn-lt"/>
                  <a:ea typeface="+mn-ea"/>
                  <a:cs typeface="+mn-cs"/>
                </a:rPr>
                <a:t>完成状态表述对齐方案书「现有基础」口径；不升格、不预支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32865" y="6369050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C6F64"/>
                  </a:solidFill>
                  <a:latin typeface="Consolas"/>
                  <a:ea typeface="Consolas"/>
                  <a:cs typeface="Consolas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depilot-dabian">
  <a:themeElements>
    <a:clrScheme name="codepilot-dabian">
      <a:dk1>
        <a:srgbClr val="22312B"/>
      </a:dk1>
      <a:lt1>
        <a:srgbClr val="FFFFFF"/>
      </a:lt1>
      <a:dk2>
        <a:srgbClr val="1F497D"/>
      </a:dk2>
      <a:lt2>
        <a:srgbClr val="FFFFFF"/>
      </a:lt2>
      <a:accent1>
        <a:srgbClr val="12523A"/>
      </a:accent1>
      <a:accent2>
        <a:srgbClr val="2FA36B"/>
      </a:accent2>
      <a:accent3>
        <a:srgbClr val="2FA36B"/>
      </a:accent3>
      <a:accent4>
        <a:srgbClr val="12523A"/>
      </a:accent4>
      <a:accent5>
        <a:srgbClr val="0E1F17"/>
      </a:accent5>
      <a:accent6>
        <a:srgbClr val="F2F8F4"/>
      </a:accent6>
      <a:hlink>
        <a:srgbClr val="2FA36B"/>
      </a:hlink>
      <a:folHlink>
        <a:srgbClr val="2FA36B"/>
      </a:folHlink>
    </a:clrScheme>
    <a:fontScheme name="codepilot-dabian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pilot-dabia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depilot-dabian">
  <a:themeElements>
    <a:clrScheme name="codepilot-dabian">
      <a:dk1>
        <a:srgbClr val="22312B"/>
      </a:dk1>
      <a:lt1>
        <a:srgbClr val="FFFFFF"/>
      </a:lt1>
      <a:dk2>
        <a:srgbClr val="1F497D"/>
      </a:dk2>
      <a:lt2>
        <a:srgbClr val="FFFFFF"/>
      </a:lt2>
      <a:accent1>
        <a:srgbClr val="12523A"/>
      </a:accent1>
      <a:accent2>
        <a:srgbClr val="2FA36B"/>
      </a:accent2>
      <a:accent3>
        <a:srgbClr val="2FA36B"/>
      </a:accent3>
      <a:accent4>
        <a:srgbClr val="12523A"/>
      </a:accent4>
      <a:accent5>
        <a:srgbClr val="0E1F17"/>
      </a:accent5>
      <a:accent6>
        <a:srgbClr val="F2F8F4"/>
      </a:accent6>
      <a:hlink>
        <a:srgbClr val="2FA36B"/>
      </a:hlink>
      <a:folHlink>
        <a:srgbClr val="2FA36B"/>
      </a:folHlink>
    </a:clrScheme>
    <a:fontScheme name="codepilot-dabian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depilot-dabia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2026-10-25T10:54:30Z</dcterms:created>
  <dcterms:modified xsi:type="dcterms:W3CDTF">2026-10-25T10:54:30Z</dcterms:modified>
  <cp:category/>
  <cp:contentStatus/>
</cp:coreProperties>
</file>