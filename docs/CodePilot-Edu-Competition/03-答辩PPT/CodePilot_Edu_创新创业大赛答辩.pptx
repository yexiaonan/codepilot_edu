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5b1f275aac4b44" /><Relationship Type="http://schemas.openxmlformats.org/officeDocument/2006/relationships/extended-properties" Target="/docProps/app.xml" Id="R1b1d851f00244ee8" /><Relationship Type="http://schemas.openxmlformats.org/officeDocument/2006/relationships/officeDocument" Target="/ppt/presentation.xml" Id="Rfa082768a1af43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f4a1baeef24f19"/>
  </p:sldMasterIdLst>
  <p:notesMasterIdLst>
    <p:notesMasterId xmlns:r="http://schemas.openxmlformats.org/officeDocument/2006/relationships" r:id="Re5534088b499496a"/>
  </p:notesMasterIdLst>
  <p:sldIdLst>
    <p:sldId xmlns:r="http://schemas.openxmlformats.org/officeDocument/2006/relationships" id="256" r:id="Re70f835a1ecb4a42"/>
    <p:sldId xmlns:r="http://schemas.openxmlformats.org/officeDocument/2006/relationships" id="257" r:id="R76752b420ca5454a"/>
    <p:sldId xmlns:r="http://schemas.openxmlformats.org/officeDocument/2006/relationships" id="258" r:id="Rc113cb49caca4c51"/>
    <p:sldId xmlns:r="http://schemas.openxmlformats.org/officeDocument/2006/relationships" id="259" r:id="R3635accb997c4fcc"/>
    <p:sldId xmlns:r="http://schemas.openxmlformats.org/officeDocument/2006/relationships" id="260" r:id="R1e2e667cdab540e2"/>
    <p:sldId xmlns:r="http://schemas.openxmlformats.org/officeDocument/2006/relationships" id="261" r:id="R4f68dcb7236242ef"/>
    <p:sldId xmlns:r="http://schemas.openxmlformats.org/officeDocument/2006/relationships" id="262" r:id="R10b80204efb44547"/>
    <p:sldId xmlns:r="http://schemas.openxmlformats.org/officeDocument/2006/relationships" id="263" r:id="Rb508e6897c9044c3"/>
    <p:sldId xmlns:r="http://schemas.openxmlformats.org/officeDocument/2006/relationships" id="264" r:id="Rbcbecd8f3ec2417d"/>
    <p:sldId xmlns:r="http://schemas.openxmlformats.org/officeDocument/2006/relationships" id="265" r:id="R837b902b5bc14846"/>
    <p:sldId xmlns:r="http://schemas.openxmlformats.org/officeDocument/2006/relationships" id="266" r:id="Re6d860200bf6463a"/>
    <p:sldId xmlns:r="http://schemas.openxmlformats.org/officeDocument/2006/relationships" id="267" r:id="R664e8817866d46ca"/>
    <p:sldId xmlns:r="http://schemas.openxmlformats.org/officeDocument/2006/relationships" id="268" r:id="R1b93c7293cd34a72"/>
    <p:sldId xmlns:r="http://schemas.openxmlformats.org/officeDocument/2006/relationships" id="269" r:id="R6fccc130ae1646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c2d325133d54103" /><Relationship Type="http://schemas.openxmlformats.org/officeDocument/2006/relationships/slideMaster" Target="/ppt/slideMasters/slideMaster1.xml" Id="R71f4a1baeef24f19" /><Relationship Type="http://schemas.openxmlformats.org/officeDocument/2006/relationships/notesMaster" Target="/ppt/notesMasters/notesMaster1.xml" Id="Re5534088b499496a" /><Relationship Type="http://schemas.openxmlformats.org/officeDocument/2006/relationships/presProps" Target="/ppt/presProps.xml" Id="R9b69b9eabeb14a14" /><Relationship Type="http://schemas.openxmlformats.org/officeDocument/2006/relationships/tableStyles" Target="/ppt/tableStyles.xml" Id="Rac56ac7e02c643d2" /><Relationship Type="http://schemas.openxmlformats.org/officeDocument/2006/relationships/slide" Target="/ppt/slides/slide1.xml" Id="Re70f835a1ecb4a42" /><Relationship Type="http://schemas.openxmlformats.org/officeDocument/2006/relationships/slide" Target="/ppt/slides/slide2.xml" Id="R76752b420ca5454a" /><Relationship Type="http://schemas.openxmlformats.org/officeDocument/2006/relationships/slide" Target="/ppt/slides/slide3.xml" Id="Rc113cb49caca4c51" /><Relationship Type="http://schemas.openxmlformats.org/officeDocument/2006/relationships/slide" Target="/ppt/slides/slide4.xml" Id="R3635accb997c4fcc" /><Relationship Type="http://schemas.openxmlformats.org/officeDocument/2006/relationships/slide" Target="/ppt/slides/slide5.xml" Id="R1e2e667cdab540e2" /><Relationship Type="http://schemas.openxmlformats.org/officeDocument/2006/relationships/slide" Target="/ppt/slides/slide6.xml" Id="R4f68dcb7236242ef" /><Relationship Type="http://schemas.openxmlformats.org/officeDocument/2006/relationships/slide" Target="/ppt/slides/slide7.xml" Id="R10b80204efb44547" /><Relationship Type="http://schemas.openxmlformats.org/officeDocument/2006/relationships/slide" Target="/ppt/slides/slide8.xml" Id="Rb508e6897c9044c3" /><Relationship Type="http://schemas.openxmlformats.org/officeDocument/2006/relationships/slide" Target="/ppt/slides/slide9.xml" Id="Rbcbecd8f3ec2417d" /><Relationship Type="http://schemas.openxmlformats.org/officeDocument/2006/relationships/slide" Target="/ppt/slides/slide10.xml" Id="R837b902b5bc14846" /><Relationship Type="http://schemas.openxmlformats.org/officeDocument/2006/relationships/slide" Target="/ppt/slides/slide11.xml" Id="Re6d860200bf6463a" /><Relationship Type="http://schemas.openxmlformats.org/officeDocument/2006/relationships/slide" Target="/ppt/slides/slide12.xml" Id="R664e8817866d46ca" /><Relationship Type="http://schemas.openxmlformats.org/officeDocument/2006/relationships/slide" Target="/ppt/slides/slide13.xml" Id="R1b93c7293cd34a72" /><Relationship Type="http://schemas.openxmlformats.org/officeDocument/2006/relationships/slide" Target="/ppt/slides/slide14.xml" Id="R6fccc130ae1646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3dddf949f24f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915214e6234926" /><Relationship Type="http://schemas.openxmlformats.org/officeDocument/2006/relationships/notesMaster" Target="/ppt/notesMasters/notesMaster1.xml" Id="R6aa397f9d7044a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e1a3f96e8584aed" /><Relationship Type="http://schemas.openxmlformats.org/officeDocument/2006/relationships/notesMaster" Target="/ppt/notesMasters/notesMaster1.xml" Id="Rfedc20cf5a4647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54041b1b45f42ce" /><Relationship Type="http://schemas.openxmlformats.org/officeDocument/2006/relationships/notesMaster" Target="/ppt/notesMasters/notesMaster1.xml" Id="Ra65d3a5ce6b34b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b7f7c3cab64b4d" /><Relationship Type="http://schemas.openxmlformats.org/officeDocument/2006/relationships/notesMaster" Target="/ppt/notesMasters/notesMaster1.xml" Id="Rdcd26d7304ed4c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803f72f55c4ca4" /><Relationship Type="http://schemas.openxmlformats.org/officeDocument/2006/relationships/notesMaster" Target="/ppt/notesMasters/notesMaster1.xml" Id="R2fe1e2018a374b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d9ca1b26744482" /><Relationship Type="http://schemas.openxmlformats.org/officeDocument/2006/relationships/notesMaster" Target="/ppt/notesMasters/notesMaster1.xml" Id="Rb9c4d8764c034d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4d44c244332449e" /><Relationship Type="http://schemas.openxmlformats.org/officeDocument/2006/relationships/notesMaster" Target="/ppt/notesMasters/notesMaster1.xml" Id="R9b7939823d6e44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603aa7a9c944c3" /><Relationship Type="http://schemas.openxmlformats.org/officeDocument/2006/relationships/notesMaster" Target="/ppt/notesMasters/notesMaster1.xml" Id="R00eb632cb0e3484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99f54748c874b3b" /><Relationship Type="http://schemas.openxmlformats.org/officeDocument/2006/relationships/notesMaster" Target="/ppt/notesMasters/notesMaster1.xml" Id="Rfe67e60268ef47e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24117f5913d43ea" /><Relationship Type="http://schemas.openxmlformats.org/officeDocument/2006/relationships/notesMaster" Target="/ppt/notesMasters/notesMaster1.xml" Id="R08d1a7dbfa3541e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8d7f2c20db441eb" /><Relationship Type="http://schemas.openxmlformats.org/officeDocument/2006/relationships/notesMaster" Target="/ppt/notesMasters/notesMaster1.xml" Id="R5ad56a88c96b4d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136e7f6f836460e" /><Relationship Type="http://schemas.openxmlformats.org/officeDocument/2006/relationships/notesMaster" Target="/ppt/notesMasters/notesMaster1.xml" Id="R06e66de2776e40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87d9968d81e454a" /><Relationship Type="http://schemas.openxmlformats.org/officeDocument/2006/relationships/notesMaster" Target="/ppt/notesMasters/notesMaster1.xml" Id="Rc1d10654038e42d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ca37378ae8490f" /><Relationship Type="http://schemas.openxmlformats.org/officeDocument/2006/relationships/notesMaster" Target="/ppt/notesMasters/notesMaster1.xml" Id="R1faa5e71adad4e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建议讲述时长：15秒</a:t>
            </a:r>
          </a:p>
          <a:p xmlns:a="http://schemas.openxmlformats.org/drawingml/2006/main">
            <a:r>
              <a:t>各位评委好，我们是ZERO团队。CodePilot Edu聚焦C语言基础课程，帮助初学者理解错因并尝试独立修正。当前完成了方案梳理，技术验证证据待补充。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来源：用户提供的项目任务书（截至2026年10月23日）。项目功能、商业模式及教学效果均为拟验证方案。</a:t>
            </a:r>
          </a:p>
          <a:p xmlns:a="http://schemas.openxmlformats.org/drawingml/2006/main">
            <a:r>
              <a:t>答辩时长依据：同届2026年广西区赛盖章通知（桂统字〔2026〕1号，第2—4页），学生现场路演不超过5分钟、答辩3分钟。主体12页建议285秒（4分45秒），备用页不计主体。来源：广西外国语学院2026-10-21官方通知附带的同届同区赛原版资料包，https://sei.gxufl.edu.cn/info/112386 ，原包 https://gxufl.edu.cn/upload/5b3efb91496e4bc3915d8cb346ca39a3.zip 。本校通知及学院补充材料按本项目统一核验记录执行。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建议讲述时长：24秒</a:t>
            </a:r>
          </a:p>
          <a:p xmlns:a="http://schemas.openxmlformats.org/drawingml/2006/main">
            <a:r>
              <a:t>例如，题目要求输出一到十，代码却只输出到九。评测告诉学生没有通过，但初学者还需要理解循环边界。教师也希望知道哪些错误反复出现、学生怎样纠正。这是待验证场景，问题的频率和严重程度需要真实访谈，不能当成已获得的调研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来源：用户提供的项目任务书（截至2026年10月23日）。项目功能、商业模式及教学效果均为拟验证方案。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建议讲述时长：22秒</a:t>
            </a:r>
          </a:p>
          <a:p xmlns:a="http://schemas.openxmlformats.org/drawingml/2006/main">
            <a:r>
              <a:t>学生、教师和助教直接使用，课程教学单位、学院或学校才可能采购。我们先聚焦一门C语言基础课程，验证循环与条件判断练习的需求，再确认预算、接入和采购流程。当前没有已付费客户证据，也不把所有高校学生都视为已验证市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来源：用户提供的项目任务书（截至2026年10月23日）。项目功能、商业模式及教学效果均为拟验证方案。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建议讲述时长：25秒</a:t>
            </a:r>
          </a:p>
          <a:p xmlns:a="http://schemas.openxmlformats.org/drawingml/2006/main">
            <a:r>
              <a:t>拟实现的闭环是：学生提交，系统先编译和测试，再分析错因、按需给出分层提示。学生修改后再次提交，系统记录纠错过程，为教师汇总常见困难。关键是区分评测事实和AI推测。AI诊断不能代替正确性验证，最终结果仍需要再次评测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来源：用户提供的项目任务书（截至2026年10月23日）。项目功能、商业模式及教学效果均为拟验证方案。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建议讲述时长：25秒</a:t>
            </a:r>
          </a:p>
          <a:p xmlns:a="http://schemas.openxmlformats.org/drawingml/2006/main">
            <a:r>
              <a:t>这是设计效果图，不能作为研发成果。左侧是代码和评测反馈，右侧区分事实与推测。先提示循环边界知识，再请学生检查十能否进入循环，最后给修正思路。学生仍需自行修改并提交。下一步验证评测闭环、异常处理，以及提示与证据是否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来源：用户提供的项目任务书（截至2026年10月23日）。项目功能、商业模式及教学效果均为拟验证方案。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建议讲述时长：24秒</a:t>
            </a:r>
          </a:p>
          <a:p xmlns:a="http://schemas.openxmlformats.org/drawingml/2006/main">
            <a:r>
              <a:t>创新定位是教学方法和应用流程。第一，关联编译、测试与知识点，让诊断能够追溯。第二，按需分层提示，保留独立纠错空间。第三，把重复错因和提示使用汇总给教师。我们拟验证具体课程中的组合体验，教学效果尚需实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来源：用户提供的项目任务书（截至2026年10月23日）。项目功能、商业模式及教学效果均为拟验证方案。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建议讲述时长：28秒</a:t>
            </a:r>
          </a:p>
          <a:p xmlns:a="http://schemas.openxmlformats.org/drawingml/2006/main">
            <a:r>
              <a:t>成熟竞品已有相近能力。PTA有混合答疑，头歌有大模型教学与代码回溯，CodeGrade能够关联代码和测试结果，提供提示护栏与教师可见对话。ChatGPT学习模式也支持分层引导。因此我们不宣称功能独有，重点验证C语言课程的组合体验、教师使用价值和交付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来源：公开官方资料核查，核查日期2026-10-23。未登录试用或询价，公开资料未确认不代表不支持。</a:t>
            </a:r>
          </a:p>
          <a:p xmlns:a="http://schemas.openxmlformats.org/drawingml/2006/main">
            <a:r>
              <a:t>C01 PTA 产品介绍：https://www.pat-edu.com/pta.html</a:t>
            </a:r>
          </a:p>
          <a:p xmlns:a="http://schemas.openxmlformats.org/drawingml/2006/main">
            <a:r>
              <a:t>C02 头歌实践教学平台官网：https://ww.educoder.net/</a:t>
            </a:r>
          </a:p>
          <a:p xmlns:a="http://schemas.openxmlformats.org/drawingml/2006/main">
            <a:r>
              <a:t>C03 头歌教学课堂创建页：https://www.educoder.net/classrooms/new</a:t>
            </a:r>
          </a:p>
          <a:p xmlns:a="http://schemas.openxmlformats.org/drawingml/2006/main">
            <a:r>
              <a:t>C04 CodeRunner 作者维护文档：https://trampgeek.github.io/moodle-qtype_coderunner/</a:t>
            </a:r>
          </a:p>
          <a:p xmlns:a="http://schemas.openxmlformats.org/drawingml/2006/main">
            <a:r>
              <a:t>C05 MoodleDocs：Quiz reports：https://docs.moodle.org/en/Quiz_reports</a:t>
            </a:r>
          </a:p>
          <a:p xmlns:a="http://schemas.openxmlformats.org/drawingml/2006/main">
            <a:r>
              <a:t>C06 CodeGrade：Autograder：https://www.codegrade.com/solutions/autograder</a:t>
            </a:r>
          </a:p>
          <a:p xmlns:a="http://schemas.openxmlformats.org/drawingml/2006/main">
            <a:r>
              <a:t>C07 CodeGrade Help：AI Assistant：https://help.codegrade.com/setup-assignment/other-features/ai-assistant</a:t>
            </a:r>
          </a:p>
          <a:p xmlns:a="http://schemas.openxmlformats.org/drawingml/2006/main">
            <a:r>
              <a:t>C08 CodeGrade：AI Coding Assistant for CS Courses：https://www.codegrade.com/solutions/ai-assistant</a:t>
            </a:r>
          </a:p>
          <a:p xmlns:a="http://schemas.openxmlformats.org/drawingml/2006/main">
            <a:r>
              <a:t>C09 CodeGrade：LMS Integration for Code Autograding：https://www.codegrade.com/solutions/learning-and-grading-in-one-place</a:t>
            </a:r>
          </a:p>
          <a:p xmlns:a="http://schemas.openxmlformats.org/drawingml/2006/main">
            <a:r>
              <a:t>C10 OpenAI Help Center：Using study mode in ChatGPT：https://help.openai.com/en/articles/11780217-using-study-mode-in-chatgpt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建议讲述时长：28秒</a:t>
            </a:r>
          </a:p>
          <a:p xmlns:a="http://schemas.openxmlformats.org/drawingml/2006/main">
            <a:r>
              <a:t>拟交付的不只是模型答疑，还包括课程环境、题目适配、提示配置、教师报告和限额支持。先做校内小规模验证，再探索课程订阅与院系服务。潜在付费动力是减少重复整理反馈的工作，但需要教师认可，并确认预算和采购路径。所有商业模式仍是计划，尚未形成可确认成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来源：用户提供的项目任务书（截至2026年10月23日）。项目功能、商业模式及教学效果均为拟验证方案。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建议讲述时长：32秒</a:t>
            </a:r>
          </a:p>
          <a:p xmlns:a="http://schemas.openxmlformats.org/drawingml/2006/main">
            <a:r>
              <a:t>这是情景假设，不是报价。按一百名学生、十题、每题三次提交，四成触发AI，计入计算资源和劳动估值后，每课程每学期成本五百三十三元。若收费一千五百元，贡献额九百六十七元、贡献率百分之六十四点五，并非净利润。若研发预算为一万二千元，需要十三个同规模课程包覆盖该预算。实际售价与成交仍待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本项目统一财务情景模型（自行建模假设，截至2026年10月23日）。计算：100×10×3=3000次，3000×40%=1200次，1200×0.02=24元，3000×0.003=9元，24+9+120+20+80+120+160=533元，1500−533=967元，967/1500=64.5%，ceil(12000/967)=13。未包含一次性研发、税费、采购差旅、获客等未分摊费用。</a:t>
            </a:r>
          </a:p>
          <a:p xmlns:a="http://schemas.openxmlformats.org/drawingml/2006/main">
            <a:r>
              <a:t>追问补充（不计主讲时长）：基准运维、客户支持和课程适配共9小时，劳动估值360元。若三项服务劳动工时均翻倍至18小时，其他条件不变，课程交付成本为893元，贡献607元，贡献率40.5%。该情景表明交付工时需要实际记录与控制。以上仍为假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建议讲述时长：18秒</a:t>
            </a:r>
          </a:p>
          <a:p xmlns:a="http://schemas.openxmlformats.org/drawingml/2006/main">
            <a:r>
              <a:t>ZERO团队有四名学生。拟由叶兴楠负责统筹与答辩，林李想负责后端评测，黄显涛负责前端，汪盛淇负责AI与质量。具体技能与成果需核验，指导教师仍待确认。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来源：用户确认的团队信息（2026年10月23日）。姓名与团队名称已确认，分工为用户授权拟定，技能及获奖证据待补。指导教师待确认。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建议讲述时长：20秒</a:t>
            </a:r>
          </a:p>
          <a:p xmlns:a="http://schemas.openxmlformats.org/drawingml/2006/main">
            <a:r>
              <a:t>教育价值需要看学生能否解释错因、独立修正，以及教师能否据此采取教学行动。计划结合提交记录、同难度任务和访谈验证，而不能用一次通过率代替学习效果。团队也将在软件工程、AI应用和创业调研中形成真实实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来源：用户提供的项目任务书（截至2026年10月23日）。项目功能、商业模式及教学效果均为拟验证方案。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建议讲述时长：24秒</a:t>
            </a:r>
          </a:p>
          <a:p xmlns:a="http://schemas.openxmlformats.org/drawingml/2006/main">
            <a:r>
              <a:t>本轮确认完成的是方案、竞品核查和情景模型。研发程度仍需源码和测试记录核实。提交后计划先访谈并建立参考集，再验证受限评测闭环，取得授权后开展试点和付费验证。阶段推进以证据为条件。让每一次编程错误，都成为一次真正有效的学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来源：用户提供的项目任务书（截至2026年10月23日）。项目功能、商业模式及教学效果均为拟验证方案。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备用回答：前端使用Vue 3，FastAPI提供评测调度、诊断和数据接口，SQLite满足初期验证。GCC在隔离的受限执行环境内编译和运行学生代码，只把必要证据交给模型。学生代码可能包含死循环或文件访问，因此不能直接在业务主机进程中运行。拟设置超时、CPU、内存、进程数量、文件与网络限制，并验证隔离边界和异常处理。AI只解释证据，不能替代评测。本页全部是技术方案，尚待实现和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来源：用户提供的项目任务书（截至2026年10月23日）。项目功能、商业模式及教学效果均为拟验证方案。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用回答说明：第一，不以竞品缺少AI或教学记录作为差异，重点验证具体课程流程和轻量交付。第二，通用模型可以作为能力来源，但课程流程需要评测、分层提示和教师数据集成。第三，付费理由仍是待验证假设，需真实采购沟通。第四，不承诺AI绝对准确，拟用证据约束、事实与推测分离、教师审阅案例集、误诊记录及再次评测降低风险。第五，当前仅确认本轮方案梳理与情景模型，源码、测试、调研与试点须以真实证据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来源：项目任务书与统一事实口径，竞品回答需结合第7页对应的官方产品资料。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33dd6bad8e4c7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07486350084e8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c40e930ae2483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e60f2284024a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430ae8c8af4e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7d8cab2e9c4e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3FC759-D8A2-4A29-A895-2C2C25870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EA5E744-0CB0-48EA-B9DB-F61E0C2767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893F1DE-926E-48C4-BFAC-7419A41927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65B30A8-DF4C-4346-B97E-B7C57A272E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AAC04D7-D48A-4C60-8234-BB12A5E342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8248A8A-591D-4608-BD6A-4FA339F90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9262DB2-7E48-4834-BBD5-E183612FA6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3F7BD9D-F13F-493D-B555-F5EFEC6DFCA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59E5D61-06C4-4387-A23C-A5D519D827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E31473-5543-4D3F-90D2-D7AF79300A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10ae7befe746e0" /><Relationship Type="http://schemas.openxmlformats.org/officeDocument/2006/relationships/slideLayout" Target="/ppt/slideLayouts/slideLayout1.xml" Id="R9ed328b68c874c14" /><Relationship Type="http://schemas.openxmlformats.org/officeDocument/2006/relationships/slideLayout" Target="/ppt/slideLayouts/slideLayout2.xml" Id="Rd5ffc4b2128e401b" /><Relationship Type="http://schemas.openxmlformats.org/officeDocument/2006/relationships/slideLayout" Target="/ppt/slideLayouts/slideLayout3.xml" Id="Re854a2f638594065" /><Relationship Type="http://schemas.openxmlformats.org/officeDocument/2006/relationships/slideLayout" Target="/ppt/slideLayouts/slideLayout4.xml" Id="Ra46ad52976ce48ee" /><Relationship Type="http://schemas.openxmlformats.org/officeDocument/2006/relationships/slideLayout" Target="/ppt/slideLayouts/slideLayout5.xml" Id="R24fc808baef04b6b" /><Relationship Type="http://schemas.openxmlformats.org/officeDocument/2006/relationships/slideLayout" Target="/ppt/slideLayouts/slideLayout6.xml" Id="R5e17c48f2ec740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d328b68c874c14"/>
    <p:sldLayoutId xmlns:r="http://schemas.openxmlformats.org/officeDocument/2006/relationships" id="2147483650" r:id="Rd5ffc4b2128e401b"/>
    <p:sldLayoutId xmlns:r="http://schemas.openxmlformats.org/officeDocument/2006/relationships" id="2147483651" r:id="Re854a2f638594065"/>
    <p:sldLayoutId xmlns:r="http://schemas.openxmlformats.org/officeDocument/2006/relationships" id="2147483652" r:id="Ra46ad52976ce48ee"/>
    <p:sldLayoutId xmlns:r="http://schemas.openxmlformats.org/officeDocument/2006/relationships" id="2147483653" r:id="R24fc808baef04b6b"/>
    <p:sldLayoutId xmlns:r="http://schemas.openxmlformats.org/officeDocument/2006/relationships" id="2147483654" r:id="R5e17c48f2ec740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420b3fd39a4c45" /><Relationship Type="http://schemas.openxmlformats.org/officeDocument/2006/relationships/notesSlide" Target="/ppt/notesSlides/notesSlide1.xml" Id="R8d49f61dcf2f495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34d2de02b44b6" /><Relationship Type="http://schemas.openxmlformats.org/officeDocument/2006/relationships/notesSlide" Target="/ppt/notesSlides/notesSlide2.xml" Id="Rbe4a0102fa9749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93cfb49eff4d97" /><Relationship Type="http://schemas.openxmlformats.org/officeDocument/2006/relationships/notesSlide" Target="/ppt/notesSlides/notesSlide3.xml" Id="R3eb57392ff8e4f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202d652475442d" /><Relationship Type="http://schemas.openxmlformats.org/officeDocument/2006/relationships/notesSlide" Target="/ppt/notesSlides/notesSlide4.xml" Id="Rf06a9bb2ade74d5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bcf52e445d4ee9" /><Relationship Type="http://schemas.openxmlformats.org/officeDocument/2006/relationships/notesSlide" Target="/ppt/notesSlides/notesSlide5.xml" Id="R6a42b3f093db45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2697f4c4254114" /><Relationship Type="http://schemas.openxmlformats.org/officeDocument/2006/relationships/notesSlide" Target="/ppt/notesSlides/notesSlide6.xml" Id="R41a485787cd740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170e35af114bd8" /><Relationship Type="http://schemas.openxmlformats.org/officeDocument/2006/relationships/notesSlide" Target="/ppt/notesSlides/notesSlide7.xml" Id="Rc4614376244b41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3dbc9a97374cfc" /><Relationship Type="http://schemas.openxmlformats.org/officeDocument/2006/relationships/notesSlide" Target="/ppt/notesSlides/notesSlide8.xml" Id="Rf6864c0002cd421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7bdf644e3947a1" /><Relationship Type="http://schemas.openxmlformats.org/officeDocument/2006/relationships/notesSlide" Target="/ppt/notesSlides/notesSlide9.xml" Id="R55beafdae2bf40d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18223bdf1594f31" /><Relationship Type="http://schemas.openxmlformats.org/officeDocument/2006/relationships/notesSlide" Target="/ppt/notesSlides/notesSlide10.xml" Id="R829f9968600a4f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cb72d5bf7c48e7" /><Relationship Type="http://schemas.openxmlformats.org/officeDocument/2006/relationships/notesSlide" Target="/ppt/notesSlides/notesSlide11.xml" Id="R8784f953a66e4e0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3923d72d3043fc" /><Relationship Type="http://schemas.openxmlformats.org/officeDocument/2006/relationships/notesSlide" Target="/ppt/notesSlides/notesSlide12.xml" Id="Raa394418cc8448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77e0156abe4940" /><Relationship Type="http://schemas.openxmlformats.org/officeDocument/2006/relationships/notesSlide" Target="/ppt/notesSlides/notesSlide13.xml" Id="R3d37c49c99cb4f8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b0f7fff32344f7" /><Relationship Type="http://schemas.openxmlformats.org/officeDocument/2006/relationships/notesSlide" Target="/ppt/notesSlides/notesSlide14.xml" Id="R977296b554bc4b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mpetition">
            <a:extLst xmlns:a="http://schemas.openxmlformats.org/drawingml/2006/main">
              <a:ext uri="{FF2B5EF4-FFF2-40B4-BE49-F238E27FC236}">
                <a16:creationId xmlns:a16="http://schemas.microsoft.com/office/drawing/2014/main" id="{8B655101-901C-453F-BD35-227BCE2D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第十届中华职业教育创新创业大赛  学生赛道本科组</a:t>
            </a:r>
          </a:p>
        </p:txBody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63EEC770-9206-4A0F-AF0C-54A78E11F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685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3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B709A6EE-C658-474B-ADA5-62D267A2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基于AI错因诊断与学习行为分析的</a:t>
            </a:r>
          </a:p>
          <a:p xmlns:a="http://schemas.openxmlformats.org/drawingml/2006/main">
            <a:pPr algn="l">
              <a:def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程序设计智能实训平台</a:t>
            </a:r>
          </a:p>
        </p:txBody>
      </p:sp>
      <p:sp>
        <p:nvSpPr>
          <p:cNvPr id="4" name="institution">
            <a:extLst xmlns:a="http://schemas.openxmlformats.org/drawingml/2006/main">
              <a:ext uri="{FF2B5EF4-FFF2-40B4-BE49-F238E27FC236}">
                <a16:creationId xmlns:a16="http://schemas.microsoft.com/office/drawing/2014/main" id="{FD766F40-1F7C-41FD-B3C0-DDB74690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628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广西职业师范学院</a:t>
            </a:r>
          </a:p>
          <a:p xmlns:a="http://schemas.openxmlformats.org/drawingml/2006/main">
            <a:pPr algn="l">
              <a:def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计算机与信息工程学院</a:t>
            </a:r>
          </a:p>
        </p:txBody>
      </p:sp>
      <p:sp>
        <p:nvSpPr>
          <p:cNvPr id="5" name="team">
            <a:extLst xmlns:a="http://schemas.openxmlformats.org/drawingml/2006/main">
              <a:ext uri="{FF2B5EF4-FFF2-40B4-BE49-F238E27FC236}">
                <a16:creationId xmlns:a16="http://schemas.microsoft.com/office/drawing/2014/main" id="{122FBC4E-E9F4-4DA6-ABF0-67A0926B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006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ZERO团队    项目负责人：叶兴楠</a:t>
            </a:r>
          </a:p>
        </p:txBody>
      </p:sp>
      <p:sp>
        <p:nvSpPr>
          <p:cNvPr id="6" name="date">
            <a:extLst xmlns:a="http://schemas.openxmlformats.org/drawingml/2006/main">
              <a:ext uri="{FF2B5EF4-FFF2-40B4-BE49-F238E27FC236}">
                <a16:creationId xmlns:a16="http://schemas.microsoft.com/office/drawing/2014/main" id="{F5B4F9A5-9FA6-4C17-ABB5-4CAB1A61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388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2026年10月23日</a:t>
            </a:r>
          </a:p>
        </p:txBody>
      </p:sp>
      <p:sp>
        <p:nvSpPr>
          <p:cNvPr id="7" name="concept-plane">
            <a:extLst xmlns:a="http://schemas.openxmlformats.org/drawingml/2006/main">
              <a:ext uri="{FF2B5EF4-FFF2-40B4-BE49-F238E27FC236}">
                <a16:creationId xmlns:a16="http://schemas.microsoft.com/office/drawing/2014/main" id="{FAB29DFC-B2D2-48D3-A554-025D3822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3524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cept-label">
            <a:extLst xmlns:a="http://schemas.openxmlformats.org/drawingml/2006/main">
              <a:ext uri="{FF2B5EF4-FFF2-40B4-BE49-F238E27FC236}">
                <a16:creationId xmlns:a16="http://schemas.microsoft.com/office/drawing/2014/main" id="{D51C73E9-A961-45B4-9ADD-53223E37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009775"/>
            <a:ext cx="3028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设计效果图</a:t>
            </a:r>
          </a:p>
        </p:txBody>
      </p:sp>
      <p:sp>
        <p:nvSpPr>
          <p:cNvPr id="9" name="concept-code">
            <a:extLst xmlns:a="http://schemas.openxmlformats.org/drawingml/2006/main">
              <a:ext uri="{FF2B5EF4-FFF2-40B4-BE49-F238E27FC236}">
                <a16:creationId xmlns:a16="http://schemas.microsoft.com/office/drawing/2014/main" id="{012638CC-DB5E-43B4-8E61-2D9EEA27A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24125"/>
            <a:ext cx="304800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for (int i = 1;</a:t>
            </a:r>
          </a:p>
          <a:p xmlns:a="http://schemas.openxmlformats.org/drawingml/2006/main">
            <a: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     i &lt; 10; i++) {</a:t>
            </a:r>
          </a:p>
          <a:p xmlns:a="http://schemas.openxmlformats.org/drawingml/2006/main">
            <a: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    printf("%d", i);</a:t>
            </a:r>
          </a:p>
          <a:p xmlns:a="http://schemas.openxmlformats.org/drawingml/2006/main">
            <a: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10" name="concept-divider">
            <a:extLst xmlns:a="http://schemas.openxmlformats.org/drawingml/2006/main">
              <a:ext uri="{FF2B5EF4-FFF2-40B4-BE49-F238E27FC236}">
                <a16:creationId xmlns:a16="http://schemas.microsoft.com/office/drawing/2014/main" id="{BC8DD0B9-7A9A-4A22-90D6-E21B245B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00500"/>
            <a:ext cx="306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1" name="concept-hint">
            <a:extLst xmlns:a="http://schemas.openxmlformats.org/drawingml/2006/main">
              <a:ext uri="{FF2B5EF4-FFF2-40B4-BE49-F238E27FC236}">
                <a16:creationId xmlns:a16="http://schemas.microsoft.com/office/drawing/2014/main" id="{9E13111F-A9BB-4EE8-9745-28E7DD0E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29100"/>
            <a:ext cx="3009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先检查循环的终止条件</a:t>
            </a:r>
          </a:p>
        </p:txBody>
      </p:sp>
      <p:sp>
        <p:nvSpPr>
          <p:cNvPr id="12" name="stage">
            <a:extLst xmlns:a="http://schemas.openxmlformats.org/drawingml/2006/main">
              <a:ext uri="{FF2B5EF4-FFF2-40B4-BE49-F238E27FC236}">
                <a16:creationId xmlns:a16="http://schemas.microsoft.com/office/drawing/2014/main" id="{CCEF0BA3-AB5D-41FC-88E3-CDA7220D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5476875"/>
            <a:ext cx="35147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立项与方案梳理阶段</a:t>
            </a:r>
          </a:p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初步技术验证证据待补充</a:t>
            </a:r>
          </a:p>
        </p:txBody>
      </p:sp>
    </p:spTree>
    <p:extLst>
      <p:ext uri="{BB962C8B-B14F-4D97-AF65-F5344CB8AC3E}">
        <p14:creationId xmlns:p14="http://schemas.microsoft.com/office/powerpoint/2010/main" val="13500123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B405BB6-BEB1-4682-BD63-59568DFB2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从发现错误到理解错误，学习仍有改进空间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5A2C755-92BF-4901-BC9C-E3DF7FC5A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待验证教学场景：C语言循环边界错误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616F7C-0D2A-444B-A1D4-D1910F6E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C844D01-BEEA-42E6-AF12-AA988077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45BC4C5-A6C3-413C-AC55-244B633EF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6" name="example-tag">
            <a:extLst xmlns:a="http://schemas.openxmlformats.org/drawingml/2006/main">
              <a:ext uri="{FF2B5EF4-FFF2-40B4-BE49-F238E27FC236}">
                <a16:creationId xmlns:a16="http://schemas.microsoft.com/office/drawing/2014/main" id="{F556AD31-295F-4614-B6E2-A9E1240D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286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场景示例（非实际测试记录）</a:t>
            </a:r>
          </a:p>
        </p:txBody>
      </p:sp>
      <p:sp>
        <p:nvSpPr>
          <p:cNvPr id="7" name="example-code">
            <a:extLst xmlns:a="http://schemas.openxmlformats.org/drawingml/2006/main">
              <a:ext uri="{FF2B5EF4-FFF2-40B4-BE49-F238E27FC236}">
                <a16:creationId xmlns:a16="http://schemas.microsoft.com/office/drawing/2014/main" id="{81057215-FF7A-4D7A-83FD-8EB0DA4AF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54292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for (int i = 1; i &lt; 10; i++) {</a:t>
            </a:r>
          </a:p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    printf("%d ", i);</a:t>
            </a:r>
          </a:p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8" name="example-rule">
            <a:extLst xmlns:a="http://schemas.openxmlformats.org/drawingml/2006/main">
              <a:ext uri="{FF2B5EF4-FFF2-40B4-BE49-F238E27FC236}">
                <a16:creationId xmlns:a16="http://schemas.microsoft.com/office/drawing/2014/main" id="{A3D927CE-D548-4F9D-9683-CEAB10FA0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5267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4E9E5"/>
            </a:solidFill>
            <a:prstDash val="solid"/>
          </a:ln>
        </p:spPr>
      </p:sp>
      <p:sp>
        <p:nvSpPr>
          <p:cNvPr id="9" name="expected">
            <a:extLst xmlns:a="http://schemas.openxmlformats.org/drawingml/2006/main">
              <a:ext uri="{FF2B5EF4-FFF2-40B4-BE49-F238E27FC236}">
                <a16:creationId xmlns:a16="http://schemas.microsoft.com/office/drawing/2014/main" id="{315E3FCF-2BE9-4223-A4C5-2DB3C869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33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题目要求：输出 1 至 10</a:t>
            </a:r>
          </a:p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示例结果：输出 1 至 9</a:t>
            </a:r>
          </a:p>
        </p:txBody>
      </p:sp>
      <p:sp>
        <p:nvSpPr>
          <p:cNvPr id="10" name="key-problem">
            <a:extLst xmlns:a="http://schemas.openxmlformats.org/drawingml/2006/main">
              <a:ext uri="{FF2B5EF4-FFF2-40B4-BE49-F238E27FC236}">
                <a16:creationId xmlns:a16="http://schemas.microsoft.com/office/drawing/2014/main" id="{935429C7-02D4-4D08-8DE1-8E428041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05425"/>
            <a:ext cx="533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“没有通过”之后，还需要解释与纠错</a:t>
            </a:r>
          </a:p>
        </p:txBody>
      </p:sp>
      <p:sp>
        <p:nvSpPr>
          <p:cNvPr id="11" name="split">
            <a:extLst xmlns:a="http://schemas.openxmlformats.org/drawingml/2006/main">
              <a:ext uri="{FF2B5EF4-FFF2-40B4-BE49-F238E27FC236}">
                <a16:creationId xmlns:a16="http://schemas.microsoft.com/office/drawing/2014/main" id="{AFDB094B-5B92-4DB7-9612-4AA19C7F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47850"/>
            <a:ext cx="0" cy="4057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2" name="student-label">
            <a:extLst xmlns:a="http://schemas.openxmlformats.org/drawingml/2006/main">
              <a:ext uri="{FF2B5EF4-FFF2-40B4-BE49-F238E27FC236}">
                <a16:creationId xmlns:a16="http://schemas.microsoft.com/office/drawing/2014/main" id="{C911F78F-E65E-4402-B983-43207AA9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18383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学生端</a:t>
            </a:r>
          </a:p>
        </p:txBody>
      </p:sp>
      <p:sp>
        <p:nvSpPr>
          <p:cNvPr id="13" name="student-problem">
            <a:extLst xmlns:a="http://schemas.openxmlformats.org/drawingml/2006/main">
              <a:ext uri="{FF2B5EF4-FFF2-40B4-BE49-F238E27FC236}">
                <a16:creationId xmlns:a16="http://schemas.microsoft.com/office/drawing/2014/main" id="{61671AA8-1E00-46AC-96D2-C81ECF65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2400300"/>
            <a:ext cx="4572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报错信息难以对应到具体知识点</a:t>
            </a:r>
          </a:p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直接获取答案，可能跳过思考过程</a:t>
            </a:r>
          </a:p>
        </p:txBody>
      </p:sp>
      <p:sp>
        <p:nvSpPr>
          <p:cNvPr id="14" name="right-rule">
            <a:extLst xmlns:a="http://schemas.openxmlformats.org/drawingml/2006/main">
              <a:ext uri="{FF2B5EF4-FFF2-40B4-BE49-F238E27FC236}">
                <a16:creationId xmlns:a16="http://schemas.microsoft.com/office/drawing/2014/main" id="{7BF8E56A-7444-48AF-843A-E126B15C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38550"/>
            <a:ext cx="4638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5" name="teacher-label">
            <a:extLst xmlns:a="http://schemas.openxmlformats.org/drawingml/2006/main">
              <a:ext uri="{FF2B5EF4-FFF2-40B4-BE49-F238E27FC236}">
                <a16:creationId xmlns:a16="http://schemas.microsoft.com/office/drawing/2014/main" id="{8D41A370-FA1B-49EA-8105-D7C80CF3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9433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教师端</a:t>
            </a:r>
          </a:p>
        </p:txBody>
      </p:sp>
      <p:sp>
        <p:nvSpPr>
          <p:cNvPr id="16" name="teacher-problem">
            <a:extLst xmlns:a="http://schemas.openxmlformats.org/drawingml/2006/main">
              <a:ext uri="{FF2B5EF4-FFF2-40B4-BE49-F238E27FC236}">
                <a16:creationId xmlns:a16="http://schemas.microsoft.com/office/drawing/2014/main" id="{5CBB7247-72BC-4E37-AAFF-714A6C12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495800"/>
            <a:ext cx="4572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逐份查看代码，反馈时间有限</a:t>
            </a:r>
          </a:p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正确率难以呈现学生怎样完成纠错</a:t>
            </a:r>
          </a:p>
        </p:txBody>
      </p:sp>
      <p:sp>
        <p:nvSpPr>
          <p:cNvPr id="17" name="validation-note">
            <a:extLst xmlns:a="http://schemas.openxmlformats.org/drawingml/2006/main">
              <a:ext uri="{FF2B5EF4-FFF2-40B4-BE49-F238E27FC236}">
                <a16:creationId xmlns:a16="http://schemas.microsoft.com/office/drawing/2014/main" id="{472588A5-810C-4742-AAF0-36B9A2DE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56959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以上问题需通过真实师生访谈和课程试点验证</a:t>
            </a:r>
          </a:p>
        </p:txBody>
      </p:sp>
    </p:spTree>
    <p:extLst>
      <p:ext uri="{BB962C8B-B14F-4D97-AF65-F5344CB8AC3E}">
        <p14:creationId xmlns:p14="http://schemas.microsoft.com/office/powerpoint/2010/main" val="3247689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B36786-0B89-4CCE-BFF3-F6FA6607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第一阶段聚焦一门C语言基础课程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762A3BA-4232-40E4-B2DD-9B2AA6E6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从校内课程切入，逐步验证真实需求与采购条件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F2B5A31-99DE-4266-A398-6D4D6C5D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1E0F6009-E306-40B7-9C6C-84BC4C37B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9DDF0B3-C91C-4F5E-9CAB-2813A5F01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6" name="h-0">
            <a:extLst xmlns:a="http://schemas.openxmlformats.org/drawingml/2006/main">
              <a:ext uri="{FF2B5EF4-FFF2-40B4-BE49-F238E27FC236}">
                <a16:creationId xmlns:a16="http://schemas.microsoft.com/office/drawing/2014/main" id="{A796D35E-0958-4768-9CC3-368DE4976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90725"/>
            <a:ext cx="3267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直接用户</a:t>
            </a:r>
          </a:p>
        </p:txBody>
      </p:sp>
      <p:sp>
        <p:nvSpPr>
          <p:cNvPr id="7" name="h-1">
            <a:extLst xmlns:a="http://schemas.openxmlformats.org/drawingml/2006/main">
              <a:ext uri="{FF2B5EF4-FFF2-40B4-BE49-F238E27FC236}">
                <a16:creationId xmlns:a16="http://schemas.microsoft.com/office/drawing/2014/main" id="{0022FB13-F3FC-46B2-855F-52D32605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90725"/>
            <a:ext cx="3267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教学场景</a:t>
            </a:r>
          </a:p>
        </p:txBody>
      </p:sp>
      <p:sp>
        <p:nvSpPr>
          <p:cNvPr id="8" name="h-2">
            <a:extLst xmlns:a="http://schemas.openxmlformats.org/drawingml/2006/main">
              <a:ext uri="{FF2B5EF4-FFF2-40B4-BE49-F238E27FC236}">
                <a16:creationId xmlns:a16="http://schemas.microsoft.com/office/drawing/2014/main" id="{E67D4CE9-6EC3-4F61-9649-52E3CF37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990725"/>
            <a:ext cx="32670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潜在付费方</a:t>
            </a:r>
          </a:p>
        </p:txBody>
      </p:sp>
      <p:sp>
        <p:nvSpPr>
          <p:cNvPr id="9" name="v1">
            <a:extLst xmlns:a="http://schemas.openxmlformats.org/drawingml/2006/main">
              <a:ext uri="{FF2B5EF4-FFF2-40B4-BE49-F238E27FC236}">
                <a16:creationId xmlns:a16="http://schemas.microsoft.com/office/drawing/2014/main" id="{35A5C441-72C6-4829-8A0B-95AD985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71675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0" name="v2">
            <a:extLst xmlns:a="http://schemas.openxmlformats.org/drawingml/2006/main">
              <a:ext uri="{FF2B5EF4-FFF2-40B4-BE49-F238E27FC236}">
                <a16:creationId xmlns:a16="http://schemas.microsoft.com/office/drawing/2014/main" id="{7BF4A805-F3AC-4134-A4A9-32187A74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1971675"/>
            <a:ext cx="0" cy="2962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1" name="users">
            <a:extLst xmlns:a="http://schemas.openxmlformats.org/drawingml/2006/main">
              <a:ext uri="{FF2B5EF4-FFF2-40B4-BE49-F238E27FC236}">
                <a16:creationId xmlns:a16="http://schemas.microsoft.com/office/drawing/2014/main" id="{B2DC5529-762F-4693-941B-00ACC921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14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程序设计初学者</a:t>
            </a:r>
          </a:p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C语言任课教师</a:t>
            </a:r>
          </a:p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课程助教</a:t>
            </a:r>
          </a:p>
        </p:txBody>
      </p:sp>
      <p:sp>
        <p:nvSpPr>
          <p:cNvPr id="12" name="cases">
            <a:extLst xmlns:a="http://schemas.openxmlformats.org/drawingml/2006/main">
              <a:ext uri="{FF2B5EF4-FFF2-40B4-BE49-F238E27FC236}">
                <a16:creationId xmlns:a16="http://schemas.microsoft.com/office/drawing/2014/main" id="{CD939E0D-A5F0-4410-93A9-1FA562DE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1432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课内基础实训</a:t>
            </a:r>
          </a:p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课后作业纠错</a:t>
            </a:r>
          </a:p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循环与条件判断练习</a:t>
            </a:r>
          </a:p>
        </p:txBody>
      </p:sp>
      <p:sp>
        <p:nvSpPr>
          <p:cNvPr id="13" name="payers">
            <a:extLst xmlns:a="http://schemas.openxmlformats.org/drawingml/2006/main">
              <a:ext uri="{FF2B5EF4-FFF2-40B4-BE49-F238E27FC236}">
                <a16:creationId xmlns:a16="http://schemas.microsoft.com/office/drawing/2014/main" id="{2BE47322-69F3-4D0E-B9DE-3F5187AB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781300"/>
            <a:ext cx="3267075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课程教学单位</a:t>
            </a:r>
          </a:p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二级学院</a:t>
            </a:r>
          </a:p>
          <a:p xmlns:a="http://schemas.openxmlformats.org/drawingml/2006/main">
            <a:pPr algn="l">
              <a:def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高校或职业教育机构</a:t>
            </a:r>
          </a:p>
        </p:txBody>
      </p:sp>
      <p:sp>
        <p:nvSpPr>
          <p:cNvPr id="14" name="boundary">
            <a:extLst xmlns:a="http://schemas.openxmlformats.org/drawingml/2006/main">
              <a:ext uri="{FF2B5EF4-FFF2-40B4-BE49-F238E27FC236}">
                <a16:creationId xmlns:a16="http://schemas.microsoft.com/office/drawing/2014/main" id="{E9EBC868-30B8-4496-8D1A-B77825509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39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付费意愿、预算归属和采购流程均待访谈确认</a:t>
            </a:r>
          </a:p>
        </p:txBody>
      </p:sp>
      <p:sp>
        <p:nvSpPr>
          <p:cNvPr id="15" name="validation">
            <a:extLst xmlns:a="http://schemas.openxmlformats.org/drawingml/2006/main">
              <a:ext uri="{FF2B5EF4-FFF2-40B4-BE49-F238E27FC236}">
                <a16:creationId xmlns:a16="http://schemas.microsoft.com/office/drawing/2014/main" id="{5BB7DB3F-A5EE-44B4-8664-2AD41D5E4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3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初期计划：访谈师生，确认一门愿意参加小规模测试的课程，再核查部署与预算条件</a:t>
            </a:r>
          </a:p>
        </p:txBody>
      </p:sp>
    </p:spTree>
    <p:extLst>
      <p:ext uri="{BB962C8B-B14F-4D97-AF65-F5344CB8AC3E}">
        <p14:creationId xmlns:p14="http://schemas.microsoft.com/office/powerpoint/2010/main" val="14094612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F65CC-4B15-49A7-9F66-287FDC32EE3B}"/>
              </a:ext>
            </a:extLst>
          </p:cNvPr>
          <p:cNvCxnSpPr>
            <a:stCxn xmlns:a="http://schemas.openxmlformats.org/drawingml/2006/main" id="21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9791700" y="31765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D12D79-7C47-4265-A07F-65B59BA8CC9D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229600" y="31765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4C3BFB-26DF-4E54-91A3-9C7EFD3AAB28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667500" y="31765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92C834-0BCB-4691-A86F-946200DF6D3A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105400" y="31765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04FE9B-7FC7-44BD-BD6F-4603D22C43D7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543300" y="31765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0D76F7-8846-43EF-B3D1-21BFEBF3778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981200" y="3176588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sp>
        <p:nvSpPr>
          <p:cNvPr id="4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7F7E6C-B7EF-42BA-8A87-8D17C64E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从代码错误到自主纠错的学习闭环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D0B6C6-213E-4562-8792-DDC9DAEA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拟实现：评测给出事实，AI提供受证据约束的教学提示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521AEA7-87F8-4900-9152-A77C2641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FFD2D35-5476-449F-9BA9-835517D6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F353A76-F763-432B-8F5F-412E79CA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04</a:t>
            </a:r>
          </a:p>
        </p:txBody>
      </p:sp>
      <p:sp>
        <p:nvSpPr>
          <p:cNvPr id="6" name="flow-0">
            <a:extLst xmlns:a="http://schemas.openxmlformats.org/drawingml/2006/main">
              <a:ext uri="{FF2B5EF4-FFF2-40B4-BE49-F238E27FC236}">
                <a16:creationId xmlns:a16="http://schemas.microsoft.com/office/drawing/2014/main" id="{02CC36E7-FEC5-473C-8464-833A3BCD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295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7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341C6018-D13B-4B9C-9448-BBBB6A7A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提交代码</a:t>
            </a:r>
          </a:p>
        </p:txBody>
      </p:sp>
      <p:sp>
        <p:nvSpPr>
          <p:cNvPr id="8" name="flow-desc-0">
            <a:extLst xmlns:a="http://schemas.openxmlformats.org/drawingml/2006/main">
              <a:ext uri="{FF2B5EF4-FFF2-40B4-BE49-F238E27FC236}">
                <a16:creationId xmlns:a16="http://schemas.microsoft.com/office/drawing/2014/main" id="{4A617126-9C83-4D87-907A-9EB7BF26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2956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学生</a:t>
            </a:r>
          </a:p>
        </p:txBody>
      </p:sp>
      <p:sp>
        <p:nvSpPr>
          <p:cNvPr id="9" name="flow-1">
            <a:extLst xmlns:a="http://schemas.openxmlformats.org/drawingml/2006/main">
              <a:ext uri="{FF2B5EF4-FFF2-40B4-BE49-F238E27FC236}">
                <a16:creationId xmlns:a16="http://schemas.microsoft.com/office/drawing/2014/main" id="{5A5CE3AB-AD94-4677-ABAB-81754C5A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590800"/>
            <a:ext cx="1295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0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E26BFD76-DBDF-47F0-9692-782B3406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7813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自动评测</a:t>
            </a:r>
          </a:p>
        </p:txBody>
      </p:sp>
      <p:sp>
        <p:nvSpPr>
          <p:cNvPr id="11" name="flow-desc-1">
            <a:extLst xmlns:a="http://schemas.openxmlformats.org/drawingml/2006/main">
              <a:ext uri="{FF2B5EF4-FFF2-40B4-BE49-F238E27FC236}">
                <a16:creationId xmlns:a16="http://schemas.microsoft.com/office/drawing/2014/main" id="{0687F1D6-3114-41EB-85D5-1F72630E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2956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编译与用例</a:t>
            </a:r>
          </a:p>
        </p:txBody>
      </p:sp>
      <p:sp>
        <p:nvSpPr>
          <p:cNvPr id="12" name="flow-2">
            <a:extLst xmlns:a="http://schemas.openxmlformats.org/drawingml/2006/main">
              <a:ext uri="{FF2B5EF4-FFF2-40B4-BE49-F238E27FC236}">
                <a16:creationId xmlns:a16="http://schemas.microsoft.com/office/drawing/2014/main" id="{9BCAFFBC-F7B6-4759-8A10-CF2C92BE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90800"/>
            <a:ext cx="1295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3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7F0389B9-8210-466C-9442-97EFF5CF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813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错因分析</a:t>
            </a:r>
          </a:p>
        </p:txBody>
      </p:sp>
      <p:sp>
        <p:nvSpPr>
          <p:cNvPr id="14" name="flow-desc-2">
            <a:extLst xmlns:a="http://schemas.openxmlformats.org/drawingml/2006/main">
              <a:ext uri="{FF2B5EF4-FFF2-40B4-BE49-F238E27FC236}">
                <a16:creationId xmlns:a16="http://schemas.microsoft.com/office/drawing/2014/main" id="{82CBCB5B-84F4-44E1-8176-374DF88F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2956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证据与推测</a:t>
            </a:r>
          </a:p>
        </p:txBody>
      </p:sp>
      <p:sp>
        <p:nvSpPr>
          <p:cNvPr id="15" name="flow-3">
            <a:extLst xmlns:a="http://schemas.openxmlformats.org/drawingml/2006/main">
              <a:ext uri="{FF2B5EF4-FFF2-40B4-BE49-F238E27FC236}">
                <a16:creationId xmlns:a16="http://schemas.microsoft.com/office/drawing/2014/main" id="{C0212EC4-9FF1-43C8-9588-B14AF4FF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90800"/>
            <a:ext cx="1295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6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BB9AE58A-4806-4F05-A21E-4C4E3D50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813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分层提示</a:t>
            </a:r>
          </a:p>
        </p:txBody>
      </p:sp>
      <p:sp>
        <p:nvSpPr>
          <p:cNvPr id="17" name="flow-desc-3">
            <a:extLst xmlns:a="http://schemas.openxmlformats.org/drawingml/2006/main">
              <a:ext uri="{FF2B5EF4-FFF2-40B4-BE49-F238E27FC236}">
                <a16:creationId xmlns:a16="http://schemas.microsoft.com/office/drawing/2014/main" id="{96755C59-A4D3-407C-981E-0F3B852D0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8775" y="32956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按需展开</a:t>
            </a:r>
          </a:p>
        </p:txBody>
      </p:sp>
      <p:sp>
        <p:nvSpPr>
          <p:cNvPr id="18" name="flow-4">
            <a:extLst xmlns:a="http://schemas.openxmlformats.org/drawingml/2006/main">
              <a:ext uri="{FF2B5EF4-FFF2-40B4-BE49-F238E27FC236}">
                <a16:creationId xmlns:a16="http://schemas.microsoft.com/office/drawing/2014/main" id="{B69768F1-1A5C-47D0-84E8-9353EDD2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1295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9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41607E1F-8718-43FC-82B0-B224B862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813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学生修正</a:t>
            </a:r>
          </a:p>
        </p:txBody>
      </p:sp>
      <p:sp>
        <p:nvSpPr>
          <p:cNvPr id="20" name="flow-desc-4">
            <a:extLst xmlns:a="http://schemas.openxmlformats.org/drawingml/2006/main">
              <a:ext uri="{FF2B5EF4-FFF2-40B4-BE49-F238E27FC236}">
                <a16:creationId xmlns:a16="http://schemas.microsoft.com/office/drawing/2014/main" id="{C73313DD-77D2-44FB-9F8D-9B916425F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956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再次提交</a:t>
            </a:r>
          </a:p>
        </p:txBody>
      </p:sp>
      <p:sp>
        <p:nvSpPr>
          <p:cNvPr id="21" name="flow-5">
            <a:extLst xmlns:a="http://schemas.openxmlformats.org/drawingml/2006/main">
              <a:ext uri="{FF2B5EF4-FFF2-40B4-BE49-F238E27FC236}">
                <a16:creationId xmlns:a16="http://schemas.microsoft.com/office/drawing/2014/main" id="{BF35FBC0-95E0-46EF-905C-A14C3CB1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90800"/>
            <a:ext cx="1295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22" name="flow-label-5">
            <a:extLst xmlns:a="http://schemas.openxmlformats.org/drawingml/2006/main">
              <a:ext uri="{FF2B5EF4-FFF2-40B4-BE49-F238E27FC236}">
                <a16:creationId xmlns:a16="http://schemas.microsoft.com/office/drawing/2014/main" id="{68802FD6-1A42-4CDE-AEEA-061EA98D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学习记录</a:t>
            </a:r>
          </a:p>
        </p:txBody>
      </p:sp>
      <p:sp>
        <p:nvSpPr>
          <p:cNvPr id="23" name="flow-desc-5">
            <a:extLst xmlns:a="http://schemas.openxmlformats.org/drawingml/2006/main">
              <a:ext uri="{FF2B5EF4-FFF2-40B4-BE49-F238E27FC236}">
                <a16:creationId xmlns:a16="http://schemas.microsoft.com/office/drawing/2014/main" id="{C9BA3B8B-EE9D-469D-9AF5-EE65EB65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956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纠错过程</a:t>
            </a:r>
          </a:p>
        </p:txBody>
      </p:sp>
      <p:sp>
        <p:nvSpPr>
          <p:cNvPr id="24" name="flow-6">
            <a:extLst xmlns:a="http://schemas.openxmlformats.org/drawingml/2006/main">
              <a:ext uri="{FF2B5EF4-FFF2-40B4-BE49-F238E27FC236}">
                <a16:creationId xmlns:a16="http://schemas.microsoft.com/office/drawing/2014/main" id="{1BDE2BEA-1A13-4727-BBE2-052F71D6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90800"/>
            <a:ext cx="1295400" cy="1171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25" name="flow-label-6">
            <a:extLst xmlns:a="http://schemas.openxmlformats.org/drawingml/2006/main">
              <a:ext uri="{FF2B5EF4-FFF2-40B4-BE49-F238E27FC236}">
                <a16:creationId xmlns:a16="http://schemas.microsoft.com/office/drawing/2014/main" id="{125F76B3-83C9-4EED-A358-CB217702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78130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教师反馈</a:t>
            </a:r>
          </a:p>
        </p:txBody>
      </p:sp>
      <p:sp>
        <p:nvSpPr>
          <p:cNvPr id="26" name="flow-desc-6">
            <a:extLst xmlns:a="http://schemas.openxmlformats.org/drawingml/2006/main">
              <a:ext uri="{FF2B5EF4-FFF2-40B4-BE49-F238E27FC236}">
                <a16:creationId xmlns:a16="http://schemas.microsoft.com/office/drawing/2014/main" id="{11E64E3B-561F-4492-A638-126BBF12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2956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班级汇总</a:t>
            </a:r>
          </a:p>
        </p:txBody>
      </p:sp>
      <p:sp>
        <p:nvSpPr>
          <p:cNvPr id="33" name="resubmission">
            <a:extLst xmlns:a="http://schemas.openxmlformats.org/drawingml/2006/main">
              <a:ext uri="{FF2B5EF4-FFF2-40B4-BE49-F238E27FC236}">
                <a16:creationId xmlns:a16="http://schemas.microsoft.com/office/drawing/2014/main" id="{B69BFCB0-5218-4723-ABFC-5A9269D3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10839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修正后再次评测，最终正确性以评测结果为准</a:t>
            </a:r>
          </a:p>
        </p:txBody>
      </p:sp>
      <p:sp>
        <p:nvSpPr>
          <p:cNvPr id="34" name="flow-separator">
            <a:extLst xmlns:a="http://schemas.openxmlformats.org/drawingml/2006/main">
              <a:ext uri="{FF2B5EF4-FFF2-40B4-BE49-F238E27FC236}">
                <a16:creationId xmlns:a16="http://schemas.microsoft.com/office/drawing/2014/main" id="{995B3D60-11C4-4CB3-843A-85B4C52D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01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35" name="guard1">
            <a:extLst xmlns:a="http://schemas.openxmlformats.org/drawingml/2006/main">
              <a:ext uri="{FF2B5EF4-FFF2-40B4-BE49-F238E27FC236}">
                <a16:creationId xmlns:a16="http://schemas.microsoft.com/office/drawing/2014/main" id="{1FA2092E-A820-4651-9F21-B2547041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事实可追溯</a:t>
            </a:r>
          </a:p>
        </p:txBody>
      </p:sp>
      <p:sp>
        <p:nvSpPr>
          <p:cNvPr id="36" name="guard1-desc">
            <a:extLst xmlns:a="http://schemas.openxmlformats.org/drawingml/2006/main">
              <a:ext uri="{FF2B5EF4-FFF2-40B4-BE49-F238E27FC236}">
                <a16:creationId xmlns:a16="http://schemas.microsoft.com/office/drawing/2014/main" id="{A1EA000F-0BF8-4385-8B02-26B213941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62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编译日志与测试用例对应</a:t>
            </a:r>
          </a:p>
        </p:txBody>
      </p:sp>
      <p:sp>
        <p:nvSpPr>
          <p:cNvPr id="37" name="guard2">
            <a:extLst xmlns:a="http://schemas.openxmlformats.org/drawingml/2006/main">
              <a:ext uri="{FF2B5EF4-FFF2-40B4-BE49-F238E27FC236}">
                <a16:creationId xmlns:a16="http://schemas.microsoft.com/office/drawing/2014/main" id="{E9E078A2-9B5C-4AC1-B081-11021DABA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3149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推测有标识</a:t>
            </a:r>
          </a:p>
        </p:txBody>
      </p:sp>
      <p:sp>
        <p:nvSpPr>
          <p:cNvPr id="38" name="guard2-desc">
            <a:extLst xmlns:a="http://schemas.openxmlformats.org/drawingml/2006/main">
              <a:ext uri="{FF2B5EF4-FFF2-40B4-BE49-F238E27FC236}">
                <a16:creationId xmlns:a16="http://schemas.microsoft.com/office/drawing/2014/main" id="{25F62EF5-FE07-47FE-BFF3-CDC42B05A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62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不确定诊断明确提示</a:t>
            </a:r>
          </a:p>
        </p:txBody>
      </p:sp>
      <p:sp>
        <p:nvSpPr>
          <p:cNvPr id="39" name="guard3">
            <a:extLst xmlns:a="http://schemas.openxmlformats.org/drawingml/2006/main">
              <a:ext uri="{FF2B5EF4-FFF2-40B4-BE49-F238E27FC236}">
                <a16:creationId xmlns:a16="http://schemas.microsoft.com/office/drawing/2014/main" id="{1C1B2CEB-6D1F-4C64-A87E-1DC67786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314950"/>
            <a:ext cx="309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过程可汇总</a:t>
            </a:r>
          </a:p>
        </p:txBody>
      </p:sp>
      <p:sp>
        <p:nvSpPr>
          <p:cNvPr id="40" name="guard3-desc">
            <a:extLst xmlns:a="http://schemas.openxmlformats.org/drawingml/2006/main">
              <a:ext uri="{FF2B5EF4-FFF2-40B4-BE49-F238E27FC236}">
                <a16:creationId xmlns:a16="http://schemas.microsoft.com/office/drawing/2014/main" id="{15253BE4-8A6F-4BFB-B753-3725B464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76262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面向教师汇总常见困难</a:t>
            </a:r>
          </a:p>
        </p:txBody>
      </p:sp>
    </p:spTree>
    <p:extLst>
      <p:ext uri="{BB962C8B-B14F-4D97-AF65-F5344CB8AC3E}">
        <p14:creationId xmlns:p14="http://schemas.microsoft.com/office/powerpoint/2010/main" val="1160141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7473ED1-5B5B-4258-85ED-0CBAB9DF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核心功能的概念设计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B7E374F-DCBA-41C0-BA28-690BE96E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设计效果图：用于说明产品流程，不代表已经完成研发或测试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A04C4D3-5C9A-4BA7-A79A-80733DEB6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E4A76CF-0FA4-4E23-89AE-15993A2A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E8E8CCB-A907-4265-9C8B-FADE7178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05</a:t>
            </a:r>
          </a:p>
        </p:txBody>
      </p:sp>
      <p:sp>
        <p:nvSpPr>
          <p:cNvPr id="6" name="editor-frame">
            <a:extLst xmlns:a="http://schemas.openxmlformats.org/drawingml/2006/main">
              <a:ext uri="{FF2B5EF4-FFF2-40B4-BE49-F238E27FC236}">
                <a16:creationId xmlns:a16="http://schemas.microsoft.com/office/drawing/2014/main" id="{553E22B7-769B-4C1C-A226-23023A8DF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5829300" cy="395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7" name="editor-header">
            <a:extLst xmlns:a="http://schemas.openxmlformats.org/drawingml/2006/main">
              <a:ext uri="{FF2B5EF4-FFF2-40B4-BE49-F238E27FC236}">
                <a16:creationId xmlns:a16="http://schemas.microsoft.com/office/drawing/2014/main" id="{8E41614A-E6C1-4BB7-9FE3-663B9979F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81175"/>
            <a:ext cx="5829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ditor-heading">
            <a:extLst xmlns:a="http://schemas.openxmlformats.org/drawingml/2006/main">
              <a:ext uri="{FF2B5EF4-FFF2-40B4-BE49-F238E27FC236}">
                <a16:creationId xmlns:a16="http://schemas.microsoft.com/office/drawing/2014/main" id="{61D600AB-ED2C-4AA3-9E41-1E63F990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1885950"/>
            <a:ext cx="5381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代码编辑与评测反馈</a:t>
            </a:r>
          </a:p>
        </p:txBody>
      </p:sp>
      <p:sp>
        <p:nvSpPr>
          <p:cNvPr id="9" name="editor-code">
            <a:extLst xmlns:a="http://schemas.openxmlformats.org/drawingml/2006/main">
              <a:ext uri="{FF2B5EF4-FFF2-40B4-BE49-F238E27FC236}">
                <a16:creationId xmlns:a16="http://schemas.microsoft.com/office/drawing/2014/main" id="{F9C042EA-2CAF-488D-870A-406C616DA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62225"/>
            <a:ext cx="5381625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#include &lt;stdio.h&gt;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int main(void) {</a:t>
            </a:r>
          </a:p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    for (int i = 1; i &lt; 10; i++) {</a:t>
            </a:r>
          </a:p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        printf("%d ", i);</a:t>
            </a:r>
          </a:p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    }</a:t>
            </a:r>
          </a:p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    return 0;</a:t>
            </a:r>
          </a:p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}</a:t>
            </a:r>
          </a:p>
        </p:txBody>
      </p:sp>
      <p:sp>
        <p:nvSpPr>
          <p:cNvPr id="10" name="editor-bottom-rule">
            <a:extLst xmlns:a="http://schemas.openxmlformats.org/drawingml/2006/main">
              <a:ext uri="{FF2B5EF4-FFF2-40B4-BE49-F238E27FC236}">
                <a16:creationId xmlns:a16="http://schemas.microsoft.com/office/drawing/2014/main" id="{C1B0E4E7-105A-4E4E-922A-3E7C536C6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33975"/>
            <a:ext cx="5391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1" name="editor-feedback">
            <a:extLst xmlns:a="http://schemas.openxmlformats.org/drawingml/2006/main">
              <a:ext uri="{FF2B5EF4-FFF2-40B4-BE49-F238E27FC236}">
                <a16:creationId xmlns:a16="http://schemas.microsoft.com/office/drawing/2014/main" id="{0CE7D249-A8B1-4355-AB57-495EA3BC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295900"/>
            <a:ext cx="5381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示例测试反馈：输出数量不符合要求</a:t>
            </a:r>
          </a:p>
        </p:txBody>
      </p:sp>
      <p:sp>
        <p:nvSpPr>
          <p:cNvPr id="12" name="diagnosis-label">
            <a:extLst xmlns:a="http://schemas.openxmlformats.org/drawingml/2006/main">
              <a:ext uri="{FF2B5EF4-FFF2-40B4-BE49-F238E27FC236}">
                <a16:creationId xmlns:a16="http://schemas.microsoft.com/office/drawing/2014/main" id="{7A7A41DD-A94C-468A-9BB6-90AB2A72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781175"/>
            <a:ext cx="45148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评测证据与错因解释</a:t>
            </a:r>
          </a:p>
        </p:txBody>
      </p:sp>
      <p:sp>
        <p:nvSpPr>
          <p:cNvPr id="13" name="evidence">
            <a:extLst xmlns:a="http://schemas.openxmlformats.org/drawingml/2006/main">
              <a:ext uri="{FF2B5EF4-FFF2-40B4-BE49-F238E27FC236}">
                <a16:creationId xmlns:a16="http://schemas.microsoft.com/office/drawing/2014/main" id="{14FB4F03-9DD5-484D-9575-727406E7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352675"/>
            <a:ext cx="45148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事实（示例）：期望 1 至 10，实际 1 至 9</a:t>
            </a:r>
          </a:p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推测：可能与循环终止条件有关</a:t>
            </a:r>
          </a:p>
        </p:txBody>
      </p:sp>
      <p:sp>
        <p:nvSpPr>
          <p:cNvPr id="14" name="diagnosis-rule">
            <a:extLst xmlns:a="http://schemas.openxmlformats.org/drawingml/2006/main">
              <a:ext uri="{FF2B5EF4-FFF2-40B4-BE49-F238E27FC236}">
                <a16:creationId xmlns:a16="http://schemas.microsoft.com/office/drawing/2014/main" id="{7CBEEFDE-2D89-41F7-AFCF-5C37DF3E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381375"/>
            <a:ext cx="4524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5" name="hint1">
            <a:extLst xmlns:a="http://schemas.openxmlformats.org/drawingml/2006/main">
              <a:ext uri="{FF2B5EF4-FFF2-40B4-BE49-F238E27FC236}">
                <a16:creationId xmlns:a16="http://schemas.microsoft.com/office/drawing/2014/main" id="{FEBB7A8C-BD86-470E-9B4C-E4ACCB25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60045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第1层  知识点提示</a:t>
            </a:r>
          </a:p>
        </p:txBody>
      </p:sp>
      <p:sp>
        <p:nvSpPr>
          <p:cNvPr id="16" name="hint1-copy">
            <a:extLst xmlns:a="http://schemas.openxmlformats.org/drawingml/2006/main">
              <a:ext uri="{FF2B5EF4-FFF2-40B4-BE49-F238E27FC236}">
                <a16:creationId xmlns:a16="http://schemas.microsoft.com/office/drawing/2014/main" id="{3CCF5108-E982-4B31-AC77-55961CD1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981450"/>
            <a:ext cx="451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循环条件决定哪些值能够进入循环</a:t>
            </a:r>
          </a:p>
        </p:txBody>
      </p:sp>
      <p:sp>
        <p:nvSpPr>
          <p:cNvPr id="17" name="hint2">
            <a:extLst xmlns:a="http://schemas.openxmlformats.org/drawingml/2006/main">
              <a:ext uri="{FF2B5EF4-FFF2-40B4-BE49-F238E27FC236}">
                <a16:creationId xmlns:a16="http://schemas.microsoft.com/office/drawing/2014/main" id="{8F2C3313-7DB6-45DB-AFD1-08B5CF10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467225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第2层  逻辑定位</a:t>
            </a:r>
          </a:p>
        </p:txBody>
      </p:sp>
      <p:sp>
        <p:nvSpPr>
          <p:cNvPr id="18" name="hint2-copy">
            <a:extLst xmlns:a="http://schemas.openxmlformats.org/drawingml/2006/main">
              <a:ext uri="{FF2B5EF4-FFF2-40B4-BE49-F238E27FC236}">
                <a16:creationId xmlns:a16="http://schemas.microsoft.com/office/drawing/2014/main" id="{5CB95E9A-D04B-49B2-B0BD-0D3F9C96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4848225"/>
            <a:ext cx="451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当 i 等于 10 时，条件是否成立？</a:t>
            </a:r>
          </a:p>
        </p:txBody>
      </p:sp>
      <p:sp>
        <p:nvSpPr>
          <p:cNvPr id="19" name="hint3">
            <a:extLst xmlns:a="http://schemas.openxmlformats.org/drawingml/2006/main">
              <a:ext uri="{FF2B5EF4-FFF2-40B4-BE49-F238E27FC236}">
                <a16:creationId xmlns:a16="http://schemas.microsoft.com/office/drawing/2014/main" id="{7FFE6C6A-870C-4F41-93CA-FDDFE04A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334000"/>
            <a:ext cx="451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第3层  修正思路</a:t>
            </a:r>
          </a:p>
        </p:txBody>
      </p:sp>
      <p:sp>
        <p:nvSpPr>
          <p:cNvPr id="20" name="hint3-copy">
            <a:extLst xmlns:a="http://schemas.openxmlformats.org/drawingml/2006/main">
              <a:ext uri="{FF2B5EF4-FFF2-40B4-BE49-F238E27FC236}">
                <a16:creationId xmlns:a16="http://schemas.microsoft.com/office/drawing/2014/main" id="{40A1B797-D91A-47D2-BC0B-9A2D1D1B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5715000"/>
            <a:ext cx="4514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检查终止条件是否包含上边界</a:t>
            </a:r>
          </a:p>
        </p:txBody>
      </p:sp>
      <p:sp>
        <p:nvSpPr>
          <p:cNvPr id="21" name="validation-focus">
            <a:extLst xmlns:a="http://schemas.openxmlformats.org/drawingml/2006/main">
              <a:ext uri="{FF2B5EF4-FFF2-40B4-BE49-F238E27FC236}">
                <a16:creationId xmlns:a16="http://schemas.microsoft.com/office/drawing/2014/main" id="{77ABA3CB-A99B-4299-9805-0C549815A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81700"/>
            <a:ext cx="582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技术验证重点：评测闭环、异常处理、提示与证据的一致性</a:t>
            </a:r>
          </a:p>
        </p:txBody>
      </p:sp>
    </p:spTree>
    <p:extLst>
      <p:ext uri="{BB962C8B-B14F-4D97-AF65-F5344CB8AC3E}">
        <p14:creationId xmlns:p14="http://schemas.microsoft.com/office/powerpoint/2010/main" val="69857547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B239E1-9345-4C90-A5E0-E5F3EE64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三大创新方向与验证重点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5F3553-C6C7-4D3E-B177-37A4A946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创新定位：教学方法与应用流程创新，效果需通过课程测试确认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8D1A298-27C0-4C85-A0B4-6946DA69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F355B7D-4299-45CD-866C-8421AC3B1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01EAC30-C52B-4899-A94B-FA4A76DE5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06</a:t>
            </a:r>
          </a:p>
        </p:txBody>
      </p:sp>
      <p:sp>
        <p:nvSpPr>
          <p:cNvPr id="6" name="n-0">
            <a:extLst xmlns:a="http://schemas.openxmlformats.org/drawingml/2006/main">
              <a:ext uri="{FF2B5EF4-FFF2-40B4-BE49-F238E27FC236}">
                <a16:creationId xmlns:a16="http://schemas.microsoft.com/office/drawing/2014/main" id="{B41561A0-3B6E-4572-A07B-800AD499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71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01</a:t>
            </a:r>
          </a:p>
        </p:txBody>
      </p:sp>
      <p:sp>
        <p:nvSpPr>
          <p:cNvPr id="7" name="innovation-0">
            <a:extLst xmlns:a="http://schemas.openxmlformats.org/drawingml/2006/main">
              <a:ext uri="{FF2B5EF4-FFF2-40B4-BE49-F238E27FC236}">
                <a16:creationId xmlns:a16="http://schemas.microsoft.com/office/drawing/2014/main" id="{501A5B88-C5C2-4956-B443-3B3DBC69A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1924050"/>
            <a:ext cx="931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评测证据关联诊断</a:t>
            </a:r>
          </a:p>
        </p:txBody>
      </p:sp>
      <p:sp>
        <p:nvSpPr>
          <p:cNvPr id="8" name="approach-0">
            <a:extLst xmlns:a="http://schemas.openxmlformats.org/drawingml/2006/main">
              <a:ext uri="{FF2B5EF4-FFF2-40B4-BE49-F238E27FC236}">
                <a16:creationId xmlns:a16="http://schemas.microsoft.com/office/drawing/2014/main" id="{BA3101E7-1289-4A4D-A599-A42BC1C5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47925"/>
            <a:ext cx="9315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关联编译结果、测试用例与知识点分类</a:t>
            </a:r>
          </a:p>
        </p:txBody>
      </p:sp>
      <p:sp>
        <p:nvSpPr>
          <p:cNvPr id="9" name="test-0">
            <a:extLst xmlns:a="http://schemas.openxmlformats.org/drawingml/2006/main">
              <a:ext uri="{FF2B5EF4-FFF2-40B4-BE49-F238E27FC236}">
                <a16:creationId xmlns:a16="http://schemas.microsoft.com/office/drawing/2014/main" id="{759522F0-E5A1-4753-893D-1E971482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886075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验证诊断可追溯性与误导风险</a:t>
            </a:r>
          </a:p>
        </p:txBody>
      </p:sp>
      <p:sp>
        <p:nvSpPr>
          <p:cNvPr id="10" name="row-rule-0">
            <a:extLst xmlns:a="http://schemas.openxmlformats.org/drawingml/2006/main">
              <a:ext uri="{FF2B5EF4-FFF2-40B4-BE49-F238E27FC236}">
                <a16:creationId xmlns:a16="http://schemas.microsoft.com/office/drawing/2014/main" id="{E958DDC1-2AED-45D0-8023-87E3D4F5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257550"/>
            <a:ext cx="9801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1" name="n-1">
            <a:extLst xmlns:a="http://schemas.openxmlformats.org/drawingml/2006/main">
              <a:ext uri="{FF2B5EF4-FFF2-40B4-BE49-F238E27FC236}">
                <a16:creationId xmlns:a16="http://schemas.microsoft.com/office/drawing/2014/main" id="{C2365E7D-6B7C-4796-BECD-5D6627B3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71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02</a:t>
            </a:r>
          </a:p>
        </p:txBody>
      </p:sp>
      <p:sp>
        <p:nvSpPr>
          <p:cNvPr id="12" name="innovation-1">
            <a:extLst xmlns:a="http://schemas.openxmlformats.org/drawingml/2006/main">
              <a:ext uri="{FF2B5EF4-FFF2-40B4-BE49-F238E27FC236}">
                <a16:creationId xmlns:a16="http://schemas.microsoft.com/office/drawing/2014/main" id="{5F897DE5-DBD0-4344-8A71-0F4A59F1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324225"/>
            <a:ext cx="931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自主纠错导向提示</a:t>
            </a:r>
          </a:p>
        </p:txBody>
      </p:sp>
      <p:sp>
        <p:nvSpPr>
          <p:cNvPr id="13" name="approach-1">
            <a:extLst xmlns:a="http://schemas.openxmlformats.org/drawingml/2006/main">
              <a:ext uri="{FF2B5EF4-FFF2-40B4-BE49-F238E27FC236}">
                <a16:creationId xmlns:a16="http://schemas.microsoft.com/office/drawing/2014/main" id="{412B8A76-AB3B-435E-A087-DFE0BD68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3848100"/>
            <a:ext cx="9315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按知识点、逻辑定位、修正思路分层展开</a:t>
            </a:r>
          </a:p>
        </p:txBody>
      </p:sp>
      <p:sp>
        <p:nvSpPr>
          <p:cNvPr id="14" name="test-1">
            <a:extLst xmlns:a="http://schemas.openxmlformats.org/drawingml/2006/main">
              <a:ext uri="{FF2B5EF4-FFF2-40B4-BE49-F238E27FC236}">
                <a16:creationId xmlns:a16="http://schemas.microsoft.com/office/drawing/2014/main" id="{DCA716B1-D1B8-4CDD-BA61-5FD47F49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286250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验证学生能否在较少帮助下完成修正</a:t>
            </a:r>
          </a:p>
        </p:txBody>
      </p:sp>
      <p:sp>
        <p:nvSpPr>
          <p:cNvPr id="15" name="row-rule-1">
            <a:extLst xmlns:a="http://schemas.openxmlformats.org/drawingml/2006/main">
              <a:ext uri="{FF2B5EF4-FFF2-40B4-BE49-F238E27FC236}">
                <a16:creationId xmlns:a16="http://schemas.microsoft.com/office/drawing/2014/main" id="{9EEBC923-8C55-42EA-BCF2-D762BC8D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657725"/>
            <a:ext cx="9801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6" name="n-2">
            <a:extLst xmlns:a="http://schemas.openxmlformats.org/drawingml/2006/main">
              <a:ext uri="{FF2B5EF4-FFF2-40B4-BE49-F238E27FC236}">
                <a16:creationId xmlns:a16="http://schemas.microsoft.com/office/drawing/2014/main" id="{4449135F-1C07-4CF1-B029-ADE61952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71437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03</a:t>
            </a:r>
          </a:p>
        </p:txBody>
      </p:sp>
      <p:sp>
        <p:nvSpPr>
          <p:cNvPr id="17" name="innovation-2">
            <a:extLst xmlns:a="http://schemas.openxmlformats.org/drawingml/2006/main">
              <a:ext uri="{FF2B5EF4-FFF2-40B4-BE49-F238E27FC236}">
                <a16:creationId xmlns:a16="http://schemas.microsoft.com/office/drawing/2014/main" id="{DA29CE9D-571E-42D2-879D-0C757B99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4724400"/>
            <a:ext cx="9315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纠错过程教学反馈</a:t>
            </a:r>
          </a:p>
        </p:txBody>
      </p:sp>
      <p:sp>
        <p:nvSpPr>
          <p:cNvPr id="18" name="approach-2">
            <a:extLst xmlns:a="http://schemas.openxmlformats.org/drawingml/2006/main">
              <a:ext uri="{FF2B5EF4-FFF2-40B4-BE49-F238E27FC236}">
                <a16:creationId xmlns:a16="http://schemas.microsoft.com/office/drawing/2014/main" id="{80F5C01F-DA2E-41CB-8760-CA3E8257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248275"/>
            <a:ext cx="9315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汇总重复错因、修正次数与提示使用</a:t>
            </a:r>
          </a:p>
        </p:txBody>
      </p:sp>
      <p:sp>
        <p:nvSpPr>
          <p:cNvPr id="19" name="test-2">
            <a:extLst xmlns:a="http://schemas.openxmlformats.org/drawingml/2006/main">
              <a:ext uri="{FF2B5EF4-FFF2-40B4-BE49-F238E27FC236}">
                <a16:creationId xmlns:a16="http://schemas.microsoft.com/office/drawing/2014/main" id="{D4570E41-87CE-48E7-BF5F-8A61B04C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5686425"/>
            <a:ext cx="9315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验证教师能否据此调整讲解与练习</a:t>
            </a:r>
          </a:p>
        </p:txBody>
      </p:sp>
    </p:spTree>
    <p:extLst>
      <p:ext uri="{BB962C8B-B14F-4D97-AF65-F5344CB8AC3E}">
        <p14:creationId xmlns:p14="http://schemas.microsoft.com/office/powerpoint/2010/main" val="1384329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1874027-7653-4FEB-93DE-2AF53EDE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竞品已有成熟能力，细分差异仍需验证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4B92AEC-D8EA-4812-AA31-57A08AA97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公开资料核查摘要，能力随版本与服务方案变化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3CEBB6B-B854-4A90-9C55-1C37C284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460A94AF-D18F-49A1-8F1D-D5D42630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AA2F109-1442-473B-9C8B-5BC4D650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07</a:t>
            </a:r>
          </a:p>
        </p:txBody>
      </p:sp>
      <p:graphicFrame>
        <p:nvGraphicFramePr>
          <p:cNvPr id="6" name="competitor-comparison">
            <a:extLst xmlns:a="http://schemas.openxmlformats.org/drawingml/2006/main">
              <a:ext uri="{FF2B5EF4-FFF2-40B4-BE49-F238E27FC236}">
                <a16:creationId xmlns:a16="http://schemas.microsoft.com/office/drawing/2014/main" id="{452ACCC5-3484-41F4-8EF6-D6462A5C3013}"/>
              </a:ext>
            </a:extLst>
          </p:cNvPr>
          <p:cNvGraphicFramePr/>
          <p:nvPr/>
        </p:nvGraphicFramePr>
        <p:xfrm>
          <a:off xmlns:a="http://schemas.openxmlformats.org/drawingml/2006/main" x="685800" y="1685925"/>
          <a:ext xmlns:a="http://schemas.openxmlformats.org/drawingml/2006/main" cx="10820400" cy="4067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57350"/>
                <a:gridCol w="3952875"/>
                <a:gridCol w="2714625"/>
                <a:gridCol w="2495550"/>
              </a:tblGrid>
              <a:tr h="466725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T w="9525">
                      <a:solidFill>
                        <a:srgbClr val="E4E9E5"/>
                      </a:solidFill>
                      <a:prstDash val="solid"/>
                    </a:lnT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4E90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公开资料可确认的能力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T w="9525">
                      <a:solidFill>
                        <a:srgbClr val="E4E9E5"/>
                      </a:solidFill>
                      <a:prstDash val="solid"/>
                    </a:lnT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4E90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部署与服务定位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T w="9525">
                      <a:solidFill>
                        <a:srgbClr val="E4E9E5"/>
                      </a:solidFill>
                      <a:prstDash val="solid"/>
                    </a:lnT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4E90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对本项目的启示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T w="9525">
                      <a:solidFill>
                        <a:srgbClr val="E4E9E5"/>
                      </a:solidFill>
                      <a:prstDash val="solid"/>
                    </a:lnT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4E9074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拼题A（PTA）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自动评测，人工与智能混合答疑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程序设计课程与考试平台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评测与答疑已有成熟供给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头歌 Educoder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大模型导学与诊断，代码回溯，教学统计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综合教学平台，支持本地化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AI与过程反馈存在能力重合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Moodle CodeRunner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自动评测，与Moodle课程集成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开源插件，需配置评测环境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接入与运维负担需实测比较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CodeGrade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自动评测，AI辅导，提示护栏，教师可见对话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机构服务与LMS集成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已有辅导与教师反馈能力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ChatGPT</a:t>
                      </a:r>
                    </a:p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学习模式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提问引导，逐步与分层解释，学习反馈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通用学习体验，结合课程材料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判题与教师流程待核查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CodePilot Edu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拟关联测试证据、提示层级与纠错记录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C语言基础课程轻量辅助服务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组合体验与交付优势待验证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positioning">
            <a:extLst xmlns:a="http://schemas.openxmlformats.org/drawingml/2006/main">
              <a:ext uri="{FF2B5EF4-FFF2-40B4-BE49-F238E27FC236}">
                <a16:creationId xmlns:a16="http://schemas.microsoft.com/office/drawing/2014/main" id="{FA480202-CC65-41F6-ACDC-10FBF8EE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拟验证切入点：C语言初学课程的证据关联、分层提示与轻量交付</a:t>
            </a:r>
          </a:p>
        </p:txBody>
      </p:sp>
    </p:spTree>
    <p:extLst>
      <p:ext uri="{BB962C8B-B14F-4D97-AF65-F5344CB8AC3E}">
        <p14:creationId xmlns:p14="http://schemas.microsoft.com/office/powerpoint/2010/main" val="18617591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A2B881-CFCC-4805-AE84-200742A2E369}"/>
              </a:ext>
            </a:extLst>
          </p:cNvPr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724900" y="56626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F5F9A1-3D73-4F1C-96DA-2A18CCA80ADB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943600" y="56626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8327D3-062B-434E-98C4-3612A77803FE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3162300" y="5662613"/>
            <a:ext cx="304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68C10EF-39FE-4AC6-8B6A-6E2FAE7C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以课程服务验证付费价值，再探索院系交付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204AD3B-8A9A-40FB-92F2-DB255A43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商业模式为拟探索方案，目前无已确认付费客户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2E6EB51A-6348-4E05-99BF-9123C81C4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37C8279C-3FE8-430D-BCF1-B561DE1B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784E8EC-15D4-4170-A7A8-878284BB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08</a:t>
            </a:r>
          </a:p>
        </p:txBody>
      </p:sp>
      <p:sp>
        <p:nvSpPr>
          <p:cNvPr id="6" name="q-0">
            <a:extLst xmlns:a="http://schemas.openxmlformats.org/drawingml/2006/main">
              <a:ext uri="{FF2B5EF4-FFF2-40B4-BE49-F238E27FC236}">
                <a16:creationId xmlns:a16="http://schemas.microsoft.com/office/drawing/2014/main" id="{D4A97A9F-63E1-4451-83BF-5ECAED13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谁使用</a:t>
            </a:r>
          </a:p>
        </p:txBody>
      </p:sp>
      <p:sp>
        <p:nvSpPr>
          <p:cNvPr id="7" name="a-0">
            <a:extLst xmlns:a="http://schemas.openxmlformats.org/drawingml/2006/main">
              <a:ext uri="{FF2B5EF4-FFF2-40B4-BE49-F238E27FC236}">
                <a16:creationId xmlns:a16="http://schemas.microsoft.com/office/drawing/2014/main" id="{D4E97335-3C3F-4C8D-B7F8-726EF6A6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0022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C语言初学者、任课教师与课程助教</a:t>
            </a:r>
          </a:p>
        </p:txBody>
      </p:sp>
      <p:sp>
        <p:nvSpPr>
          <p:cNvPr id="8" name="commercial-rule-0">
            <a:extLst xmlns:a="http://schemas.openxmlformats.org/drawingml/2006/main">
              <a:ext uri="{FF2B5EF4-FFF2-40B4-BE49-F238E27FC236}">
                <a16:creationId xmlns:a16="http://schemas.microsoft.com/office/drawing/2014/main" id="{516FFB9D-9064-440F-955D-A48433F1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9" name="q-1">
            <a:extLst xmlns:a="http://schemas.openxmlformats.org/drawingml/2006/main">
              <a:ext uri="{FF2B5EF4-FFF2-40B4-BE49-F238E27FC236}">
                <a16:creationId xmlns:a16="http://schemas.microsoft.com/office/drawing/2014/main" id="{FD41A688-BDE6-4953-ACE2-5AE2D77C5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谁付费</a:t>
            </a:r>
          </a:p>
        </p:txBody>
      </p:sp>
      <p:sp>
        <p:nvSpPr>
          <p:cNvPr id="10" name="a-1">
            <a:extLst xmlns:a="http://schemas.openxmlformats.org/drawingml/2006/main">
              <a:ext uri="{FF2B5EF4-FFF2-40B4-BE49-F238E27FC236}">
                <a16:creationId xmlns:a16="http://schemas.microsoft.com/office/drawing/2014/main" id="{F0BDA714-7FF0-4564-B8FE-8251DD71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5270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课程教学单位、二级学院或学校等潜在采购方</a:t>
            </a:r>
          </a:p>
        </p:txBody>
      </p:sp>
      <p:sp>
        <p:nvSpPr>
          <p:cNvPr id="11" name="commercial-rule-1">
            <a:extLst xmlns:a="http://schemas.openxmlformats.org/drawingml/2006/main">
              <a:ext uri="{FF2B5EF4-FFF2-40B4-BE49-F238E27FC236}">
                <a16:creationId xmlns:a16="http://schemas.microsoft.com/office/drawing/2014/main" id="{4BFFFA7C-ED97-4E90-B5B0-9859A1A1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2" name="q-2">
            <a:extLst xmlns:a="http://schemas.openxmlformats.org/drawingml/2006/main">
              <a:ext uri="{FF2B5EF4-FFF2-40B4-BE49-F238E27FC236}">
                <a16:creationId xmlns:a16="http://schemas.microsoft.com/office/drawing/2014/main" id="{7C3CA1F7-3471-4437-A912-0D5C017FF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为何付费</a:t>
            </a:r>
          </a:p>
        </p:txBody>
      </p:sp>
      <p:sp>
        <p:nvSpPr>
          <p:cNvPr id="13" name="a-2">
            <a:extLst xmlns:a="http://schemas.openxmlformats.org/drawingml/2006/main">
              <a:ext uri="{FF2B5EF4-FFF2-40B4-BE49-F238E27FC236}">
                <a16:creationId xmlns:a16="http://schemas.microsoft.com/office/drawing/2014/main" id="{FCC58E16-2CCC-439E-800C-A2A6E2C15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305175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获得结构化错因反馈、纠错过程汇总与课程适配支持</a:t>
            </a:r>
          </a:p>
        </p:txBody>
      </p:sp>
      <p:sp>
        <p:nvSpPr>
          <p:cNvPr id="14" name="commercial-rule-2">
            <a:extLst xmlns:a="http://schemas.openxmlformats.org/drawingml/2006/main">
              <a:ext uri="{FF2B5EF4-FFF2-40B4-BE49-F238E27FC236}">
                <a16:creationId xmlns:a16="http://schemas.microsoft.com/office/drawing/2014/main" id="{A2748F2A-00AD-4E1F-BA0D-918BD919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338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5" name="q-3">
            <a:extLst xmlns:a="http://schemas.openxmlformats.org/drawingml/2006/main">
              <a:ext uri="{FF2B5EF4-FFF2-40B4-BE49-F238E27FC236}">
                <a16:creationId xmlns:a16="http://schemas.microsoft.com/office/drawing/2014/main" id="{554D1A63-32ED-4541-AFB7-BA7DC339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如何交付</a:t>
            </a:r>
          </a:p>
        </p:txBody>
      </p:sp>
      <p:sp>
        <p:nvSpPr>
          <p:cNvPr id="16" name="a-3">
            <a:extLst xmlns:a="http://schemas.openxmlformats.org/drawingml/2006/main">
              <a:ext uri="{FF2B5EF4-FFF2-40B4-BE49-F238E27FC236}">
                <a16:creationId xmlns:a16="http://schemas.microsoft.com/office/drawing/2014/main" id="{8F4D83B2-B243-4A43-B4F8-1119E2A4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57650"/>
            <a:ext cx="876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课程级订阅与维护，后续探索院系部署和技术支持</a:t>
            </a:r>
          </a:p>
        </p:txBody>
      </p:sp>
      <p:sp>
        <p:nvSpPr>
          <p:cNvPr id="17" name="commercial-rule-3">
            <a:extLst xmlns:a="http://schemas.openxmlformats.org/drawingml/2006/main">
              <a:ext uri="{FF2B5EF4-FFF2-40B4-BE49-F238E27FC236}">
                <a16:creationId xmlns:a16="http://schemas.microsoft.com/office/drawing/2014/main" id="{631F4D2F-5E88-47E0-A7CC-3F069BEC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8" name="commercial-stage-0">
            <a:extLst xmlns:a="http://schemas.openxmlformats.org/drawingml/2006/main">
              <a:ext uri="{FF2B5EF4-FFF2-40B4-BE49-F238E27FC236}">
                <a16:creationId xmlns:a16="http://schemas.microsoft.com/office/drawing/2014/main" id="{02CD0C58-14D8-47B2-A188-9C6E215A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43525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mercial-stage-text-0">
            <a:extLst xmlns:a="http://schemas.openxmlformats.org/drawingml/2006/main">
              <a:ext uri="{FF2B5EF4-FFF2-40B4-BE49-F238E27FC236}">
                <a16:creationId xmlns:a16="http://schemas.microsoft.com/office/drawing/2014/main" id="{89F0071D-22E7-4114-98C9-4C85D40B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768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校内小规模验证</a:t>
            </a:r>
          </a:p>
        </p:txBody>
      </p:sp>
      <p:sp>
        <p:nvSpPr>
          <p:cNvPr id="20" name="commercial-stage-1">
            <a:extLst xmlns:a="http://schemas.openxmlformats.org/drawingml/2006/main">
              <a:ext uri="{FF2B5EF4-FFF2-40B4-BE49-F238E27FC236}">
                <a16:creationId xmlns:a16="http://schemas.microsoft.com/office/drawing/2014/main" id="{00A1D0C7-6D7C-4FB2-8BD7-44E273C2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343525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mercial-stage-text-1">
            <a:extLst xmlns:a="http://schemas.openxmlformats.org/drawingml/2006/main">
              <a:ext uri="{FF2B5EF4-FFF2-40B4-BE49-F238E27FC236}">
                <a16:creationId xmlns:a16="http://schemas.microsoft.com/office/drawing/2014/main" id="{FB7C12AF-10E5-44DB-867F-D39ED086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768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课程服务订阅</a:t>
            </a:r>
          </a:p>
        </p:txBody>
      </p:sp>
      <p:sp>
        <p:nvSpPr>
          <p:cNvPr id="22" name="commercial-stage-2">
            <a:extLst xmlns:a="http://schemas.openxmlformats.org/drawingml/2006/main">
              <a:ext uri="{FF2B5EF4-FFF2-40B4-BE49-F238E27FC236}">
                <a16:creationId xmlns:a16="http://schemas.microsoft.com/office/drawing/2014/main" id="{5040F016-0F5A-4BB6-93C5-D0DEF70A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43525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mmercial-stage-text-2">
            <a:extLst xmlns:a="http://schemas.openxmlformats.org/drawingml/2006/main">
              <a:ext uri="{FF2B5EF4-FFF2-40B4-BE49-F238E27FC236}">
                <a16:creationId xmlns:a16="http://schemas.microsoft.com/office/drawing/2014/main" id="{EDF9FD5B-F891-4005-AFC1-D6179F3CC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4768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院系部署与支持</a:t>
            </a:r>
          </a:p>
        </p:txBody>
      </p:sp>
      <p:sp>
        <p:nvSpPr>
          <p:cNvPr id="24" name="commercial-stage-3">
            <a:extLst xmlns:a="http://schemas.openxmlformats.org/drawingml/2006/main">
              <a:ext uri="{FF2B5EF4-FFF2-40B4-BE49-F238E27FC236}">
                <a16:creationId xmlns:a16="http://schemas.microsoft.com/office/drawing/2014/main" id="{BB7877AD-9566-49C9-8C5D-4B32FCFCD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5343525"/>
            <a:ext cx="2476500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mercial-stage-text-3">
            <a:extLst xmlns:a="http://schemas.openxmlformats.org/drawingml/2006/main">
              <a:ext uri="{FF2B5EF4-FFF2-40B4-BE49-F238E27FC236}">
                <a16:creationId xmlns:a16="http://schemas.microsoft.com/office/drawing/2014/main" id="{162476EB-76C7-4264-B154-95A86EEE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476875"/>
            <a:ext cx="2286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真实案例后跨校推广</a:t>
            </a:r>
          </a:p>
        </p:txBody>
      </p:sp>
      <p:sp>
        <p:nvSpPr>
          <p:cNvPr id="29" name="procurement-validation">
            <a:extLst xmlns:a="http://schemas.openxmlformats.org/drawingml/2006/main">
              <a:ext uri="{FF2B5EF4-FFF2-40B4-BE49-F238E27FC236}">
                <a16:creationId xmlns:a16="http://schemas.microsoft.com/office/drawing/2014/main" id="{A7E898BD-7F63-4952-A970-957037C3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82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成交条件待验证：采购预算、部署要求、教师使用频率和持续服务成本</a:t>
            </a:r>
          </a:p>
        </p:txBody>
      </p:sp>
    </p:spTree>
    <p:extLst>
      <p:ext uri="{BB962C8B-B14F-4D97-AF65-F5344CB8AC3E}">
        <p14:creationId xmlns:p14="http://schemas.microsoft.com/office/powerpoint/2010/main" val="192820739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C3A394-A1F7-4A66-912F-0CC16D6A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单课程单位经济模型（情景测算）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CD05C3F-7DA3-4B75-871F-8D83829E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假设：100名学生，每人10题，每题平均提交3次，共3000次评测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AE0C3533-810E-46C8-B541-6AE4AAFB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C1F99BD3-0B73-4437-BF9B-FFF5355A1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1AE6CAF-2E64-4FFE-BABE-E4D15659F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09</a:t>
            </a:r>
          </a:p>
        </p:txBody>
      </p:sp>
      <p:graphicFrame>
        <p:nvGraphicFramePr>
          <p:cNvPr id="6" name="course-cost">
            <a:extLst xmlns:a="http://schemas.openxmlformats.org/drawingml/2006/main">
              <a:ext uri="{FF2B5EF4-FFF2-40B4-BE49-F238E27FC236}">
                <a16:creationId xmlns:a16="http://schemas.microsoft.com/office/drawing/2014/main" id="{A2A3DED1-2BAA-42A1-ABA7-D6C6CB80BC28}"/>
              </a:ext>
            </a:extLst>
          </p:cNvPr>
          <p:cNvGraphicFramePr/>
          <p:nvPr/>
        </p:nvGraphicFramePr>
        <p:xfrm>
          <a:off xmlns:a="http://schemas.openxmlformats.org/drawingml/2006/main" x="685800" y="1790700"/>
          <a:ext xmlns:a="http://schemas.openxmlformats.org/drawingml/2006/main" cx="6315075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85925"/>
                <a:gridCol w="3238500"/>
                <a:gridCol w="1390650"/>
              </a:tblGrid>
              <a:tr h="4381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成本项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T w="9525">
                      <a:solidFill>
                        <a:srgbClr val="E4E9E5"/>
                      </a:solidFill>
                      <a:prstDash val="solid"/>
                    </a:lnT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4E90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假设计算依据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T w="9525">
                      <a:solidFill>
                        <a:srgbClr val="E4E9E5"/>
                      </a:solidFill>
                      <a:prstDash val="solid"/>
                    </a:lnT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4E90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元/学期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T w="9525">
                      <a:solidFill>
                        <a:srgbClr val="E4E9E5"/>
                      </a:solidFill>
                      <a:prstDash val="solid"/>
                    </a:lnT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4E9074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AI模型调用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1200次 × 0.02元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24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代码评测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3000次 × 0.003元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9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服务器分摊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情景假设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120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存储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情景假设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20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运维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2小时 × 40元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80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客户支持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3小时 × 40元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120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课程适配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4小时 × 40元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160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4095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E907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合计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E907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单课程每学期成本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4E9074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533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EDF3EF"/>
                    </a:solidFill>
                  </a:tcPr>
                </a:tc>
              </a:tr>
            </a:tbl>
          </a:graphicData>
        </a:graphic>
      </p:graphicFrame>
      <p:sp>
        <p:nvSpPr>
          <p:cNvPr id="7" name="fee-label">
            <a:extLst xmlns:a="http://schemas.openxmlformats.org/drawingml/2006/main">
              <a:ext uri="{FF2B5EF4-FFF2-40B4-BE49-F238E27FC236}">
                <a16:creationId xmlns:a16="http://schemas.microsoft.com/office/drawing/2014/main" id="{606FB826-32A1-4681-AA2E-72253AB3A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90700"/>
            <a:ext cx="4010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假设收费</a:t>
            </a:r>
          </a:p>
        </p:txBody>
      </p:sp>
      <p:sp>
        <p:nvSpPr>
          <p:cNvPr id="8" name="fee">
            <a:extLst xmlns:a="http://schemas.openxmlformats.org/drawingml/2006/main">
              <a:ext uri="{FF2B5EF4-FFF2-40B4-BE49-F238E27FC236}">
                <a16:creationId xmlns:a16="http://schemas.microsoft.com/office/drawing/2014/main" id="{69B0B82A-15AA-49CC-84B2-A2A0C98C3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81225"/>
            <a:ext cx="40100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1,500 元</a:t>
            </a:r>
          </a:p>
        </p:txBody>
      </p:sp>
      <p:sp>
        <p:nvSpPr>
          <p:cNvPr id="9" name="contrib-label">
            <a:extLst xmlns:a="http://schemas.openxmlformats.org/drawingml/2006/main">
              <a:ext uri="{FF2B5EF4-FFF2-40B4-BE49-F238E27FC236}">
                <a16:creationId xmlns:a16="http://schemas.microsoft.com/office/drawing/2014/main" id="{6B94848A-DC7B-458B-8E2B-A471EB3C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133725"/>
            <a:ext cx="4010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贡献额</a:t>
            </a:r>
          </a:p>
        </p:txBody>
      </p:sp>
      <p:sp>
        <p:nvSpPr>
          <p:cNvPr id="10" name="contrib">
            <a:extLst xmlns:a="http://schemas.openxmlformats.org/drawingml/2006/main">
              <a:ext uri="{FF2B5EF4-FFF2-40B4-BE49-F238E27FC236}">
                <a16:creationId xmlns:a16="http://schemas.microsoft.com/office/drawing/2014/main" id="{9AC40B78-6573-40B0-B664-A58E53C94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43300"/>
            <a:ext cx="40100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45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967 元</a:t>
            </a:r>
          </a:p>
        </p:txBody>
      </p:sp>
      <p:sp>
        <p:nvSpPr>
          <p:cNvPr id="11" name="margin">
            <a:extLst xmlns:a="http://schemas.openxmlformats.org/drawingml/2006/main">
              <a:ext uri="{FF2B5EF4-FFF2-40B4-BE49-F238E27FC236}">
                <a16:creationId xmlns:a16="http://schemas.microsoft.com/office/drawing/2014/main" id="{FA32E3E1-A273-4DEE-9022-C928A76C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67200"/>
            <a:ext cx="4010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贡献率 64.5%（不是净利润）</a:t>
            </a:r>
          </a:p>
        </p:txBody>
      </p:sp>
      <p:sp>
        <p:nvSpPr>
          <p:cNvPr id="12" name="economics-rule">
            <a:extLst xmlns:a="http://schemas.openxmlformats.org/drawingml/2006/main">
              <a:ext uri="{FF2B5EF4-FFF2-40B4-BE49-F238E27FC236}">
                <a16:creationId xmlns:a16="http://schemas.microsoft.com/office/drawing/2014/main" id="{C13775B5-EC04-400D-A5CF-B362FC3B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95850"/>
            <a:ext cx="4010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3" name="break-even">
            <a:extLst xmlns:a="http://schemas.openxmlformats.org/drawingml/2006/main">
              <a:ext uri="{FF2B5EF4-FFF2-40B4-BE49-F238E27FC236}">
                <a16:creationId xmlns:a16="http://schemas.microsoft.com/office/drawing/2014/main" id="{014AAF55-E34C-4E36-AD9D-6EC8A660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95875"/>
            <a:ext cx="4010025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若一次性研发预算为12,000元</a:t>
            </a:r>
          </a:p>
          <a:p xmlns:a="http://schemas.openxmlformats.org/drawingml/2006/main">
            <a: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需13个同规模课程包覆盖该预算</a:t>
            </a:r>
          </a:p>
        </p:txBody>
      </p:sp>
      <p:sp>
        <p:nvSpPr>
          <p:cNvPr id="14" name="cost-limit">
            <a:extLst xmlns:a="http://schemas.openxmlformats.org/drawingml/2006/main">
              <a:ext uri="{FF2B5EF4-FFF2-40B4-BE49-F238E27FC236}">
                <a16:creationId xmlns:a16="http://schemas.microsoft.com/office/drawing/2014/main" id="{434B993D-B217-49B4-9FAC-7DD6FC2D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53125"/>
            <a:ext cx="631507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课程交付成本情景，未含研发、税费、差旅、获客管理等费用。AI触发比例40%。售价与成交待验证。</a:t>
            </a:r>
          </a:p>
        </p:txBody>
      </p:sp>
    </p:spTree>
    <p:extLst>
      <p:ext uri="{BB962C8B-B14F-4D97-AF65-F5344CB8AC3E}">
        <p14:creationId xmlns:p14="http://schemas.microsoft.com/office/powerpoint/2010/main" val="159094285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FBD7070-9D80-4034-BF4B-980C4122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四人分工覆盖产品、研发与质量验证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FD49A89-D29F-466F-ACB2-88D9273D5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拟定分工，成员技能、经历与成果仍需逐项核验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D931A66-5FD8-4D4B-86C1-EA9910C3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A02688B-8148-4F06-8413-FFE5ADE5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1022EAD-53FB-44AB-AA25-6415DCFD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10</a:t>
            </a:r>
          </a:p>
        </p:txBody>
      </p:sp>
      <p:sp>
        <p:nvSpPr>
          <p:cNvPr id="6" name="person-0">
            <a:extLst xmlns:a="http://schemas.openxmlformats.org/drawingml/2006/main">
              <a:ext uri="{FF2B5EF4-FFF2-40B4-BE49-F238E27FC236}">
                <a16:creationId xmlns:a16="http://schemas.microsoft.com/office/drawing/2014/main" id="{9CB95E6B-DA87-4EEA-AB82-C7C9F3FB9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80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叶兴楠</a:t>
            </a:r>
          </a:p>
        </p:txBody>
      </p:sp>
      <p:sp>
        <p:nvSpPr>
          <p:cNvPr id="7" name="role-0">
            <a:extLst xmlns:a="http://schemas.openxmlformats.org/drawingml/2006/main">
              <a:ext uri="{FF2B5EF4-FFF2-40B4-BE49-F238E27FC236}">
                <a16:creationId xmlns:a16="http://schemas.microsoft.com/office/drawing/2014/main" id="{247B10EA-7534-4774-BF0A-3D5D2B0D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828800"/>
            <a:ext cx="2762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项目统筹与答辩</a:t>
            </a:r>
          </a:p>
        </p:txBody>
      </p:sp>
      <p:sp>
        <p:nvSpPr>
          <p:cNvPr id="8" name="duty-0">
            <a:extLst xmlns:a="http://schemas.openxmlformats.org/drawingml/2006/main">
              <a:ext uri="{FF2B5EF4-FFF2-40B4-BE49-F238E27FC236}">
                <a16:creationId xmlns:a16="http://schemas.microsoft.com/office/drawing/2014/main" id="{9A1610A4-3E0B-4883-99DE-22F6660A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828800"/>
            <a:ext cx="5562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需求规划、架构统筹、教师沟通与验收</a:t>
            </a:r>
          </a:p>
        </p:txBody>
      </p:sp>
      <p:sp>
        <p:nvSpPr>
          <p:cNvPr id="9" name="person-rule-0">
            <a:extLst xmlns:a="http://schemas.openxmlformats.org/drawingml/2006/main">
              <a:ext uri="{FF2B5EF4-FFF2-40B4-BE49-F238E27FC236}">
                <a16:creationId xmlns:a16="http://schemas.microsoft.com/office/drawing/2014/main" id="{51FD57E7-8189-4E3E-A57F-B85067B3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0" name="person-1">
            <a:extLst xmlns:a="http://schemas.openxmlformats.org/drawingml/2006/main">
              <a:ext uri="{FF2B5EF4-FFF2-40B4-BE49-F238E27FC236}">
                <a16:creationId xmlns:a16="http://schemas.microsoft.com/office/drawing/2014/main" id="{27E677BE-AFA9-4CD9-AC68-EFAF6122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180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林李想</a:t>
            </a:r>
          </a:p>
        </p:txBody>
      </p:sp>
      <p:sp>
        <p:nvSpPr>
          <p:cNvPr id="11" name="role-1">
            <a:extLst xmlns:a="http://schemas.openxmlformats.org/drawingml/2006/main">
              <a:ext uri="{FF2B5EF4-FFF2-40B4-BE49-F238E27FC236}">
                <a16:creationId xmlns:a16="http://schemas.microsoft.com/office/drawing/2014/main" id="{CCC43EE5-1C62-4F8F-A31A-FF834BD86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790825"/>
            <a:ext cx="2762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后端与评测</a:t>
            </a:r>
          </a:p>
        </p:txBody>
      </p:sp>
      <p:sp>
        <p:nvSpPr>
          <p:cNvPr id="12" name="duty-1">
            <a:extLst xmlns:a="http://schemas.openxmlformats.org/drawingml/2006/main">
              <a:ext uri="{FF2B5EF4-FFF2-40B4-BE49-F238E27FC236}">
                <a16:creationId xmlns:a16="http://schemas.microsoft.com/office/drawing/2014/main" id="{7FC8B792-FC7C-45A7-981F-949CFF2C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90825"/>
            <a:ext cx="5562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API、编译评测、受限执行与数据存储</a:t>
            </a:r>
          </a:p>
        </p:txBody>
      </p:sp>
      <p:sp>
        <p:nvSpPr>
          <p:cNvPr id="13" name="person-rule-1">
            <a:extLst xmlns:a="http://schemas.openxmlformats.org/drawingml/2006/main">
              <a:ext uri="{FF2B5EF4-FFF2-40B4-BE49-F238E27FC236}">
                <a16:creationId xmlns:a16="http://schemas.microsoft.com/office/drawing/2014/main" id="{78525226-F7EA-4535-B4D4-41ED907E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4" name="person-2">
            <a:extLst xmlns:a="http://schemas.openxmlformats.org/drawingml/2006/main">
              <a:ext uri="{FF2B5EF4-FFF2-40B4-BE49-F238E27FC236}">
                <a16:creationId xmlns:a16="http://schemas.microsoft.com/office/drawing/2014/main" id="{8CF8F3E1-6923-4F09-AD81-D09B8702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80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黄显涛</a:t>
            </a:r>
          </a:p>
        </p:txBody>
      </p:sp>
      <p:sp>
        <p:nvSpPr>
          <p:cNvPr id="15" name="role-2">
            <a:extLst xmlns:a="http://schemas.openxmlformats.org/drawingml/2006/main">
              <a:ext uri="{FF2B5EF4-FFF2-40B4-BE49-F238E27FC236}">
                <a16:creationId xmlns:a16="http://schemas.microsoft.com/office/drawing/2014/main" id="{A9D415E3-B5AD-47E2-9CC5-FA4D15AA1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752850"/>
            <a:ext cx="2762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前端</a:t>
            </a:r>
          </a:p>
        </p:txBody>
      </p:sp>
      <p:sp>
        <p:nvSpPr>
          <p:cNvPr id="16" name="duty-2">
            <a:extLst xmlns:a="http://schemas.openxmlformats.org/drawingml/2006/main">
              <a:ext uri="{FF2B5EF4-FFF2-40B4-BE49-F238E27FC236}">
                <a16:creationId xmlns:a16="http://schemas.microsoft.com/office/drawing/2014/main" id="{56FA5DE5-6DDB-488B-AFCA-A96DF699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752850"/>
            <a:ext cx="5562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实训页面、编辑交互与诊断展示</a:t>
            </a:r>
          </a:p>
        </p:txBody>
      </p:sp>
      <p:sp>
        <p:nvSpPr>
          <p:cNvPr id="17" name="person-rule-2">
            <a:extLst xmlns:a="http://schemas.openxmlformats.org/drawingml/2006/main">
              <a:ext uri="{FF2B5EF4-FFF2-40B4-BE49-F238E27FC236}">
                <a16:creationId xmlns:a16="http://schemas.microsoft.com/office/drawing/2014/main" id="{30732EA6-5168-4498-8E1E-4C30AE58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8" name="person-3">
            <a:extLst xmlns:a="http://schemas.openxmlformats.org/drawingml/2006/main">
              <a:ext uri="{FF2B5EF4-FFF2-40B4-BE49-F238E27FC236}">
                <a16:creationId xmlns:a16="http://schemas.microsoft.com/office/drawing/2014/main" id="{830AC8DD-A547-4241-983C-0A052576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8097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汪盛淇</a:t>
            </a:r>
          </a:p>
        </p:txBody>
      </p:sp>
      <p:sp>
        <p:nvSpPr>
          <p:cNvPr id="19" name="role-3">
            <a:extLst xmlns:a="http://schemas.openxmlformats.org/drawingml/2006/main">
              <a:ext uri="{FF2B5EF4-FFF2-40B4-BE49-F238E27FC236}">
                <a16:creationId xmlns:a16="http://schemas.microsoft.com/office/drawing/2014/main" id="{31C5A285-62D9-4D57-A80A-D4BDEB2F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714875"/>
            <a:ext cx="2762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AI与质量</a:t>
            </a:r>
          </a:p>
        </p:txBody>
      </p:sp>
      <p:sp>
        <p:nvSpPr>
          <p:cNvPr id="20" name="duty-3">
            <a:extLst xmlns:a="http://schemas.openxmlformats.org/drawingml/2006/main">
              <a:ext uri="{FF2B5EF4-FFF2-40B4-BE49-F238E27FC236}">
                <a16:creationId xmlns:a16="http://schemas.microsoft.com/office/drawing/2014/main" id="{C82FBD97-96EA-4BCA-B297-775A0427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714875"/>
            <a:ext cx="55626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模型接入、提示策略、测试案例与诊断质量</a:t>
            </a:r>
          </a:p>
        </p:txBody>
      </p:sp>
      <p:sp>
        <p:nvSpPr>
          <p:cNvPr id="21" name="person-rule-3">
            <a:extLst xmlns:a="http://schemas.openxmlformats.org/drawingml/2006/main">
              <a:ext uri="{FF2B5EF4-FFF2-40B4-BE49-F238E27FC236}">
                <a16:creationId xmlns:a16="http://schemas.microsoft.com/office/drawing/2014/main" id="{16AD8E70-DBCF-4AD9-9351-BD7E95B3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22" name="mentor">
            <a:extLst xmlns:a="http://schemas.openxmlformats.org/drawingml/2006/main">
              <a:ext uri="{FF2B5EF4-FFF2-40B4-BE49-F238E27FC236}">
                <a16:creationId xmlns:a16="http://schemas.microsoft.com/office/drawing/2014/main" id="{54299BFE-FBE6-4380-A8BE-92FE59AB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指导教师：1—2名，待确认</a:t>
            </a:r>
          </a:p>
        </p:txBody>
      </p:sp>
    </p:spTree>
    <p:extLst>
      <p:ext uri="{BB962C8B-B14F-4D97-AF65-F5344CB8AC3E}">
        <p14:creationId xmlns:p14="http://schemas.microsoft.com/office/powerpoint/2010/main" val="9290353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563D57-55B6-44EC-8B7D-091E92C7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教育价值以自主纠错和教师反馈为核心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D93603-E093-4B03-B604-16239E32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拟探索的教学价值，尚无学习效果提升数据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E723557-3247-4DE8-87B8-9E78FF3E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AC31217B-64A1-45D2-998D-2E7EA282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5531535-A745-4D83-B41B-86DFA705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11</a:t>
            </a:r>
          </a:p>
        </p:txBody>
      </p:sp>
      <p:sp>
        <p:nvSpPr>
          <p:cNvPr id="6" name="edu-label-0">
            <a:extLst xmlns:a="http://schemas.openxmlformats.org/drawingml/2006/main">
              <a:ext uri="{FF2B5EF4-FFF2-40B4-BE49-F238E27FC236}">
                <a16:creationId xmlns:a16="http://schemas.microsoft.com/office/drawing/2014/main" id="{0FD8A2B7-DCA6-4421-89B5-23A78B71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1171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学生</a:t>
            </a:r>
          </a:p>
        </p:txBody>
      </p:sp>
      <p:sp>
        <p:nvSpPr>
          <p:cNvPr id="7" name="edu-value-0">
            <a:extLst xmlns:a="http://schemas.openxmlformats.org/drawingml/2006/main">
              <a:ext uri="{FF2B5EF4-FFF2-40B4-BE49-F238E27FC236}">
                <a16:creationId xmlns:a16="http://schemas.microsoft.com/office/drawing/2014/main" id="{1A518762-CEED-4898-A632-B3B9853A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1895475"/>
            <a:ext cx="623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理解错因，修改代码后用评测验证</a:t>
            </a:r>
          </a:p>
        </p:txBody>
      </p:sp>
      <p:sp>
        <p:nvSpPr>
          <p:cNvPr id="8" name="edu-label-1">
            <a:extLst xmlns:a="http://schemas.openxmlformats.org/drawingml/2006/main">
              <a:ext uri="{FF2B5EF4-FFF2-40B4-BE49-F238E27FC236}">
                <a16:creationId xmlns:a16="http://schemas.microsoft.com/office/drawing/2014/main" id="{5162B410-295C-452B-9D6D-15588612C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1171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教师</a:t>
            </a:r>
          </a:p>
        </p:txBody>
      </p:sp>
      <p:sp>
        <p:nvSpPr>
          <p:cNvPr id="9" name="edu-value-1">
            <a:extLst xmlns:a="http://schemas.openxmlformats.org/drawingml/2006/main">
              <a:ext uri="{FF2B5EF4-FFF2-40B4-BE49-F238E27FC236}">
                <a16:creationId xmlns:a16="http://schemas.microsoft.com/office/drawing/2014/main" id="{BBEE31C4-7F53-4AC6-93C1-FEFF64AC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838450"/>
            <a:ext cx="623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查看常见错因与提示使用，辅助调整讲解</a:t>
            </a:r>
          </a:p>
        </p:txBody>
      </p:sp>
      <p:sp>
        <p:nvSpPr>
          <p:cNvPr id="10" name="edu-label-2">
            <a:extLst xmlns:a="http://schemas.openxmlformats.org/drawingml/2006/main">
              <a:ext uri="{FF2B5EF4-FFF2-40B4-BE49-F238E27FC236}">
                <a16:creationId xmlns:a16="http://schemas.microsoft.com/office/drawing/2014/main" id="{F4D4929B-2883-4E3D-AD1E-8F861D4E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81425"/>
            <a:ext cx="1171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团队</a:t>
            </a:r>
          </a:p>
        </p:txBody>
      </p:sp>
      <p:sp>
        <p:nvSpPr>
          <p:cNvPr id="11" name="edu-value-2">
            <a:extLst xmlns:a="http://schemas.openxmlformats.org/drawingml/2006/main">
              <a:ext uri="{FF2B5EF4-FFF2-40B4-BE49-F238E27FC236}">
                <a16:creationId xmlns:a16="http://schemas.microsoft.com/office/drawing/2014/main" id="{13F48002-CB5A-4A4A-9F73-A702BB64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781425"/>
            <a:ext cx="623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完成需求调研、软件工程和创业实践</a:t>
            </a:r>
          </a:p>
        </p:txBody>
      </p:sp>
      <p:sp>
        <p:nvSpPr>
          <p:cNvPr id="12" name="edu-label-3">
            <a:extLst xmlns:a="http://schemas.openxmlformats.org/drawingml/2006/main">
              <a:ext uri="{FF2B5EF4-FFF2-40B4-BE49-F238E27FC236}">
                <a16:creationId xmlns:a16="http://schemas.microsoft.com/office/drawing/2014/main" id="{F31DED98-01D7-46B4-880F-3962D5A0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17157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推广</a:t>
            </a:r>
          </a:p>
        </p:txBody>
      </p:sp>
      <p:sp>
        <p:nvSpPr>
          <p:cNvPr id="13" name="edu-value-3">
            <a:extLst xmlns:a="http://schemas.openxmlformats.org/drawingml/2006/main">
              <a:ext uri="{FF2B5EF4-FFF2-40B4-BE49-F238E27FC236}">
                <a16:creationId xmlns:a16="http://schemas.microsoft.com/office/drawing/2014/main" id="{EFF7843D-1B33-4C24-B855-775E3C76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724400"/>
            <a:ext cx="6238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积累题目标签与诊断模板，再评估课程复用</a:t>
            </a:r>
          </a:p>
        </p:txBody>
      </p:sp>
      <p:sp>
        <p:nvSpPr>
          <p:cNvPr id="14" name="education-split">
            <a:extLst xmlns:a="http://schemas.openxmlformats.org/drawingml/2006/main">
              <a:ext uri="{FF2B5EF4-FFF2-40B4-BE49-F238E27FC236}">
                <a16:creationId xmlns:a16="http://schemas.microsoft.com/office/drawing/2014/main" id="{6DB7298B-FF4E-4B67-8B2C-B43BA46E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0" cy="400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5" name="assessment-heading">
            <a:extLst xmlns:a="http://schemas.openxmlformats.org/drawingml/2006/main">
              <a:ext uri="{FF2B5EF4-FFF2-40B4-BE49-F238E27FC236}">
                <a16:creationId xmlns:a16="http://schemas.microsoft.com/office/drawing/2014/main" id="{F418347A-5962-4D63-A317-FD8479AC6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885950"/>
            <a:ext cx="2400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计划验证</a:t>
            </a:r>
          </a:p>
        </p:txBody>
      </p:sp>
      <p:sp>
        <p:nvSpPr>
          <p:cNvPr id="16" name="assessment">
            <a:extLst xmlns:a="http://schemas.openxmlformats.org/drawingml/2006/main">
              <a:ext uri="{FF2B5EF4-FFF2-40B4-BE49-F238E27FC236}">
                <a16:creationId xmlns:a16="http://schemas.microsoft.com/office/drawing/2014/main" id="{9D44B089-8253-4225-AC54-8D52ABB4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619375"/>
            <a:ext cx="240030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独立修正情况</a:t>
            </a:r>
          </a:p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重复错误情况</a:t>
            </a:r>
          </a:p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提示使用层级</a:t>
            </a:r>
          </a:p>
          <a:p xmlns:a="http://schemas.openxmlformats.org/drawingml/2006/main">
            <a:pPr algn="l">
              <a:def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教师反馈可用性</a:t>
            </a:r>
          </a:p>
        </p:txBody>
      </p:sp>
      <p:sp>
        <p:nvSpPr>
          <p:cNvPr id="17" name="assessment-method">
            <a:extLst xmlns:a="http://schemas.openxmlformats.org/drawingml/2006/main">
              <a:ext uri="{FF2B5EF4-FFF2-40B4-BE49-F238E27FC236}">
                <a16:creationId xmlns:a16="http://schemas.microsoft.com/office/drawing/2014/main" id="{68DA350C-0910-4CF9-9A01-6F21ED79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2578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结合评测记录与访谈</a:t>
            </a:r>
          </a:p>
          <a:p xmlns:a="http://schemas.openxmlformats.org/drawingml/2006/main">
            <a:pPr algn="l">
              <a:def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对照同难度任务分析</a:t>
            </a:r>
          </a:p>
        </p:txBody>
      </p:sp>
    </p:spTree>
    <p:extLst>
      <p:ext uri="{BB962C8B-B14F-4D97-AF65-F5344CB8AC3E}">
        <p14:creationId xmlns:p14="http://schemas.microsoft.com/office/powerpoint/2010/main" val="16006431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2FB607D-FA92-4F44-8854-C3B72931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当前证据与阶段推进计划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78F029D-8D0C-4D3C-BF2D-224E903B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截至2026年10月23日，严格区分已完成、待核实与计划开展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EC64AF1D-E6A5-4C32-89A1-97AF0FA9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9AB1A92F-219A-402B-8BD3-881C0076C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D18520-4099-4D55-B875-11AA4F19C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12</a:t>
            </a:r>
          </a:p>
        </p:txBody>
      </p:sp>
      <p:graphicFrame>
        <p:nvGraphicFramePr>
          <p:cNvPr id="6" name="evidence-status">
            <a:extLst xmlns:a="http://schemas.openxmlformats.org/drawingml/2006/main">
              <a:ext uri="{FF2B5EF4-FFF2-40B4-BE49-F238E27FC236}">
                <a16:creationId xmlns:a16="http://schemas.microsoft.com/office/drawing/2014/main" id="{AB37303C-874C-4248-96C1-A64EC20931DC}"/>
              </a:ext>
            </a:extLst>
          </p:cNvPr>
          <p:cNvGraphicFramePr/>
          <p:nvPr/>
        </p:nvGraphicFramePr>
        <p:xfrm>
          <a:off xmlns:a="http://schemas.openxmlformats.org/drawingml/2006/main" x="685800" y="1724025"/>
          <a:ext xmlns:a="http://schemas.openxmlformats.org/drawingml/2006/main" cx="10820400" cy="2143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952625"/>
                <a:gridCol w="5191125"/>
                <a:gridCol w="3676650"/>
              </a:tblGrid>
              <a:tr h="4572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状态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T w="9525">
                      <a:solidFill>
                        <a:srgbClr val="E4E9E5"/>
                      </a:solidFill>
                      <a:prstDash val="solid"/>
                    </a:lnT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4E90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本次可确认内容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T w="9525">
                      <a:solidFill>
                        <a:srgbClr val="E4E9E5"/>
                      </a:solidFill>
                      <a:prstDash val="solid"/>
                    </a:lnT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4E90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下一步所需证据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T w="9525">
                      <a:solidFill>
                        <a:srgbClr val="E4E9E5"/>
                      </a:solidFill>
                      <a:prstDash val="solid"/>
                    </a:lnT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4E9074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已完成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需求与方案、竞品核查、财务情景模型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材料版本与计算依据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正在开发：待核实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尚未提供源码、测试记录或实际运行截图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研发记录、可运行源码、测试日志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计划开展</a:t>
                      </a:r>
                    </a:p>
                  </a:txBody>
                  <a:tcPr marL="114300" marR="114300" marT="57150" marB="57150" anchor="ctr">
                    <a:lnL w="9525">
                      <a:solidFill>
                        <a:srgbClr val="E4E9E5"/>
                      </a:solidFill>
                      <a:prstDash val="solid"/>
                    </a:lnL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安全评测闭环、访谈及课程试点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02522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测试报告、访谈、试点授权及反馈</a:t>
                      </a:r>
                    </a:p>
                  </a:txBody>
                  <a:tcPr marL="114300" marR="114300" marT="57150" marB="57150" anchor="ctr">
                    <a:lnR w="9525">
                      <a:solidFill>
                        <a:srgbClr val="E4E9E5"/>
                      </a:solidFill>
                      <a:prstDash val="solid"/>
                    </a:lnR>
                    <a:lnB w="9525">
                      <a:solidFill>
                        <a:srgbClr val="E4E9E5"/>
                      </a:solidFill>
                      <a:prstDash val="solid"/>
                    </a:lnB>
                    <a:solidFill>
                      <a:srgbClr val="F8F9F7"/>
                    </a:solidFill>
                  </a:tcPr>
                </a:tc>
              </a:tr>
            </a:tbl>
          </a:graphicData>
        </a:graphic>
      </p:graphicFrame>
      <p:sp>
        <p:nvSpPr>
          <p:cNvPr id="7" name="milestone-0">
            <a:extLst xmlns:a="http://schemas.openxmlformats.org/drawingml/2006/main">
              <a:ext uri="{FF2B5EF4-FFF2-40B4-BE49-F238E27FC236}">
                <a16:creationId xmlns:a16="http://schemas.microsoft.com/office/drawing/2014/main" id="{8826D5CC-54E5-48DE-A038-DF053FDC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提交后第1—2周（计划）</a:t>
            </a:r>
          </a:p>
        </p:txBody>
      </p:sp>
      <p:sp>
        <p:nvSpPr>
          <p:cNvPr id="8" name="milestone-desc-0">
            <a:extLst xmlns:a="http://schemas.openxmlformats.org/drawingml/2006/main">
              <a:ext uri="{FF2B5EF4-FFF2-40B4-BE49-F238E27FC236}">
                <a16:creationId xmlns:a16="http://schemas.microsoft.com/office/drawing/2014/main" id="{852DE356-F664-499D-AB63-AC41A256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访谈与离线参考集</a:t>
            </a:r>
          </a:p>
        </p:txBody>
      </p:sp>
      <p:sp>
        <p:nvSpPr>
          <p:cNvPr id="9" name="milestone-1">
            <a:extLst xmlns:a="http://schemas.openxmlformats.org/drawingml/2006/main">
              <a:ext uri="{FF2B5EF4-FFF2-40B4-BE49-F238E27FC236}">
                <a16:creationId xmlns:a16="http://schemas.microsoft.com/office/drawing/2014/main" id="{7E0CB302-575F-4016-AA98-639DC496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57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第3—4周（计划）</a:t>
            </a:r>
          </a:p>
        </p:txBody>
      </p:sp>
      <p:sp>
        <p:nvSpPr>
          <p:cNvPr id="10" name="milestone-desc-1">
            <a:extLst xmlns:a="http://schemas.openxmlformats.org/drawingml/2006/main">
              <a:ext uri="{FF2B5EF4-FFF2-40B4-BE49-F238E27FC236}">
                <a16:creationId xmlns:a16="http://schemas.microsoft.com/office/drawing/2014/main" id="{422A89A6-FE94-4E51-82D6-82D05141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714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实现与验证受限评测闭环</a:t>
            </a:r>
          </a:p>
        </p:txBody>
      </p:sp>
      <p:sp>
        <p:nvSpPr>
          <p:cNvPr id="11" name="milestone-2">
            <a:extLst xmlns:a="http://schemas.openxmlformats.org/drawingml/2006/main">
              <a:ext uri="{FF2B5EF4-FFF2-40B4-BE49-F238E27FC236}">
                <a16:creationId xmlns:a16="http://schemas.microsoft.com/office/drawing/2014/main" id="{90C7B8D9-CA34-407A-8E91-70475AC5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57675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第5—8周（计划）</a:t>
            </a:r>
          </a:p>
        </p:txBody>
      </p:sp>
      <p:sp>
        <p:nvSpPr>
          <p:cNvPr id="12" name="milestone-desc-2">
            <a:extLst xmlns:a="http://schemas.openxmlformats.org/drawingml/2006/main">
              <a:ext uri="{FF2B5EF4-FFF2-40B4-BE49-F238E27FC236}">
                <a16:creationId xmlns:a16="http://schemas.microsoft.com/office/drawing/2014/main" id="{B158BD22-F657-4990-9F59-6B731202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14875"/>
            <a:ext cx="333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授权试点与付费条件验证</a:t>
            </a:r>
          </a:p>
        </p:txBody>
      </p:sp>
      <p:sp>
        <p:nvSpPr>
          <p:cNvPr id="13" name="gate-note">
            <a:extLst xmlns:a="http://schemas.openxmlformats.org/drawingml/2006/main">
              <a:ext uri="{FF2B5EF4-FFF2-40B4-BE49-F238E27FC236}">
                <a16:creationId xmlns:a16="http://schemas.microsoft.com/office/drawing/2014/main" id="{1EC96950-136E-42CD-9256-77D29732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0820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阶段推进以证据验收为条件，不将计划日期写成既有成果</a:t>
            </a:r>
          </a:p>
        </p:txBody>
      </p:sp>
      <p:sp>
        <p:nvSpPr>
          <p:cNvPr id="14" name="vision">
            <a:extLst xmlns:a="http://schemas.openxmlformats.org/drawingml/2006/main">
              <a:ext uri="{FF2B5EF4-FFF2-40B4-BE49-F238E27FC236}">
                <a16:creationId xmlns:a16="http://schemas.microsoft.com/office/drawing/2014/main" id="{83CA073A-2492-4457-B687-341EBD57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38825"/>
            <a:ext cx="108204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让每一次编程错误，都成为一次真正有效的学习</a:t>
            </a:r>
          </a:p>
        </p:txBody>
      </p:sp>
    </p:spTree>
    <p:extLst>
      <p:ext uri="{BB962C8B-B14F-4D97-AF65-F5344CB8AC3E}">
        <p14:creationId xmlns:p14="http://schemas.microsoft.com/office/powerpoint/2010/main" val="5072053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079C7D-A892-4A9F-BA91-468A4CB9D7C1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810250" y="367665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F56C8B-7CA0-44FA-AB88-71FDD0274B15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362825" y="2881313"/>
            <a:ext cx="1457325" cy="13811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8E2510-B5A7-44F8-8E23-AAA6118CAE00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7362825" y="2424113"/>
            <a:ext cx="1457325" cy="457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081C5C-AB95-4352-AAD2-A31F8032A382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3257550" y="2881313"/>
            <a:ext cx="1000125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4E9074"/>
            </a:solidFill>
            <a:prstDash val="solid"/>
            <a:tailEnd type="triangle" w="sm" len="sm"/>
          </a:ln>
        </p:spPr>
      </p:cxnSp>
      <p:sp>
        <p:nvSpPr>
          <p:cNvPr id="2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1DD236-E147-4B99-8523-F1F868BB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技术架构与安全执行（备用）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89C345D-26DA-4F0B-8ADB-3D037BEB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62050"/>
            <a:ext cx="10810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拟实现：Vue 3、FastAPI、SQLite、GCC受限评测及兼容模型API</a:t>
            </a:r>
          </a:p>
        </p:txBody>
      </p:sp>
      <p:sp>
        <p:nvSpPr>
          <p:cNvPr id="3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99D4866-FD13-45E8-AE51-409C790AD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4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5845588B-CC08-4B05-B29E-61C928D1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5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B90B60E-4B7E-45B7-86F4-6F99FDD0A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13</a:t>
            </a:r>
          </a:p>
        </p:txBody>
      </p:sp>
      <p:sp>
        <p:nvSpPr>
          <p:cNvPr id="6" name="frontend">
            <a:extLst xmlns:a="http://schemas.openxmlformats.org/drawingml/2006/main">
              <a:ext uri="{FF2B5EF4-FFF2-40B4-BE49-F238E27FC236}">
                <a16:creationId xmlns:a16="http://schemas.microsoft.com/office/drawing/2014/main" id="{9E534956-E878-4C2D-BE30-3C523E14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2571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7" name="frontend-t">
            <a:extLst xmlns:a="http://schemas.openxmlformats.org/drawingml/2006/main">
              <a:ext uri="{FF2B5EF4-FFF2-40B4-BE49-F238E27FC236}">
                <a16:creationId xmlns:a16="http://schemas.microsoft.com/office/drawing/2014/main" id="{2013492B-DBFF-4466-A340-CB652C08D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Vue 3 前端</a:t>
            </a:r>
          </a:p>
        </p:txBody>
      </p:sp>
      <p:sp>
        <p:nvSpPr>
          <p:cNvPr id="8" name="frontend-d">
            <a:extLst xmlns:a="http://schemas.openxmlformats.org/drawingml/2006/main">
              <a:ext uri="{FF2B5EF4-FFF2-40B4-BE49-F238E27FC236}">
                <a16:creationId xmlns:a16="http://schemas.microsoft.com/office/drawing/2014/main" id="{BFDB904A-1654-401C-A80B-D6202EA1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0512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编辑代码、提示交互</a:t>
            </a:r>
          </a:p>
          <a:p xmlns:a="http://schemas.openxmlformats.org/drawingml/2006/main">
            <a: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学生与教师基础统计</a:t>
            </a:r>
          </a:p>
        </p:txBody>
      </p:sp>
      <p:sp>
        <p:nvSpPr>
          <p:cNvPr id="9" name="api">
            <a:extLst xmlns:a="http://schemas.openxmlformats.org/drawingml/2006/main">
              <a:ext uri="{FF2B5EF4-FFF2-40B4-BE49-F238E27FC236}">
                <a16:creationId xmlns:a16="http://schemas.microsoft.com/office/drawing/2014/main" id="{EA9769C4-E013-45AA-9EC1-D6B947E1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85975"/>
            <a:ext cx="310515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E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0" name="api-t">
            <a:extLst xmlns:a="http://schemas.openxmlformats.org/drawingml/2006/main">
              <a:ext uri="{FF2B5EF4-FFF2-40B4-BE49-F238E27FC236}">
                <a16:creationId xmlns:a16="http://schemas.microsoft.com/office/drawing/2014/main" id="{63CC30CB-E37A-4A07-A1CD-DB09F8CD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050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FastAPI 后端</a:t>
            </a:r>
          </a:p>
        </p:txBody>
      </p:sp>
      <p:sp>
        <p:nvSpPr>
          <p:cNvPr id="11" name="api-d">
            <a:extLst xmlns:a="http://schemas.openxmlformats.org/drawingml/2006/main">
              <a:ext uri="{FF2B5EF4-FFF2-40B4-BE49-F238E27FC236}">
                <a16:creationId xmlns:a16="http://schemas.microsoft.com/office/drawing/2014/main" id="{1861CE91-4422-4EF2-8674-C7D5BF04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914650"/>
            <a:ext cx="2686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Python 3.11 / 3.12</a:t>
            </a:r>
          </a:p>
          <a:p xmlns:a="http://schemas.openxmlformats.org/drawingml/2006/main">
            <a:pPr algn="l">
              <a:def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评测调度、诊断、数据接口</a:t>
            </a:r>
          </a:p>
        </p:txBody>
      </p:sp>
      <p:sp>
        <p:nvSpPr>
          <p:cNvPr id="12" name="database">
            <a:extLst xmlns:a="http://schemas.openxmlformats.org/drawingml/2006/main">
              <a:ext uri="{FF2B5EF4-FFF2-40B4-BE49-F238E27FC236}">
                <a16:creationId xmlns:a16="http://schemas.microsoft.com/office/drawing/2014/main" id="{CF31FBB0-2115-4639-BAEA-11FA6E84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924050"/>
            <a:ext cx="26860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3" name="database-t">
            <a:extLst xmlns:a="http://schemas.openxmlformats.org/drawingml/2006/main">
              <a:ext uri="{FF2B5EF4-FFF2-40B4-BE49-F238E27FC236}">
                <a16:creationId xmlns:a16="http://schemas.microsoft.com/office/drawing/2014/main" id="{567513B2-78D4-4C67-B66B-26AAE51D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8597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SQLite</a:t>
            </a:r>
          </a:p>
        </p:txBody>
      </p:sp>
      <p:sp>
        <p:nvSpPr>
          <p:cNvPr id="14" name="database-d">
            <a:extLst xmlns:a="http://schemas.openxmlformats.org/drawingml/2006/main">
              <a:ext uri="{FF2B5EF4-FFF2-40B4-BE49-F238E27FC236}">
                <a16:creationId xmlns:a16="http://schemas.microsoft.com/office/drawing/2014/main" id="{AE6E37B1-07B5-4263-97E2-D61F911F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05075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初期验证数据存储</a:t>
            </a:r>
          </a:p>
        </p:txBody>
      </p:sp>
      <p:sp>
        <p:nvSpPr>
          <p:cNvPr id="15" name="ai-service">
            <a:extLst xmlns:a="http://schemas.openxmlformats.org/drawingml/2006/main">
              <a:ext uri="{FF2B5EF4-FFF2-40B4-BE49-F238E27FC236}">
                <a16:creationId xmlns:a16="http://schemas.microsoft.com/office/drawing/2014/main" id="{048C4BD3-3A43-4B00-9D11-BE4D6449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667125"/>
            <a:ext cx="26860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6" name="ai-t">
            <a:extLst xmlns:a="http://schemas.openxmlformats.org/drawingml/2006/main">
              <a:ext uri="{FF2B5EF4-FFF2-40B4-BE49-F238E27FC236}">
                <a16:creationId xmlns:a16="http://schemas.microsoft.com/office/drawing/2014/main" id="{662DB4C1-EA49-47B4-A2B2-2760298A7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819525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模型 API</a:t>
            </a:r>
          </a:p>
        </p:txBody>
      </p:sp>
      <p:sp>
        <p:nvSpPr>
          <p:cNvPr id="17" name="ai-d">
            <a:extLst xmlns:a="http://schemas.openxmlformats.org/drawingml/2006/main">
              <a:ext uri="{FF2B5EF4-FFF2-40B4-BE49-F238E27FC236}">
                <a16:creationId xmlns:a16="http://schemas.microsoft.com/office/drawing/2014/main" id="{8415C879-502A-43F6-877B-6F176EAE6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276725"/>
            <a:ext cx="23241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接收必要评测证据</a:t>
            </a:r>
          </a:p>
          <a:p xmlns:a="http://schemas.openxmlformats.org/drawingml/2006/main">
            <a: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生成带不确定性标识的提示</a:t>
            </a:r>
          </a:p>
        </p:txBody>
      </p:sp>
      <p:sp>
        <p:nvSpPr>
          <p:cNvPr id="18" name="sandbox">
            <a:extLst xmlns:a="http://schemas.openxmlformats.org/drawingml/2006/main">
              <a:ext uri="{FF2B5EF4-FFF2-40B4-BE49-F238E27FC236}">
                <a16:creationId xmlns:a16="http://schemas.microsoft.com/office/drawing/2014/main" id="{B42B8301-EF62-47EC-BD2D-1274C4AA4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4524375"/>
            <a:ext cx="3105150" cy="1057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E9074"/>
            </a:solidFill>
            <a:prstDash val="solid"/>
          </a:ln>
        </p:spPr>
      </p:sp>
      <p:sp>
        <p:nvSpPr>
          <p:cNvPr id="19" name="sandbox-t">
            <a:extLst xmlns:a="http://schemas.openxmlformats.org/drawingml/2006/main">
              <a:ext uri="{FF2B5EF4-FFF2-40B4-BE49-F238E27FC236}">
                <a16:creationId xmlns:a16="http://schemas.microsoft.com/office/drawing/2014/main" id="{D5FF948B-1650-46E5-8A62-66038168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638675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GCC + 受限执行环境</a:t>
            </a:r>
          </a:p>
        </p:txBody>
      </p:sp>
      <p:sp>
        <p:nvSpPr>
          <p:cNvPr id="20" name="sandbox-d">
            <a:extLst xmlns:a="http://schemas.openxmlformats.org/drawingml/2006/main">
              <a:ext uri="{FF2B5EF4-FFF2-40B4-BE49-F238E27FC236}">
                <a16:creationId xmlns:a16="http://schemas.microsoft.com/office/drawing/2014/main" id="{C3E482AD-A08B-421A-83A4-691FE719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5124450"/>
            <a:ext cx="27241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编译、运行用例、返回真实结果</a:t>
            </a:r>
          </a:p>
        </p:txBody>
      </p:sp>
      <p:sp>
        <p:nvSpPr>
          <p:cNvPr id="25" name="security-boundary">
            <a:extLst xmlns:a="http://schemas.openxmlformats.org/drawingml/2006/main">
              <a:ext uri="{FF2B5EF4-FFF2-40B4-BE49-F238E27FC236}">
                <a16:creationId xmlns:a16="http://schemas.microsoft.com/office/drawing/2014/main" id="{7E4F654B-2BC4-4178-8032-8C59A3072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执行限制（拟实现）：超时、CPU、内存、进程数、文件访问与网络能力</a:t>
            </a:r>
          </a:p>
        </p:txBody>
      </p:sp>
    </p:spTree>
    <p:extLst>
      <p:ext uri="{BB962C8B-B14F-4D97-AF65-F5344CB8AC3E}">
        <p14:creationId xmlns:p14="http://schemas.microsoft.com/office/powerpoint/2010/main" val="18414705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3F6FB08-A630-478C-A668-0B01D931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925" b="1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评委常见问题（备用）</a:t>
            </a:r>
          </a:p>
        </p:txBody>
      </p:sp>
      <p:sp>
        <p:nvSpPr>
          <p:cNvPr id="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80EB78A-0316-4BC1-B110-F4D9D8C3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29375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3" name="footer-brand">
            <a:extLst xmlns:a="http://schemas.openxmlformats.org/drawingml/2006/main">
              <a:ext uri="{FF2B5EF4-FFF2-40B4-BE49-F238E27FC236}">
                <a16:creationId xmlns:a16="http://schemas.microsoft.com/office/drawing/2014/main" id="{698077E5-EF2D-478D-8A36-C42A10CB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15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05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CodePilot Edu</a:t>
            </a:r>
          </a:p>
        </p:txBody>
      </p:sp>
      <p:sp>
        <p:nvSpPr>
          <p:cNvPr id="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C9CE0B7-8D7B-4FB6-9D12-25CBDE85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86525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defPPr>
            <a:lvl1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1pPr>
            <a:lvl2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2pPr>
            <a:lvl3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3pPr>
            <a:lvl4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4pPr>
            <a:lvl5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5pPr>
            <a:lvl6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6pPr>
            <a:lvl7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7pPr>
            <a:lvl8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8pPr>
            <a:lvl9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6716B"/>
                </a:solidFill>
                <a:latin typeface="Hiragino Sans GB"/>
                <a:ea typeface="Hiragino Sans GB"/>
                <a:cs typeface="Hiragino Sans GB"/>
              </a:rPr>
              <a:t>14</a:t>
            </a:r>
          </a:p>
        </p:txBody>
      </p:sp>
      <p:sp>
        <p:nvSpPr>
          <p:cNvPr id="5" name="faq-q-0">
            <a:extLst xmlns:a="http://schemas.openxmlformats.org/drawingml/2006/main">
              <a:ext uri="{FF2B5EF4-FFF2-40B4-BE49-F238E27FC236}">
                <a16:creationId xmlns:a16="http://schemas.microsoft.com/office/drawing/2014/main" id="{A23199FC-8907-4FAD-BEB9-C386FFA1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与现有教学平台有什么区别？</a:t>
            </a:r>
          </a:p>
        </p:txBody>
      </p:sp>
      <p:sp>
        <p:nvSpPr>
          <p:cNvPr id="6" name="faq-a-0">
            <a:extLst xmlns:a="http://schemas.openxmlformats.org/drawingml/2006/main">
              <a:ext uri="{FF2B5EF4-FFF2-40B4-BE49-F238E27FC236}">
                <a16:creationId xmlns:a16="http://schemas.microsoft.com/office/drawing/2014/main" id="{A13E44F6-AFE4-4AD9-B250-470B83E0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383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成熟竞品已有相似能力，我们拟验证C语言初学课程的组合体验与轻量交付。</a:t>
            </a:r>
          </a:p>
        </p:txBody>
      </p:sp>
      <p:sp>
        <p:nvSpPr>
          <p:cNvPr id="7" name="faq-rule-0">
            <a:extLst xmlns:a="http://schemas.openxmlformats.org/drawingml/2006/main">
              <a:ext uri="{FF2B5EF4-FFF2-40B4-BE49-F238E27FC236}">
                <a16:creationId xmlns:a16="http://schemas.microsoft.com/office/drawing/2014/main" id="{AE02957F-744A-42E6-BD69-2915E2D6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8" name="faq-q-1">
            <a:extLst xmlns:a="http://schemas.openxmlformats.org/drawingml/2006/main">
              <a:ext uri="{FF2B5EF4-FFF2-40B4-BE49-F238E27FC236}">
                <a16:creationId xmlns:a16="http://schemas.microsoft.com/office/drawing/2014/main" id="{CA266670-79B6-4590-B64A-3D9C1F53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为什么不直接使用通用AI答疑？</a:t>
            </a:r>
          </a:p>
        </p:txBody>
      </p:sp>
      <p:sp>
        <p:nvSpPr>
          <p:cNvPr id="9" name="faq-a-1">
            <a:extLst xmlns:a="http://schemas.openxmlformats.org/drawingml/2006/main">
              <a:ext uri="{FF2B5EF4-FFF2-40B4-BE49-F238E27FC236}">
                <a16:creationId xmlns:a16="http://schemas.microsoft.com/office/drawing/2014/main" id="{92FBE589-E29E-48F0-B083-B98967D2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拟把编译和测试证据、提示层级、再次提交及教师过程反馈接入同一课程流程。</a:t>
            </a:r>
          </a:p>
        </p:txBody>
      </p:sp>
      <p:sp>
        <p:nvSpPr>
          <p:cNvPr id="10" name="faq-rule-1">
            <a:extLst xmlns:a="http://schemas.openxmlformats.org/drawingml/2006/main">
              <a:ext uri="{FF2B5EF4-FFF2-40B4-BE49-F238E27FC236}">
                <a16:creationId xmlns:a16="http://schemas.microsoft.com/office/drawing/2014/main" id="{E5D17F6B-5ED7-45B7-ADBD-58A3F713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670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1" name="faq-q-2">
            <a:extLst xmlns:a="http://schemas.openxmlformats.org/drawingml/2006/main">
              <a:ext uri="{FF2B5EF4-FFF2-40B4-BE49-F238E27FC236}">
                <a16:creationId xmlns:a16="http://schemas.microsoft.com/office/drawing/2014/main" id="{301BE151-B71B-460B-92C9-489CB971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学校为什么可能愿意付费？</a:t>
            </a:r>
          </a:p>
        </p:txBody>
      </p:sp>
      <p:sp>
        <p:nvSpPr>
          <p:cNvPr id="12" name="faq-a-2">
            <a:extLst xmlns:a="http://schemas.openxmlformats.org/drawingml/2006/main">
              <a:ext uri="{FF2B5EF4-FFF2-40B4-BE49-F238E27FC236}">
                <a16:creationId xmlns:a16="http://schemas.microsoft.com/office/drawing/2014/main" id="{40E64B2C-5A8F-43F7-BDD9-A8AC935E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需要证明课程适配与教师反馈价值，并核查预算、接入及持续服务条件。</a:t>
            </a:r>
          </a:p>
        </p:txBody>
      </p:sp>
      <p:sp>
        <p:nvSpPr>
          <p:cNvPr id="13" name="faq-rule-2">
            <a:extLst xmlns:a="http://schemas.openxmlformats.org/drawingml/2006/main">
              <a:ext uri="{FF2B5EF4-FFF2-40B4-BE49-F238E27FC236}">
                <a16:creationId xmlns:a16="http://schemas.microsoft.com/office/drawing/2014/main" id="{6AED2E8A-7838-46AA-85F8-38CDA930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4" name="faq-q-3">
            <a:extLst xmlns:a="http://schemas.openxmlformats.org/drawingml/2006/main">
              <a:ext uri="{FF2B5EF4-FFF2-40B4-BE49-F238E27FC236}">
                <a16:creationId xmlns:a16="http://schemas.microsoft.com/office/drawing/2014/main" id="{4DC60876-67AA-4C55-B744-5DBBA350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如何保证AI诊断准确？</a:t>
            </a:r>
          </a:p>
        </p:txBody>
      </p:sp>
      <p:sp>
        <p:nvSpPr>
          <p:cNvPr id="15" name="faq-a-3">
            <a:extLst xmlns:a="http://schemas.openxmlformats.org/drawingml/2006/main">
              <a:ext uri="{FF2B5EF4-FFF2-40B4-BE49-F238E27FC236}">
                <a16:creationId xmlns:a16="http://schemas.microsoft.com/office/drawing/2014/main" id="{2BC7C0ED-C909-4CAA-9379-68B10994A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事实与推测分开，以真实评测约束解释，建立教师审阅案例集并记录错误诊断。</a:t>
            </a:r>
          </a:p>
        </p:txBody>
      </p:sp>
      <p:sp>
        <p:nvSpPr>
          <p:cNvPr id="16" name="faq-rule-3">
            <a:extLst xmlns:a="http://schemas.openxmlformats.org/drawingml/2006/main">
              <a:ext uri="{FF2B5EF4-FFF2-40B4-BE49-F238E27FC236}">
                <a16:creationId xmlns:a16="http://schemas.microsoft.com/office/drawing/2014/main" id="{D81B93E6-79D1-4473-9E34-38AF71DC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720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4E9E5"/>
            </a:solidFill>
            <a:prstDash val="solid"/>
          </a:ln>
        </p:spPr>
      </p:sp>
      <p:sp>
        <p:nvSpPr>
          <p:cNvPr id="17" name="faq-q-4">
            <a:extLst xmlns:a="http://schemas.openxmlformats.org/drawingml/2006/main">
              <a:ext uri="{FF2B5EF4-FFF2-40B4-BE49-F238E27FC236}">
                <a16:creationId xmlns:a16="http://schemas.microsoft.com/office/drawing/2014/main" id="{AB98A1D9-CE07-4B77-A715-DB5F3596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4E9074"/>
                </a:solidFill>
                <a:latin typeface="Hiragino Sans GB"/>
                <a:ea typeface="Hiragino Sans GB"/>
                <a:cs typeface="Hiragino Sans GB"/>
              </a:rPr>
              <a:t>项目当前究竟完成了什么？</a:t>
            </a:r>
          </a:p>
        </p:txBody>
      </p:sp>
      <p:sp>
        <p:nvSpPr>
          <p:cNvPr id="18" name="faq-a-4">
            <a:extLst xmlns:a="http://schemas.openxmlformats.org/drawingml/2006/main">
              <a:ext uri="{FF2B5EF4-FFF2-40B4-BE49-F238E27FC236}">
                <a16:creationId xmlns:a16="http://schemas.microsoft.com/office/drawing/2014/main" id="{A37363BA-A555-4A38-8E74-8DE79AB3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483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0">
                <a:solidFill>
                  <a:srgbClr val="202522"/>
                </a:solidFill>
                <a:latin typeface="Hiragino Sans GB"/>
                <a:ea typeface="Hiragino Sans GB"/>
                <a:cs typeface="Hiragino Sans GB"/>
              </a:rPr>
              <a:t>完成本轮方案与情景模型梳理，研发、访谈和试点均需实际证据核实或开展。</a:t>
            </a:r>
          </a:p>
        </p:txBody>
      </p:sp>
    </p:spTree>
    <p:extLst>
      <p:ext uri="{BB962C8B-B14F-4D97-AF65-F5344CB8AC3E}">
        <p14:creationId xmlns:p14="http://schemas.microsoft.com/office/powerpoint/2010/main" val="8005244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2026-10-23T04:20:32.5300000Z</dcterms:created>
  <dcterms:modified xsi:type="dcterms:W3CDTF">2026-10-23T04:20:32.5300000Z</dcterms:modified>
</coreProperties>
</file>